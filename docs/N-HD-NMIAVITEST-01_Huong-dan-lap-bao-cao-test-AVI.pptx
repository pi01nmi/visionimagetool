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tài liệu N-HD-NMIAVITEST-01, phiên bản 1.0, ban hành ngày 09/10/2026, do anh Hồ Thành Vinh và Nguyễn Tuấn Anh soạn.
Đây là quy trình thao tác từng bước để lập báo cáo test dự án AVI: từ chọn camera, lens, khởi tạo hồ sơ dự án trên Q One Edu cho tới chuẩn bị dữ liệu ảnh bằng Vision Image Tool và đưa kết quả trở lại hồ sơ.
Chuyển tiếp: Trước hết, chúng ta xem mục đích và cách truy cập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đích của tài liệu: hướng dẫn người dùng thao tác trên phần mềm để tạo hồ sơ dự án và hoàn thiện các nội dung báo cáo test AVI.
Địa chỉ đăng nhập: https://edu.nmi.vn/.
Nhấn mạnh: các nội dung phải thực hiện lần lượt theo đúng thứ tự, vì nhiều mục phía sau lấy dữ liệu từ mục phía trước.
Chuyển tiếp: Toàn bộ quy trình gồm 3 phần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hướng dẫn đi theo 3 phần:
- Phần I: dùng Vision Advisor để chọn camera và lens.
- Phần II: khởi tạo hồ sơ dự án trên Q One Edu, hoàn thiện 11 nội dung, kiểm tra và xuất báo cáo giải pháp.
- Phần III: dùng phần mềm Vision Image Tool để chuẩn bị, tổng hợp dữ liệu ảnh test, xuất Excel/JSON và nhập ngược lên Q One Edu ở nội dung 9 và 10.
Chuyển tiếp: Bắt đầu với Phần I – chọn camera và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I gồm 2 bước:
1. Chọn Vision Advisor trên Q One Edu.
2. Điền các thông tin cần thiết để phần mềm tính toán camera và lens phù hợp.
Chuyển tiếp: Sang Phần II – khởi tạo dự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Tại màn hình Hồ sơ thiết kế điều kiện test, tạo dự án mới rồi điền thông tin dự án.
Biểu mẫu gồm các trường như Mã dự án, Tên dự án, Khách hàng, Model sản phẩm và Leader hướng dẫn.
Lưu ý: nhập đủ các trường hiển thị trên biểu mẫu.
Chuyển tiếp: Sau khi tạo, mở dự án để thấy 11 nội dung cần hoàn thiện.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dự án đã tạo, hồ sơ có 11 nội dung.
- Nội dung 1 (Tài liệu khách hàng cung cấp) và Nội dung 2 (Báo cáo khảo sát): liên hệ bộ phận sale cung cấp thông tin.
- Nội dung 4 (Mô phỏng bố trí) được phần mềm hiển thị sau khi hoàn thành Nội dung 3.
- Nội dung 11 (Kết quả đánh giá tự động) do phần mềm tự tổng hợp.
- Các nội dung còn lại người dùng nhập và kiểm tra.
Chuyển tiếp: Đi vào Nội dung 3 – chọn điều kiện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3: điền đầy đủ các thông tin điều kiện test đã chọn – camera, lens, ánh sáng… cho từng điều kiện.
Cảnh báo: không bỏ trống trường bắt buộc, kiểm tra lại trước khi lưu. Nếu thiết bị cần dùng chưa có trong hệ thống, báo leader để tạo thêm.
Chuyển tiếp: Hoàn thành Nội dung 3, phần mềm sẽ tự hiển thị mô phỏng bố trí.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4 không cần nhập: sau khi hoàn thành Nội dung 3, phần mềm hiển thị mô phỏng bố trí camera, lens và vùng chụp tương ứng.
Người trình bày có thể chỉ trên hình các thông số khoảng cách làm việc, góc và FOV hiển thị trong mô phỏng.
Chuyển tiếp: Tiếp theo là Nội dung 5 – vị trí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5: điền đủ các trường thông tin của từng vị trí kiểm tra.
Hình bên phải là kết quả sau khi điền thông tin.
Chuyển tiếp: Sang Nội dung 6 – BOM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6 – Bom list có 2 cách:
(1) Thêm dòng BOM và nhập thông tin thủ công.
(2) Chọn chức năng dựng từ Bước 3 – phần mềm lấy thiết bị từ điều kiện test đã khai báo.
Sau đó kiểm tra danh sách BOM, bổ sung thông tin còn thiếu và cập nhật kết quả.
Nhấn mạnh cảnh báo: không nên bỏ qua bước rà soát BOM sau khi dựng tự động.
Chuyển tiếp: Từ BOM, ta dựng sơ đồ kết nối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7 – Sơ đồ kết nối hệ thống:
1. Nhập thông tin điều kiện, sau đó chọn chức năng dựng từ BOM.
2. Kéo thả các thành phần trên sơ đồ và chỉnh sửa thông tin theo cấu hình thực tế.
Chuyển tiếp: Tiếp theo là Cycle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8 – Cycle time: thêm từng tác vụ, nhập nội dung cùng thời gian bắt đầu và kết thúc, sau đó kiểm tra kết quả trên biểu đồ.
Lưu ý kiểm tra định dạng và thứ tự thời gian bắt đầu/kết thúc của từng tác vụ.
Chuyển tiếp: Nội dung 9 là nơi đưa thông tin và ảnh đánh giá vào hồ sơ.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9 – Thông tin/ảnh đánh giá có 2 phương án:
- Phương án 1: chọn “Thêm mẫu”, tạo thủ công các trường thông tin và import ảnh.
- Phương án 2: import file Excel từ phần mềm đánh giá; các trường thông tin sẽ được tự động đưa vào báo cáo.
File Excel/JSON này chính là đầu ra của Vision Image Tool ở Phần III.
Lưu ý: sau khi import, kiểm tra lại dữ liệu được tự động điền.
Chuyển tiếp: Dữ liệu Nội dung 9 được chuyển sang Nội dung 10 –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10 – Đánh giá: sau khi hoàn thành Nội dung 9, dữ liệu tương ứng được chuyển sang đây.
- Phương án 1: chọn/nhập kết quả đánh giá thủ công.
- Phương án 2: khi import Excel tại Nội dung 9, kết quả đánh giá tự động chuyển sang Nội dung 10.
Chuyển tiếp: Cuối cùng, Nội dung 11 tự động tổng hợp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11: phần mềm tự động tổng hợp và đưa ra kết quả đánh giá – bảng thống kê theo từng điều kiện và biểu đồ.
Người dùng không cần nhập ở mục này, chỉ rà soát kết quả.
Chuyển tiếp: Trước khi hoàn tất hồ sơ, cần đi qua danh sách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kiểm tra trước khi hoàn tất:
1. Đã tạo và mở đúng hồ sơ dự án.
2. Đã hoàn thiện các nội dung từ 1 đến 11 theo yêu cầu.
3. Đã kiểm tra các trường thông tin còn thiếu, danh sách BOM và sơ đồ kết nối.
4. Đã rà soát cycle time, dữ liệu/ảnh đánh giá và kết quả đánh giá tự động.
Chuyển tiếp: Khi đủ 4 điều kiện, xuất báo cáo giải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cuối của Phần II: xuất báo cáo giải pháp bằng nút Xuất Excel.
Cảnh báo quan trọng: file báo cáo phải lưu cùng cấp thư mục với thư mục ảnh thì mới mở được ảnh. Ví dụ trong thư mục Dataset có Report.xlsx nằm cạnh các thư mục ĐK1, ĐK2.
Chuyển tiếp: Phần III giới thiệu phần mềm tạo ra dữ liệu ảnh đó – Vision Image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 Image Tool là phần mềm thu thập và quản lý dữ liệu ảnh cho hệ thống UnitX, gồm 3 điểm chính:
- Capture &amp; Monitor: kết nối camera, chụp/push ảnh tương tác trực tiếp với phần cứng UnitX, tự động lưu cặp ảnh Raw/Mask và OK/NG theo quy tắc để quản lý.
- Dataset Manager: tự động gom ảnh theo Schema, ghép cặp Raw/Mask theo từng điều kiện test, phát hiện ảnh lỗi/thiếu, hỗ trợ lọc, gán nhãn O/Δ/X và xuất báo cáo Excel/JSON.
- Đồng bộ với hệ sinh thái Q One Edu.
Sơ đồ: thư mục ảnh là đầu ra của Capture &amp; Monitor và là đầu vào của Dataset Manager.
Chuyển tiếp: Dữ liệu ảnh có thể đến từ nhiều luồng thu thập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3 workflow thu thập dữ liệu:
- Dùng OptiX: trigger → Production xử lý → Vision Image Tool xử lý dữ liệu trực tiếp (raw, mask) → Report.
- Dùng Vision Master: trigger → Vision Master xử lý → lưu ảnh bằng Image Output module → Vision Image Tool đọc và cấu trúc dữ liệu gián tiếp → Report.
- Dùng camera hãng thứ ba: trigger → lưu ảnh vào thư mục → Vision Image Tool đẩy ảnh sang Production → xử lý → Vision Image Tool xử lý dữ liệu → Report.
Các workflow có thể kết hợp: thu thập từ Vision Master, push sang UnitX xử lý, rồi tổng hợp kết quả của cả 2 phương án test.
Chi tiết cấu hình UnitX, Vision Master và camera yêu cầu kỹ sư nắm vững, tài liệu không trình bày.
Chuyển tiếp: Dù dùng luồng nào, việc trên Vision Image Tool đều theo 4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trên Vision Image Tool gồm 4 bước:
1. Chuẩn bị dữ liệu: chạy lưu ảnh từ Capture &amp; Monitor hoặc dùng thư mục ảnh có sẵn.
2. Nhập Schema cấu trúc tập dữ liệu trong tab Dataset Manager.
3. Xuất dữ liệu ra Excel hoặc JSON.
4. Nhập dữ liệu lên Q One Edu tại mục 9 và 10 trong hồ sơ dự án.
Chuyển tiếp: Bước 1 bắt đầu bằng cấu trúc tiêu chuẩn của tên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1 – Chuẩn bị dữ liệu. Trước hết là bộ trường tiêu chuẩn dùng để đặt tên ảnh và khai báo Schema:
- &lt;ĐK&gt;: điều kiện chụp, mỗi ĐK là một nhóm cột trong báo cáo.
- &lt;No&gt;, &lt;Tên sản phẩm&gt;, &lt;Mã sheet-tray&gt;, &lt;Vị trí&gt;, &lt;Mặt&gt;, &lt;Nội dung NG&gt;: thông tin định danh mẫu.
- &lt;Đánh giá&gt;: kết quả Vision OK/NG/LIMIT.
- &lt;Raw/Mask&gt;: loại ảnh.
- &lt;Hậu tố&gt;: phân biệt lần chụp, giống nhau trong cùng mẫu.
- &lt;Lần chụp&gt;: ngày giờ hoặc số lần chụp, dùng để gộp nhiều lần chụp vào 1 hàng.
- &lt;Extension&gt;: đuôi ảnh, phần mềm tự nhận.
Chuyển tiếp: Các trường này có thể đặt trong tên file, trong thư mục, hoặc kết hợp – 3 kiểu cấu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kiểu cấu trúc dữ liệu:
A. Mọi thông tin nằm trong tên file, các trường nối bằng dấu gạch dưới.
B. Theo thư mục – mỗi cấp thư mục là một trường; tên thư mục chính là giá trị của trường; thứ tự các cấp giống nhau ở mọi nhánh. Raw và Mask cùng tên file nên tự ghép cặp. Lưu ý: không đặt &lt;Đánh giá&gt; làm cấp thư mục khi có nhiều ĐK – mẫu có ĐK1 NG / ĐK2 OK sẽ bị tách hàng.
C. Kết hợp 2 cấp thư mục ĐK và Sheet, phần còn lại nằm trong tên file.
Chuyển tiếp: Cách thứ nhất để có dữ liệu đúng cấu trúc là chụp trực tiếp bằng Capture &amp;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1 – chạy lưu ảnh từ Capture &amp; Monitor (UnitX). Trên tab Capture &amp; Monitor đặt trước 5 mục, tương ứng các số đỏ trên hình:
1. Thư mục lưu: nơi lưu ảnh.
2. Mẫu tên: thông tin của mẫu đang chụp, nối bằng dấu gạch dưới; cần đổi trước khi chụp mẫu mới. Ví dụ: ĐK1_1_Lens_Sheet1_A-1_Top_Xước.
3. Hậu tố: Timestamp hoặc Số thứ tự – tự thêm ngày giờ/lần chụp để ảnh không ghi đè nhau.
4. Tick Lưu Raw và Lưu Mask – phần mềm tự tạo thư mục con raw và mask.
5. Chụp ảnh.
Chuyển tiếp: Vậy khi trigger, phần mềm lưu ảnh như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bấm trigger:
- Ảnh tự động lưu với tên theo cấu trúc đã nhập, và tự phân vào thư mục raw / mask.
- Mỗi lần trigger lưu 1 ảnh Raw và 1 ảnh Mask; hai ảnh có cùng ngày giờ nên phần mềm tự ghép cặp.
- Ngày giờ được đọc bằng &lt;Lần chụp&gt;: ĐK1, ĐK2 và các lần chụp lại của cùng mẫu gộp vào MỘT hàng, Vision lấy kết quả xấu nhất (NG × OK = NG). Nếu dùng &lt;Hậu tố&gt; thay cho &lt;Lần chụp&gt; thì mỗi lần chụp thành một hàng riêng.
Dữ liệu: mở thư mục lưu ở tab Dataset Manager với schema tương ứng, mỗi mẫu là một hàng; khi có nhiều điều kiện, block ĐK1 / ĐK2 nằm cạnh nhau. Ví dụ mẫu No 1 ở ĐK1 chụp 2 lần được gộp vào 1 hàng.
Chuyển tiếp: Cách thứ hai là dùng thư mục ảnh có sẵn.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2 – dùng thư mục ảnh có sẵn. Tên file và thư mục phải theo một quy tắc thống nhất để phần mềm đọc được và ghép đúng Raw – Mask – ĐK.
Quy tắc đặt tên file:
- Các trường nối bằng dấu _, thứ tự trường giống nhau ở mọi file.
- Ảnh Raw và Mask của cùng mẫu: tên giống hệt, chỉ khác chữ Raw / Mask.
- Các ĐK của cùng mẫu giống nhau, chỉ khác &lt;ĐK&gt; và &lt;Đánh giá&gt;.
- Không dùng ký tự đặc biệt.
Quy tắc quản lý bằng thư mục:
- Mỗi cấp thư mục là một trường; thứ tự các cấp giống nhau ở mọi nhánh; ảnh chỉ nằm ở cấp cuối.
- Trường đã đưa lên thư mục thì bỏ khỏi tên file.
- Trong schema, giữa các cấp dùng dấu \.
Chuyển tiếp: Một số ví dụ nên và không nên.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ví dụ nên và không nên:
- Viết Sheet1_A-1_Top, không viết Sheet1_A_1_Top vì thừa dấu gạch dưới làm lệch trường.
- Tên lỗi của một cặp Raw/Mask phải giống nhau: Xước ở cả hai, không để một ảnh là Xuoc.
- Dùng đúng từ khoá NG / OK, Raw / Mask; không dùng KhongDat, AnhGoc.
Ảnh sai quy tắc sẽ bị báo sai schema – sẽ thấy ở phần kiểm tra trước khi xuất.
Chuyển tiếp: Dữ liệu đã sẵn sàng, sang Bước 2 – nhập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 nhập Schema cấu trúc tập dữ liệu, các số đỏ trên hình:
1. Mở tab Dataset Manager.
2. Thư mục ảnh: bấm Duyệt… chọn thư mục, rồi bấm Tải ảnh.
3. Nhập Schema, bấm Áp dụng Schema hoặc Enter.
4. Nút Xuất – dùng ở Bước 3.
Chuyển tiếp: Schema được viết theo quy tắc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tắc nhập Schema rất đơn giản:
- Mỗi trường đặt trong dấu &lt; &gt;.
- Phân loại theo cấp thư mục dùng dấu \.
- Phân loại theo tên file dùng dấu _.
Ví dụ kiểu C: hai cấp thư mục ĐK và Mã sheet-tray, phần còn lại trong tên file.
Trên hình: (1) ô nhập schema, nút đồng hồ mở lại các schema đã dùng; (2) nút Áp dụng Schema; (3) Thành phần schema thể hiện cấu trúc hiện thời và cho phép thêm nhanh thành phần.
Chuyển tiếp: Trước khi xuất, luôn kiểm tra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Lưu ý kiểm tra dữ liệu trước khi xuất:
- Dữ liệu chuẩn: lỗi schema bằng 0, số ảnh Raw bằng số ảnh Mask, không có vấn đề dữ liệu.
- Có lỗi: thanh trạng thái báo đỏ, khung Vấn đề dữ liệu liệt kê từng file; double-click để tới ảnh đang bị sai.
Ví dụ trên hình: 2 ảnh sai tên (sai schema) và 1 ảnh thiếu Mask – cần sửa tên hoặc bổ sung ảnh rồi Tải ảnh lại.
Chuyển tiếp: Dữ liệu sạch, sang Bước 3 – xuất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3 – xuất dữ liệu: xác nhận schema và dữ liệu, bấm nút Xuất trên Bảng kết quả. Hộp thoại xác nhận schema mở ra:
1. Kéo thả thẻ để đổi thứ tự cột; nút Theo schema trả về thứ tự gốc.
2. Bấm ✕ để bỏ cột không cần, bấm lại để lấy lại; thẻ có khoá là trường bắt buộc.
3. Xem trước các cột sẽ xuất.
4. Chọn Xuất Excel hoặc Xuất JSON.
Chuyển tiếp: Nếu chọn Excel, có thêm một số tuỳ chọn.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Tuỳ chọn xuất Excel, theo các số trên hình:
1. Cột Raw / Mask chứa gì – có 3 option, sẽ xem ở slide sau.
2. Kích thước ô ảnh: theo tỷ lệ ảnh hoặc nhập tay.
3. Xuất cột Vision: mặc định không tick – chỉ xuất Đánh giá và Ghi chú.
4. Bấm Xuất Excel và chọn nơi lưu.
Chuyển tiếp: So sánh 3 option nội dung cột Raw /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option cho cột Raw / Mask:
① Hyperlink + thumbnail (mặc định): ảnh nhỏ trong ô, bấm vào mở ảnh gốc.
② Hyperlink: bỏ tick Hiện thumbnail, ô chỉ chứa tên file, bấm vào mở ảnh gốc.
③ Chèn ảnh gốc: nhúng nguyên ảnh, không nén, phóng to để xem rõ chi tiết.
Chuyển tiếp: Vậy chọn option nào cho trường hợp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3 option:
- ① Thumbnail: ô chứa ảnh nhỏ, bấm mở được ảnh gốc, file ví dụ khoảng 733 KB – dùng để xem nhanh, gửi kèm thư mục ảnh.
- ② Hyperlink: ô chứa tên file, bấm mở được ảnh gốc, chỉ khoảng 21 KB – dùng khi dataset rất lớn, chỉ cần tra cứu.
- ③ Ảnh gốc: ảnh nét nhưng không có link, khoảng 7,2 MB – dùng khi gửi riêng file Excel, ít dữ liệu, khách hàng xem trực tiếp trong Excel.
Hình bên phải: phóng to cùng một ô cho thấy thumbnail bị vỡ, ảnh gốc giữ chi tiết.
Chuyển tiếp: Một số lưu ý bắt buộc khi xuất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Cảnh báo khi xuất Excel:
1. Với option ① và ②, nên lưu file Excel trong thư mục dataset để link ảnh vẫn mở được khi gửi cả thư mục.
2. Sau khi xuất Excel, không được đổi tên file, di chuyển ảnh hay đổi schema.
3. File báo cáo Excel phải cùng cấp với thư mục ảnh, như ví dụ Report.xlsx nằm cạnh các ảnh trong thư mục Dataset.
Chuyển tiếp: Bước cuối – đưa file này lên Q One 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4: lấy file JSON hoặc Excel xuất từ Vision Image Tool, nhập tại mục 9 và 10 trong hồ sơ dự án trên Q One Edu.
Dữ liệu sau khi nhập thành công thể hiện đầy đủ số lượng, các cột thông tin và đánh giá mẫu.
Đây là điểm nối giữa Phần III và Phần II: kết quả đánh giá tự động chuyển sang Nội dung 10 và được tổng hợp ở Nội dung 11.
Chuyển tiếp: Tóm tắt lại những điểm cần nhớ.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điểm cần nhớ, tổng hợp từ các lưu ý trong tài liệu:
1. Thực hiện lần lượt theo thứ tự – mục sau dùng dữ liệu của mục trước.
2. Không bỏ trống trường bắt buộc; luôn rà soát BOM sau khi dựng tự động và dữ liệu sau khi import.
3. Đặt tên ảnh đúng quy tắc, đảm bảo lỗi schema bằng 0 trước khi xuất.
4. File báo cáo lưu cùng cấp thư mục ảnh; không đổi tên, di chuyển ảnh hay đổi schema sau khi xuất.
Chuyển tiếp: Mời mọi người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mọi người đã theo dõi. Mời đặt câu hỏi.
Tài liệu tham chiếu: N-HD-NMIAVITEST-01, phiên bản 1.0. Địa chỉ đăng nhập: https://edu.nmi.vn/.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F1F5F9"/>
          </a:solidFill>
          <a:ln/>
        </p:spPr>
      </p:sp>
      <p:sp>
        <p:nvSpPr>
          <p:cNvPr id="3" name="Text 1"/>
          <p:cNvSpPr/>
          <p:nvPr/>
        </p:nvSpPr>
        <p:spPr>
          <a:xfrm>
            <a:off x="548640" y="6473952"/>
            <a:ext cx="7315200" cy="384048"/>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N-HD-NMIAVITEST-01  ·  Hướng dẫn lập báo cáo test dự án AVI</a:t>
            </a:r>
            <a:endParaRPr lang="en-US" sz="10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edu.nmi.vn/"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edu.nmi.vn/" TargetMode="Externa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6A34A"/>
          </a:solidFill>
          <a:ln w="12700">
            <a:solidFill>
              <a:srgbClr val="16A34A"/>
            </a:solidFill>
            <a:prstDash val="solid"/>
          </a:ln>
        </p:spPr>
      </p:sp>
      <p:sp>
        <p:nvSpPr>
          <p:cNvPr id="3" name="Shape 1"/>
          <p:cNvSpPr/>
          <p:nvPr/>
        </p:nvSpPr>
        <p:spPr>
          <a:xfrm>
            <a:off x="8412480" y="-2011680"/>
            <a:ext cx="5943600" cy="5943600"/>
          </a:xfrm>
          <a:prstGeom prst="ellipse">
            <a:avLst/>
          </a:prstGeom>
          <a:solidFill>
            <a:srgbClr val="16A34A">
              <a:alpha val="12000"/>
            </a:srgbClr>
          </a:solidFill>
          <a:ln w="12700">
            <a:solidFill>
              <a:srgbClr val="16A34A">
                <a:alpha val="30000"/>
              </a:srgbClr>
            </a:solidFill>
            <a:prstDash val="solid"/>
          </a:ln>
        </p:spPr>
      </p:sp>
      <p:sp>
        <p:nvSpPr>
          <p:cNvPr id="4" name="Text 2"/>
          <p:cNvSpPr/>
          <p:nvPr/>
        </p:nvSpPr>
        <p:spPr>
          <a:xfrm>
            <a:off x="731520" y="731520"/>
            <a:ext cx="5486400" cy="320040"/>
          </a:xfrm>
          <a:prstGeom prst="rect">
            <a:avLst/>
          </a:prstGeom>
          <a:noFill/>
          <a:ln/>
        </p:spPr>
        <p:txBody>
          <a:bodyPr wrap="square" lIns="0" tIns="0" rIns="0" bIns="0" rtlCol="0" anchor="ctr"/>
          <a:lstStyle/>
          <a:p>
            <a:pPr indent="0" marL="0">
              <a:buNone/>
            </a:pPr>
            <a:r>
              <a:rPr lang="en-US" sz="1200" b="1" spc="200" kern="0" dirty="0">
                <a:solidFill>
                  <a:srgbClr val="86EFAC"/>
                </a:solidFill>
                <a:latin typeface="Segoe UI" pitchFamily="34" charset="0"/>
                <a:ea typeface="Segoe UI" pitchFamily="34" charset="-122"/>
                <a:cs typeface="Segoe UI" pitchFamily="34" charset="-120"/>
              </a:rPr>
              <a:t>N-HD-NMIAVITEST-01  ·  PHIÊN BẢN 1.0</a:t>
            </a:r>
            <a:endParaRPr lang="en-US" sz="1200" dirty="0"/>
          </a:p>
        </p:txBody>
      </p:sp>
      <p:sp>
        <p:nvSpPr>
          <p:cNvPr id="5" name="Text 3"/>
          <p:cNvSpPr/>
          <p:nvPr/>
        </p:nvSpPr>
        <p:spPr>
          <a:xfrm>
            <a:off x="731520" y="1325880"/>
            <a:ext cx="6035040" cy="210312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Segoe UI" pitchFamily="34" charset="0"/>
                <a:ea typeface="Segoe UI" pitchFamily="34" charset="-122"/>
                <a:cs typeface="Segoe UI" pitchFamily="34" charset="-120"/>
              </a:rPr>
              <a:t>Hướng dẫn lập báo cáo test dự án AVI bằng phần mềm</a:t>
            </a:r>
            <a:endParaRPr lang="en-US" sz="3800" dirty="0"/>
          </a:p>
        </p:txBody>
      </p:sp>
      <p:sp>
        <p:nvSpPr>
          <p:cNvPr id="6" name="Text 4"/>
          <p:cNvSpPr/>
          <p:nvPr/>
        </p:nvSpPr>
        <p:spPr>
          <a:xfrm>
            <a:off x="731520" y="3520440"/>
            <a:ext cx="5852160" cy="731520"/>
          </a:xfrm>
          <a:prstGeom prst="rect">
            <a:avLst/>
          </a:prstGeom>
          <a:noFill/>
          <a:ln/>
        </p:spPr>
        <p:txBody>
          <a:bodyPr wrap="square" lIns="0" tIns="0" rIns="0" bIns="0" rtlCol="0" anchor="t"/>
          <a:lstStyle/>
          <a:p>
            <a:pPr indent="0" marL="0">
              <a:buNone/>
            </a:pPr>
            <a:r>
              <a:rPr lang="en-US" sz="1800" dirty="0">
                <a:solidFill>
                  <a:srgbClr val="CBD5E1"/>
                </a:solidFill>
                <a:latin typeface="Segoe UI" pitchFamily="34" charset="0"/>
                <a:ea typeface="Segoe UI" pitchFamily="34" charset="-122"/>
                <a:cs typeface="Segoe UI" pitchFamily="34" charset="-120"/>
              </a:rPr>
              <a:t>Quy trình thao tác từng bước trên Q One Edu và Vision Image Tool</a:t>
            </a:r>
            <a:endParaRPr lang="en-US" sz="1800" dirty="0"/>
          </a:p>
        </p:txBody>
      </p:sp>
      <p:sp>
        <p:nvSpPr>
          <p:cNvPr id="7" name="Shape 5"/>
          <p:cNvSpPr/>
          <p:nvPr/>
        </p:nvSpPr>
        <p:spPr>
          <a:xfrm>
            <a:off x="731520" y="4800600"/>
            <a:ext cx="5120640" cy="0"/>
          </a:xfrm>
          <a:prstGeom prst="line">
            <a:avLst/>
          </a:prstGeom>
          <a:noFill/>
          <a:ln w="12700">
            <a:solidFill>
              <a:srgbClr val="334155"/>
            </a:solidFill>
            <a:prstDash val="solid"/>
          </a:ln>
        </p:spPr>
      </p:sp>
      <p:sp>
        <p:nvSpPr>
          <p:cNvPr id="8" name="Text 6"/>
          <p:cNvSpPr/>
          <p:nvPr/>
        </p:nvSpPr>
        <p:spPr>
          <a:xfrm>
            <a:off x="731520" y="4983480"/>
            <a:ext cx="5852160" cy="822960"/>
          </a:xfrm>
          <a:prstGeom prst="rect">
            <a:avLst/>
          </a:prstGeom>
          <a:noFill/>
          <a:ln/>
        </p:spPr>
        <p:txBody>
          <a:bodyPr wrap="square" lIns="0" tIns="0" rIns="0" bIns="0" rtlCol="0" anchor="ctr"/>
          <a:lstStyle/>
          <a:p>
            <a:pPr indent="0" marL="0">
              <a:spcAft>
                <a:spcPts val="600"/>
              </a:spcAft>
              <a:buNone/>
            </a:pPr>
            <a:r>
              <a:rPr lang="en-US" sz="1400" dirty="0">
                <a:solidFill>
                  <a:srgbClr val="94A3B8"/>
                </a:solidFill>
                <a:latin typeface="Segoe UI" pitchFamily="34" charset="0"/>
                <a:ea typeface="Segoe UI" pitchFamily="34" charset="-122"/>
                <a:cs typeface="Segoe UI" pitchFamily="34" charset="-120"/>
              </a:rPr>
              <a:t>Người soạn   </a:t>
            </a:r>
            <a:pPr indent="0" marL="0">
              <a:spcAft>
                <a:spcPts val="600"/>
              </a:spcAft>
              <a:buNone/>
            </a:pPr>
            <a:r>
              <a:rPr lang="en-US" sz="1400" b="1" dirty="0">
                <a:solidFill>
                  <a:srgbClr val="FFFFFF"/>
                </a:solidFill>
                <a:latin typeface="Segoe UI" pitchFamily="34" charset="0"/>
                <a:ea typeface="Segoe UI" pitchFamily="34" charset="-122"/>
                <a:cs typeface="Segoe UI" pitchFamily="34" charset="-120"/>
              </a:rPr>
              <a:t>Hồ Thành Vinh, Nguyễn Tuấn Anh</a:t>
            </a:r>
            <a:endParaRPr lang="en-US" sz="1400" dirty="0"/>
          </a:p>
          <a:p>
            <a:pPr indent="0" marL="0">
              <a:spcAft>
                <a:spcPts val="600"/>
              </a:spcAft>
              <a:buNone/>
            </a:pPr>
            <a:r>
              <a:rPr lang="en-US" sz="1400" dirty="0">
                <a:solidFill>
                  <a:srgbClr val="94A3B8"/>
                </a:solidFill>
                <a:latin typeface="Segoe UI" pitchFamily="34" charset="0"/>
                <a:ea typeface="Segoe UI" pitchFamily="34" charset="-122"/>
                <a:cs typeface="Segoe UI" pitchFamily="34" charset="-120"/>
              </a:rPr>
              <a:t>Ban hành      </a:t>
            </a:r>
            <a:pPr indent="0" marL="0">
              <a:spcAft>
                <a:spcPts val="600"/>
              </a:spcAft>
              <a:buNone/>
            </a:pPr>
            <a:r>
              <a:rPr lang="en-US" sz="1400" b="1" dirty="0">
                <a:solidFill>
                  <a:srgbClr val="FFFFFF"/>
                </a:solidFill>
                <a:latin typeface="Segoe UI" pitchFamily="34" charset="0"/>
                <a:ea typeface="Segoe UI" pitchFamily="34" charset="-122"/>
                <a:cs typeface="Segoe UI" pitchFamily="34" charset="-120"/>
              </a:rPr>
              <a:t>09/10/2026</a:t>
            </a:r>
            <a:endParaRPr lang="en-US" sz="1400" dirty="0"/>
          </a:p>
        </p:txBody>
      </p:sp>
      <p:sp>
        <p:nvSpPr>
          <p:cNvPr id="9" name="Shape 7"/>
          <p:cNvSpPr/>
          <p:nvPr/>
        </p:nvSpPr>
        <p:spPr>
          <a:xfrm>
            <a:off x="6812280" y="1874520"/>
            <a:ext cx="4937760" cy="2719079"/>
          </a:xfrm>
          <a:prstGeom prst="rect">
            <a:avLst/>
          </a:prstGeom>
          <a:solidFill>
            <a:srgbClr val="FFFFFF"/>
          </a:solidFill>
          <a:ln w="12700">
            <a:solidFill>
              <a:srgbClr val="334155"/>
            </a:solidFill>
            <a:prstDash val="solid"/>
          </a:ln>
          <a:effectLst>
            <a:outerShdw sx="100000" sy="100000" kx="0" ky="0" algn="bl" rotWithShape="0" blurRad="228600" dist="76200" dir="5400000">
              <a:srgbClr val="000000">
                <a:alpha val="45000"/>
              </a:srgbClr>
            </a:outerShdw>
          </a:effectLst>
        </p:spPr>
      </p:sp>
      <p:pic>
        <p:nvPicPr>
          <p:cNvPr id="10" name="Image 0" descr="Trang chủ Q One Edu">    </p:cNvPr>
          <p:cNvPicPr>
            <a:picLocks noChangeAspect="1"/>
          </p:cNvPicPr>
          <p:nvPr/>
        </p:nvPicPr>
        <p:blipFill>
          <a:blip r:embed="rId1"/>
          <a:stretch>
            <a:fillRect/>
          </a:stretch>
        </p:blipFill>
        <p:spPr>
          <a:xfrm>
            <a:off x="6858000" y="1920240"/>
            <a:ext cx="4846320" cy="2627639"/>
          </a:xfrm>
          <a:prstGeom prst="rect">
            <a:avLst/>
          </a:prstGeom>
        </p:spPr>
      </p:pic>
      <p:sp>
        <p:nvSpPr>
          <p:cNvPr id="11" name="Text 8"/>
          <p:cNvSpPr/>
          <p:nvPr/>
        </p:nvSpPr>
        <p:spPr>
          <a:xfrm>
            <a:off x="6858000" y="4639319"/>
            <a:ext cx="4846320" cy="320040"/>
          </a:xfrm>
          <a:prstGeom prst="rect">
            <a:avLst/>
          </a:prstGeom>
          <a:noFill/>
          <a:ln/>
        </p:spPr>
        <p:txBody>
          <a:bodyPr wrap="square" lIns="0" tIns="0" rIns="0" bIns="0" rtlCol="0" anchor="ctr"/>
          <a:lstStyle/>
          <a:p>
            <a:pPr algn="ctr" indent="0" marL="0">
              <a:buNone/>
            </a:pPr>
            <a:r>
              <a:rPr lang="en-US" sz="1200" dirty="0">
                <a:solidFill>
                  <a:srgbClr val="94A3B8"/>
                </a:solidFill>
                <a:latin typeface="Segoe UI" pitchFamily="34" charset="0"/>
                <a:ea typeface="Segoe UI" pitchFamily="34" charset="-122"/>
                <a:cs typeface="Segoe UI" pitchFamily="34" charset="-120"/>
              </a:rPr>
              <a:t>edu.nmi.vn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GIỚI THIỆU</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Mục đích: tạo hồ sơ dự án và hoàn thiện báo cáo test AVI</a:t>
            </a:r>
            <a:endParaRPr lang="en-US" sz="2600" dirty="0"/>
          </a:p>
        </p:txBody>
      </p:sp>
      <p:sp>
        <p:nvSpPr>
          <p:cNvPr id="5" name="Shape 3"/>
          <p:cNvSpPr/>
          <p:nvPr/>
        </p:nvSpPr>
        <p:spPr>
          <a:xfrm>
            <a:off x="548640" y="1508760"/>
            <a:ext cx="5394960" cy="4480560"/>
          </a:xfrm>
          <a:prstGeom prst="roundRect">
            <a:avLst>
              <a:gd name="adj" fmla="val 1633"/>
            </a:avLst>
          </a:prstGeom>
          <a:solidFill>
            <a:srgbClr val="ECFDF3"/>
          </a:solidFill>
          <a:ln w="9525">
            <a:solidFill>
              <a:srgbClr val="BBE5C8"/>
            </a:solidFill>
            <a:prstDash val="solid"/>
          </a:ln>
        </p:spPr>
      </p:sp>
      <p:sp>
        <p:nvSpPr>
          <p:cNvPr id="6" name="Text 4"/>
          <p:cNvSpPr/>
          <p:nvPr/>
        </p:nvSpPr>
        <p:spPr>
          <a:xfrm>
            <a:off x="868680" y="1783080"/>
            <a:ext cx="4754880" cy="274320"/>
          </a:xfrm>
          <a:prstGeom prst="rect">
            <a:avLst/>
          </a:prstGeom>
          <a:noFill/>
          <a:ln/>
        </p:spPr>
        <p:txBody>
          <a:bodyPr wrap="square" lIns="0" tIns="0" rIns="0" bIns="0" rtlCol="0" anchor="ctr"/>
          <a:lstStyle/>
          <a:p>
            <a:pPr indent="0" marL="0">
              <a:buNone/>
            </a:pPr>
            <a:r>
              <a:rPr lang="en-US" sz="1200" b="1" spc="100" kern="0" dirty="0">
                <a:solidFill>
                  <a:srgbClr val="16A34A"/>
                </a:solidFill>
                <a:latin typeface="Segoe UI" pitchFamily="34" charset="0"/>
                <a:ea typeface="Segoe UI" pitchFamily="34" charset="-122"/>
                <a:cs typeface="Segoe UI" pitchFamily="34" charset="-120"/>
              </a:rPr>
              <a:t>MỤC ĐÍCH</a:t>
            </a:r>
            <a:endParaRPr lang="en-US" sz="1200" dirty="0"/>
          </a:p>
        </p:txBody>
      </p:sp>
      <p:sp>
        <p:nvSpPr>
          <p:cNvPr id="7" name="Text 5"/>
          <p:cNvSpPr/>
          <p:nvPr/>
        </p:nvSpPr>
        <p:spPr>
          <a:xfrm>
            <a:off x="868680" y="2148840"/>
            <a:ext cx="4754880" cy="1737360"/>
          </a:xfrm>
          <a:prstGeom prst="rect">
            <a:avLst/>
          </a:prstGeom>
          <a:noFill/>
          <a:ln/>
        </p:spPr>
        <p:txBody>
          <a:bodyPr wrap="square" lIns="0" tIns="0" rIns="0" bIns="0"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Hướng dẫn người dùng thao tác trên phần mềm để tạo hồ sơ dự án và hoàn thiện các nội dung báo cáo test AVI.</a:t>
            </a:r>
            <a:endParaRPr lang="en-US" sz="2200" dirty="0"/>
          </a:p>
        </p:txBody>
      </p:sp>
      <p:sp>
        <p:nvSpPr>
          <p:cNvPr id="8" name="Text 6"/>
          <p:cNvSpPr/>
          <p:nvPr/>
        </p:nvSpPr>
        <p:spPr>
          <a:xfrm>
            <a:off x="868680" y="4160520"/>
            <a:ext cx="4754880" cy="274320"/>
          </a:xfrm>
          <a:prstGeom prst="rect">
            <a:avLst/>
          </a:prstGeom>
          <a:noFill/>
          <a:ln/>
        </p:spPr>
        <p:txBody>
          <a:bodyPr wrap="square" lIns="0" tIns="0" rIns="0" bIns="0" rtlCol="0" anchor="ctr"/>
          <a:lstStyle/>
          <a:p>
            <a:pPr indent="0" marL="0">
              <a:buNone/>
            </a:pPr>
            <a:r>
              <a:rPr lang="en-US" sz="1200" b="1" spc="100" kern="0" dirty="0">
                <a:solidFill>
                  <a:srgbClr val="16A34A"/>
                </a:solidFill>
                <a:latin typeface="Segoe UI" pitchFamily="34" charset="0"/>
                <a:ea typeface="Segoe UI" pitchFamily="34" charset="-122"/>
                <a:cs typeface="Segoe UI" pitchFamily="34" charset="-120"/>
              </a:rPr>
              <a:t>ĐỊA CHỈ ĐĂNG NHẬP</a:t>
            </a:r>
            <a:endParaRPr lang="en-US" sz="1200" dirty="0"/>
          </a:p>
        </p:txBody>
      </p:sp>
      <p:sp>
        <p:nvSpPr>
          <p:cNvPr id="9" name="Text 7"/>
          <p:cNvSpPr/>
          <p:nvPr/>
        </p:nvSpPr>
        <p:spPr>
          <a:xfrm>
            <a:off x="868680" y="4480560"/>
            <a:ext cx="4754880" cy="502920"/>
          </a:xfrm>
          <a:prstGeom prst="rect">
            <a:avLst/>
          </a:prstGeom>
          <a:noFill/>
          <a:ln/>
        </p:spPr>
        <p:txBody>
          <a:bodyPr wrap="square" lIns="0" tIns="0" rIns="0" bIns="0" rtlCol="0" anchor="ctr"/>
          <a:lstStyle/>
          <a:p>
            <a:pPr indent="0" marL="0">
              <a:buNone/>
            </a:pPr>
            <a:r>
              <a:rPr lang="en-US" sz="2600" b="1" u="sng" dirty="0">
                <a:solidFill>
                  <a:srgbClr val="16A34A"/>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https://edu.nmi.vn/</a:t>
            </a:r>
            <a:endParaRPr lang="en-US" sz="2600" dirty="0"/>
          </a:p>
        </p:txBody>
      </p:sp>
      <p:sp>
        <p:nvSpPr>
          <p:cNvPr id="10" name="Text 8"/>
          <p:cNvSpPr/>
          <p:nvPr/>
        </p:nvSpPr>
        <p:spPr>
          <a:xfrm>
            <a:off x="868680" y="5029200"/>
            <a:ext cx="4754880" cy="320040"/>
          </a:xfrm>
          <a:prstGeom prst="rect">
            <a:avLst/>
          </a:prstGeom>
          <a:noFill/>
          <a:ln/>
        </p:spPr>
        <p:txBody>
          <a:bodyPr wrap="square" lIns="0" tIns="0" rIns="0" bIns="0" rtlCol="0" anchor="ctr"/>
          <a:lstStyle/>
          <a:p>
            <a:pPr indent="0" marL="0">
              <a:buNone/>
            </a:pPr>
            <a:r>
              <a:rPr lang="en-US" sz="1400" dirty="0">
                <a:solidFill>
                  <a:srgbClr val="64748B"/>
                </a:solidFill>
                <a:latin typeface="Segoe UI" pitchFamily="34" charset="0"/>
                <a:ea typeface="Segoe UI" pitchFamily="34" charset="-122"/>
                <a:cs typeface="Segoe UI" pitchFamily="34" charset="-120"/>
              </a:rPr>
              <a:t>Nền tảng Q One Edu</a:t>
            </a:r>
            <a:endParaRPr lang="en-US" sz="1400" dirty="0"/>
          </a:p>
        </p:txBody>
      </p:sp>
      <p:sp>
        <p:nvSpPr>
          <p:cNvPr id="11" name="Shape 9"/>
          <p:cNvSpPr/>
          <p:nvPr/>
        </p:nvSpPr>
        <p:spPr>
          <a:xfrm>
            <a:off x="6327648" y="1481328"/>
            <a:ext cx="5342839" cy="2921966"/>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2" name="Image 0" descr="Hình minh họa 1">    </p:cNvPr>
          <p:cNvPicPr>
            <a:picLocks noChangeAspect="1"/>
          </p:cNvPicPr>
          <p:nvPr/>
        </p:nvPicPr>
        <p:blipFill>
          <a:blip r:embed="rId2"/>
          <a:stretch>
            <a:fillRect/>
          </a:stretch>
        </p:blipFill>
        <p:spPr>
          <a:xfrm>
            <a:off x="6355080" y="1508760"/>
            <a:ext cx="5287975" cy="2867102"/>
          </a:xfrm>
          <a:prstGeom prst="rect">
            <a:avLst/>
          </a:prstGeom>
        </p:spPr>
      </p:pic>
      <p:sp>
        <p:nvSpPr>
          <p:cNvPr id="13" name="Text 10"/>
          <p:cNvSpPr/>
          <p:nvPr/>
        </p:nvSpPr>
        <p:spPr>
          <a:xfrm>
            <a:off x="6355080" y="4449014"/>
            <a:ext cx="5287975"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Trang chủ Q One Edu</a:t>
            </a:r>
            <a:endParaRPr lang="en-US" sz="1100" dirty="0"/>
          </a:p>
        </p:txBody>
      </p:sp>
      <p:sp>
        <p:nvSpPr>
          <p:cNvPr id="14" name="Shape 11"/>
          <p:cNvSpPr/>
          <p:nvPr/>
        </p:nvSpPr>
        <p:spPr>
          <a:xfrm>
            <a:off x="6355080" y="5394960"/>
            <a:ext cx="5287975" cy="777240"/>
          </a:xfrm>
          <a:prstGeom prst="rect">
            <a:avLst/>
          </a:prstGeom>
          <a:solidFill>
            <a:srgbClr val="ECFDF3"/>
          </a:solidFill>
          <a:ln w="9525">
            <a:solidFill>
              <a:srgbClr val="BBE5C8"/>
            </a:solidFill>
            <a:prstDash val="solid"/>
          </a:ln>
        </p:spPr>
      </p:sp>
      <p:sp>
        <p:nvSpPr>
          <p:cNvPr id="15" name="Shape 12"/>
          <p:cNvSpPr/>
          <p:nvPr/>
        </p:nvSpPr>
        <p:spPr>
          <a:xfrm>
            <a:off x="6355080" y="5394960"/>
            <a:ext cx="64008" cy="777240"/>
          </a:xfrm>
          <a:prstGeom prst="rect">
            <a:avLst/>
          </a:prstGeom>
          <a:solidFill>
            <a:srgbClr val="16A34A"/>
          </a:solidFill>
          <a:ln w="12700">
            <a:solidFill>
              <a:srgbClr val="16A34A"/>
            </a:solidFill>
            <a:prstDash val="solid"/>
          </a:ln>
        </p:spPr>
      </p:sp>
      <p:sp>
        <p:nvSpPr>
          <p:cNvPr id="16" name="Text 13"/>
          <p:cNvSpPr/>
          <p:nvPr/>
        </p:nvSpPr>
        <p:spPr>
          <a:xfrm>
            <a:off x="6556248" y="5449824"/>
            <a:ext cx="4995367" cy="667512"/>
          </a:xfrm>
          <a:prstGeom prst="rect">
            <a:avLst/>
          </a:prstGeom>
          <a:noFill/>
          <a:ln/>
        </p:spPr>
        <p:txBody>
          <a:bodyPr wrap="square" lIns="0" tIns="0" rIns="0" bIns="0" rtlCol="0" anchor="ctr"/>
          <a:lstStyle/>
          <a:p>
            <a:pPr indent="0" marL="0">
              <a:spcAft>
                <a:spcPts val="200"/>
              </a:spcAft>
              <a:buNone/>
            </a:pPr>
            <a:r>
              <a:rPr lang="en-US" sz="1100" b="1" spc="100" kern="0" dirty="0">
                <a:solidFill>
                  <a:srgbClr val="16A34A"/>
                </a:solidFill>
                <a:latin typeface="Segoe UI" pitchFamily="34" charset="0"/>
                <a:ea typeface="Segoe UI" pitchFamily="34" charset="-122"/>
                <a:cs typeface="Segoe UI" pitchFamily="34" charset="-120"/>
              </a:rPr>
              <a:t>LƯU Ý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Thực hiện lần lượt theo thứ tự các nội dung trong tài liệu.</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TỔNG QUAN</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Quy trình gồm 3 phần, thực hiện nối tiếp nhau</a:t>
            </a:r>
            <a:endParaRPr lang="en-US" sz="2600" dirty="0"/>
          </a:p>
        </p:txBody>
      </p:sp>
      <p:sp>
        <p:nvSpPr>
          <p:cNvPr id="5" name="Shape 3"/>
          <p:cNvSpPr/>
          <p:nvPr/>
        </p:nvSpPr>
        <p:spPr>
          <a:xfrm>
            <a:off x="548640" y="1645920"/>
            <a:ext cx="3429000" cy="3749040"/>
          </a:xfrm>
          <a:prstGeom prst="roundRect">
            <a:avLst>
              <a:gd name="adj" fmla="val 2133"/>
            </a:avLst>
          </a:prstGeom>
          <a:solidFill>
            <a:srgbClr val="FFFFFF"/>
          </a:solidFill>
          <a:ln w="9525">
            <a:solidFill>
              <a:srgbClr val="E2E8F0"/>
            </a:solidFill>
            <a:prstDash val="solid"/>
          </a:ln>
        </p:spPr>
      </p:sp>
      <p:sp>
        <p:nvSpPr>
          <p:cNvPr id="6" name="Shape 4"/>
          <p:cNvSpPr/>
          <p:nvPr/>
        </p:nvSpPr>
        <p:spPr>
          <a:xfrm>
            <a:off x="548640" y="1645920"/>
            <a:ext cx="3429000" cy="91440"/>
          </a:xfrm>
          <a:prstGeom prst="rect">
            <a:avLst/>
          </a:prstGeom>
          <a:solidFill>
            <a:srgbClr val="16A34A"/>
          </a:solidFill>
          <a:ln w="12700">
            <a:solidFill>
              <a:srgbClr val="16A34A"/>
            </a:solidFill>
            <a:prstDash val="solid"/>
          </a:ln>
        </p:spPr>
      </p:sp>
      <p:sp>
        <p:nvSpPr>
          <p:cNvPr id="7" name="Text 5"/>
          <p:cNvSpPr/>
          <p:nvPr/>
        </p:nvSpPr>
        <p:spPr>
          <a:xfrm>
            <a:off x="822960" y="1920240"/>
            <a:ext cx="1280160" cy="822960"/>
          </a:xfrm>
          <a:prstGeom prst="rect">
            <a:avLst/>
          </a:prstGeom>
          <a:noFill/>
          <a:ln/>
        </p:spPr>
        <p:txBody>
          <a:bodyPr wrap="square" lIns="0" tIns="0" rIns="0" bIns="0" rtlCol="0" anchor="ctr"/>
          <a:lstStyle/>
          <a:p>
            <a:pPr indent="0" marL="0">
              <a:buNone/>
            </a:pPr>
            <a:r>
              <a:rPr lang="en-US" sz="4800" b="1" dirty="0">
                <a:solidFill>
                  <a:srgbClr val="16A34A"/>
                </a:solidFill>
                <a:latin typeface="Segoe UI" pitchFamily="34" charset="0"/>
                <a:ea typeface="Segoe UI" pitchFamily="34" charset="-122"/>
                <a:cs typeface="Segoe UI" pitchFamily="34" charset="-120"/>
              </a:rPr>
              <a:t>I</a:t>
            </a:r>
            <a:endParaRPr lang="en-US" sz="4800" dirty="0"/>
          </a:p>
        </p:txBody>
      </p:sp>
      <p:sp>
        <p:nvSpPr>
          <p:cNvPr id="8" name="Text 6"/>
          <p:cNvSpPr/>
          <p:nvPr/>
        </p:nvSpPr>
        <p:spPr>
          <a:xfrm>
            <a:off x="822960" y="2788920"/>
            <a:ext cx="2880360" cy="411480"/>
          </a:xfrm>
          <a:prstGeom prst="rect">
            <a:avLst/>
          </a:prstGeom>
          <a:noFill/>
          <a:ln/>
        </p:spPr>
        <p:txBody>
          <a:bodyPr wrap="square" lIns="0" tIns="0" rIns="0" bIns="0"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Chọn camera, lens</a:t>
            </a:r>
            <a:endParaRPr lang="en-US" sz="2000" dirty="0"/>
          </a:p>
        </p:txBody>
      </p:sp>
      <p:sp>
        <p:nvSpPr>
          <p:cNvPr id="9" name="Text 7"/>
          <p:cNvSpPr/>
          <p:nvPr/>
        </p:nvSpPr>
        <p:spPr>
          <a:xfrm>
            <a:off x="822960" y="3200400"/>
            <a:ext cx="2880360" cy="320040"/>
          </a:xfrm>
          <a:prstGeom prst="rect">
            <a:avLst/>
          </a:prstGeom>
          <a:noFill/>
          <a:ln/>
        </p:spPr>
        <p:txBody>
          <a:bodyPr wrap="square" lIns="0" tIns="0" rIns="0" bIns="0" rtlCol="0" anchor="ctr"/>
          <a:lstStyle/>
          <a:p>
            <a:pPr indent="0" marL="0">
              <a:buNone/>
            </a:pPr>
            <a:r>
              <a:rPr lang="en-US" sz="1300" dirty="0">
                <a:solidFill>
                  <a:srgbClr val="64748B"/>
                </a:solidFill>
                <a:latin typeface="Segoe UI" pitchFamily="34" charset="0"/>
                <a:ea typeface="Segoe UI" pitchFamily="34" charset="-122"/>
                <a:cs typeface="Segoe UI" pitchFamily="34" charset="-120"/>
              </a:rPr>
              <a:t>Vision Advisor</a:t>
            </a:r>
            <a:endParaRPr lang="en-US" sz="1300" dirty="0"/>
          </a:p>
        </p:txBody>
      </p:sp>
      <p:sp>
        <p:nvSpPr>
          <p:cNvPr id="10" name="Shape 8"/>
          <p:cNvSpPr/>
          <p:nvPr/>
        </p:nvSpPr>
        <p:spPr>
          <a:xfrm>
            <a:off x="822960" y="3657600"/>
            <a:ext cx="2880360" cy="0"/>
          </a:xfrm>
          <a:prstGeom prst="line">
            <a:avLst/>
          </a:prstGeom>
          <a:noFill/>
          <a:ln w="12700">
            <a:solidFill>
              <a:srgbClr val="E2E8F0"/>
            </a:solidFill>
            <a:prstDash val="solid"/>
          </a:ln>
        </p:spPr>
      </p:sp>
      <p:sp>
        <p:nvSpPr>
          <p:cNvPr id="11" name="Text 9"/>
          <p:cNvSpPr/>
          <p:nvPr/>
        </p:nvSpPr>
        <p:spPr>
          <a:xfrm>
            <a:off x="822960" y="3840480"/>
            <a:ext cx="2926080" cy="210312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Chọn Vision Advisor</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Điền thông tin để tính toán camera và lens phù hợp</a:t>
            </a:r>
            <a:endParaRPr lang="en-US" sz="1500" dirty="0"/>
          </a:p>
        </p:txBody>
      </p:sp>
      <p:sp>
        <p:nvSpPr>
          <p:cNvPr id="12" name="Shape 10"/>
          <p:cNvSpPr/>
          <p:nvPr/>
        </p:nvSpPr>
        <p:spPr>
          <a:xfrm>
            <a:off x="4014216" y="3703320"/>
            <a:ext cx="330556" cy="292608"/>
          </a:xfrm>
          <a:prstGeom prst="rightArrow">
            <a:avLst/>
          </a:prstGeom>
          <a:solidFill>
            <a:srgbClr val="94A3B8"/>
          </a:solidFill>
          <a:ln w="12700">
            <a:solidFill>
              <a:srgbClr val="94A3B8"/>
            </a:solidFill>
            <a:prstDash val="solid"/>
          </a:ln>
        </p:spPr>
      </p:sp>
      <p:sp>
        <p:nvSpPr>
          <p:cNvPr id="13" name="Shape 11"/>
          <p:cNvSpPr/>
          <p:nvPr/>
        </p:nvSpPr>
        <p:spPr>
          <a:xfrm>
            <a:off x="4381348" y="1645920"/>
            <a:ext cx="3429000" cy="3749040"/>
          </a:xfrm>
          <a:prstGeom prst="roundRect">
            <a:avLst>
              <a:gd name="adj" fmla="val 2133"/>
            </a:avLst>
          </a:prstGeom>
          <a:solidFill>
            <a:srgbClr val="FFFFFF"/>
          </a:solidFill>
          <a:ln w="9525">
            <a:solidFill>
              <a:srgbClr val="E2E8F0"/>
            </a:solidFill>
            <a:prstDash val="solid"/>
          </a:ln>
        </p:spPr>
      </p:sp>
      <p:sp>
        <p:nvSpPr>
          <p:cNvPr id="14" name="Shape 12"/>
          <p:cNvSpPr/>
          <p:nvPr/>
        </p:nvSpPr>
        <p:spPr>
          <a:xfrm>
            <a:off x="4381348" y="1645920"/>
            <a:ext cx="3429000" cy="91440"/>
          </a:xfrm>
          <a:prstGeom prst="rect">
            <a:avLst/>
          </a:prstGeom>
          <a:solidFill>
            <a:srgbClr val="16A34A"/>
          </a:solidFill>
          <a:ln w="12700">
            <a:solidFill>
              <a:srgbClr val="16A34A"/>
            </a:solidFill>
            <a:prstDash val="solid"/>
          </a:ln>
        </p:spPr>
      </p:sp>
      <p:sp>
        <p:nvSpPr>
          <p:cNvPr id="15" name="Text 13"/>
          <p:cNvSpPr/>
          <p:nvPr/>
        </p:nvSpPr>
        <p:spPr>
          <a:xfrm>
            <a:off x="4655668" y="1920240"/>
            <a:ext cx="1280160" cy="822960"/>
          </a:xfrm>
          <a:prstGeom prst="rect">
            <a:avLst/>
          </a:prstGeom>
          <a:noFill/>
          <a:ln/>
        </p:spPr>
        <p:txBody>
          <a:bodyPr wrap="square" lIns="0" tIns="0" rIns="0" bIns="0" rtlCol="0" anchor="ctr"/>
          <a:lstStyle/>
          <a:p>
            <a:pPr indent="0" marL="0">
              <a:buNone/>
            </a:pPr>
            <a:r>
              <a:rPr lang="en-US" sz="4800" b="1" dirty="0">
                <a:solidFill>
                  <a:srgbClr val="16A34A"/>
                </a:solidFill>
                <a:latin typeface="Segoe UI" pitchFamily="34" charset="0"/>
                <a:ea typeface="Segoe UI" pitchFamily="34" charset="-122"/>
                <a:cs typeface="Segoe UI" pitchFamily="34" charset="-120"/>
              </a:rPr>
              <a:t>II</a:t>
            </a:r>
            <a:endParaRPr lang="en-US" sz="4800" dirty="0"/>
          </a:p>
        </p:txBody>
      </p:sp>
      <p:sp>
        <p:nvSpPr>
          <p:cNvPr id="16" name="Text 14"/>
          <p:cNvSpPr/>
          <p:nvPr/>
        </p:nvSpPr>
        <p:spPr>
          <a:xfrm>
            <a:off x="4655668" y="2788920"/>
            <a:ext cx="2880360" cy="411480"/>
          </a:xfrm>
          <a:prstGeom prst="rect">
            <a:avLst/>
          </a:prstGeom>
          <a:noFill/>
          <a:ln/>
        </p:spPr>
        <p:txBody>
          <a:bodyPr wrap="square" lIns="0" tIns="0" rIns="0" bIns="0"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Khởi tạo dự án</a:t>
            </a:r>
            <a:endParaRPr lang="en-US" sz="2000" dirty="0"/>
          </a:p>
        </p:txBody>
      </p:sp>
      <p:sp>
        <p:nvSpPr>
          <p:cNvPr id="17" name="Text 15"/>
          <p:cNvSpPr/>
          <p:nvPr/>
        </p:nvSpPr>
        <p:spPr>
          <a:xfrm>
            <a:off x="4655668" y="3200400"/>
            <a:ext cx="2880360" cy="320040"/>
          </a:xfrm>
          <a:prstGeom prst="rect">
            <a:avLst/>
          </a:prstGeom>
          <a:noFill/>
          <a:ln/>
        </p:spPr>
        <p:txBody>
          <a:bodyPr wrap="square" lIns="0" tIns="0" rIns="0" bIns="0" rtlCol="0" anchor="ctr"/>
          <a:lstStyle/>
          <a:p>
            <a:pPr indent="0" marL="0">
              <a:buNone/>
            </a:pPr>
            <a:r>
              <a:rPr lang="en-US" sz="1300" dirty="0">
                <a:solidFill>
                  <a:srgbClr val="64748B"/>
                </a:solidFill>
                <a:latin typeface="Segoe UI" pitchFamily="34" charset="0"/>
                <a:ea typeface="Segoe UI" pitchFamily="34" charset="-122"/>
                <a:cs typeface="Segoe UI" pitchFamily="34" charset="-120"/>
              </a:rPr>
              <a:t>Hồ sơ dự án trên Q One Edu</a:t>
            </a:r>
            <a:endParaRPr lang="en-US" sz="1300" dirty="0"/>
          </a:p>
        </p:txBody>
      </p:sp>
      <p:sp>
        <p:nvSpPr>
          <p:cNvPr id="18" name="Shape 16"/>
          <p:cNvSpPr/>
          <p:nvPr/>
        </p:nvSpPr>
        <p:spPr>
          <a:xfrm>
            <a:off x="4655668" y="3657600"/>
            <a:ext cx="2880360" cy="0"/>
          </a:xfrm>
          <a:prstGeom prst="line">
            <a:avLst/>
          </a:prstGeom>
          <a:noFill/>
          <a:ln w="12700">
            <a:solidFill>
              <a:srgbClr val="E2E8F0"/>
            </a:solidFill>
            <a:prstDash val="solid"/>
          </a:ln>
        </p:spPr>
      </p:sp>
      <p:sp>
        <p:nvSpPr>
          <p:cNvPr id="19" name="Text 17"/>
          <p:cNvSpPr/>
          <p:nvPr/>
        </p:nvSpPr>
        <p:spPr>
          <a:xfrm>
            <a:off x="4655668" y="3840480"/>
            <a:ext cx="2926080" cy="210312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Tạo / mở dự án</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Hoàn thiện 11 nội dung</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Kiểm tra trước khi hoàn tất</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Xuất báo cáo giải pháp</a:t>
            </a:r>
            <a:endParaRPr lang="en-US" sz="1500" dirty="0"/>
          </a:p>
        </p:txBody>
      </p:sp>
      <p:sp>
        <p:nvSpPr>
          <p:cNvPr id="20" name="Shape 18"/>
          <p:cNvSpPr/>
          <p:nvPr/>
        </p:nvSpPr>
        <p:spPr>
          <a:xfrm>
            <a:off x="7846924" y="3703320"/>
            <a:ext cx="330556" cy="292608"/>
          </a:xfrm>
          <a:prstGeom prst="rightArrow">
            <a:avLst/>
          </a:prstGeom>
          <a:solidFill>
            <a:srgbClr val="94A3B8"/>
          </a:solidFill>
          <a:ln w="12700">
            <a:solidFill>
              <a:srgbClr val="94A3B8"/>
            </a:solidFill>
            <a:prstDash val="solid"/>
          </a:ln>
        </p:spPr>
      </p:sp>
      <p:sp>
        <p:nvSpPr>
          <p:cNvPr id="21" name="Shape 19"/>
          <p:cNvSpPr/>
          <p:nvPr/>
        </p:nvSpPr>
        <p:spPr>
          <a:xfrm>
            <a:off x="8214055" y="1645920"/>
            <a:ext cx="3429000" cy="3749040"/>
          </a:xfrm>
          <a:prstGeom prst="roundRect">
            <a:avLst>
              <a:gd name="adj" fmla="val 2133"/>
            </a:avLst>
          </a:prstGeom>
          <a:solidFill>
            <a:srgbClr val="FFFFFF"/>
          </a:solidFill>
          <a:ln w="9525">
            <a:solidFill>
              <a:srgbClr val="E2E8F0"/>
            </a:solidFill>
            <a:prstDash val="solid"/>
          </a:ln>
        </p:spPr>
      </p:sp>
      <p:sp>
        <p:nvSpPr>
          <p:cNvPr id="22" name="Shape 20"/>
          <p:cNvSpPr/>
          <p:nvPr/>
        </p:nvSpPr>
        <p:spPr>
          <a:xfrm>
            <a:off x="8214055" y="1645920"/>
            <a:ext cx="3429000" cy="91440"/>
          </a:xfrm>
          <a:prstGeom prst="rect">
            <a:avLst/>
          </a:prstGeom>
          <a:solidFill>
            <a:srgbClr val="0F172A"/>
          </a:solidFill>
          <a:ln w="12700">
            <a:solidFill>
              <a:srgbClr val="16A34A"/>
            </a:solidFill>
            <a:prstDash val="solid"/>
          </a:ln>
        </p:spPr>
      </p:sp>
      <p:sp>
        <p:nvSpPr>
          <p:cNvPr id="23" name="Text 21"/>
          <p:cNvSpPr/>
          <p:nvPr/>
        </p:nvSpPr>
        <p:spPr>
          <a:xfrm>
            <a:off x="8488375" y="1920240"/>
            <a:ext cx="1280160" cy="822960"/>
          </a:xfrm>
          <a:prstGeom prst="rect">
            <a:avLst/>
          </a:prstGeom>
          <a:noFill/>
          <a:ln/>
        </p:spPr>
        <p:txBody>
          <a:bodyPr wrap="square" lIns="0" tIns="0" rIns="0" bIns="0" rtlCol="0" anchor="ctr"/>
          <a:lstStyle/>
          <a:p>
            <a:pPr indent="0" marL="0">
              <a:buNone/>
            </a:pPr>
            <a:r>
              <a:rPr lang="en-US" sz="4800" b="1" dirty="0">
                <a:solidFill>
                  <a:srgbClr val="0F172A"/>
                </a:solidFill>
                <a:latin typeface="Segoe UI" pitchFamily="34" charset="0"/>
                <a:ea typeface="Segoe UI" pitchFamily="34" charset="-122"/>
                <a:cs typeface="Segoe UI" pitchFamily="34" charset="-120"/>
              </a:rPr>
              <a:t>III</a:t>
            </a:r>
            <a:endParaRPr lang="en-US" sz="4800" dirty="0"/>
          </a:p>
        </p:txBody>
      </p:sp>
      <p:sp>
        <p:nvSpPr>
          <p:cNvPr id="24" name="Text 22"/>
          <p:cNvSpPr/>
          <p:nvPr/>
        </p:nvSpPr>
        <p:spPr>
          <a:xfrm>
            <a:off x="8488375" y="2788920"/>
            <a:ext cx="2880360" cy="411480"/>
          </a:xfrm>
          <a:prstGeom prst="rect">
            <a:avLst/>
          </a:prstGeom>
          <a:noFill/>
          <a:ln/>
        </p:spPr>
        <p:txBody>
          <a:bodyPr wrap="square" lIns="0" tIns="0" rIns="0" bIns="0"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Quản lý dữ liệu ảnh</a:t>
            </a:r>
            <a:endParaRPr lang="en-US" sz="2000" dirty="0"/>
          </a:p>
        </p:txBody>
      </p:sp>
      <p:sp>
        <p:nvSpPr>
          <p:cNvPr id="25" name="Text 23"/>
          <p:cNvSpPr/>
          <p:nvPr/>
        </p:nvSpPr>
        <p:spPr>
          <a:xfrm>
            <a:off x="8488375" y="3200400"/>
            <a:ext cx="2880360" cy="320040"/>
          </a:xfrm>
          <a:prstGeom prst="rect">
            <a:avLst/>
          </a:prstGeom>
          <a:noFill/>
          <a:ln/>
        </p:spPr>
        <p:txBody>
          <a:bodyPr wrap="square" lIns="0" tIns="0" rIns="0" bIns="0" rtlCol="0" anchor="ctr"/>
          <a:lstStyle/>
          <a:p>
            <a:pPr indent="0" marL="0">
              <a:buNone/>
            </a:pPr>
            <a:r>
              <a:rPr lang="en-US" sz="1300" dirty="0">
                <a:solidFill>
                  <a:srgbClr val="64748B"/>
                </a:solidFill>
                <a:latin typeface="Segoe UI" pitchFamily="34" charset="0"/>
                <a:ea typeface="Segoe UI" pitchFamily="34" charset="-122"/>
                <a:cs typeface="Segoe UI" pitchFamily="34" charset="-120"/>
              </a:rPr>
              <a:t>Vision Image Tool</a:t>
            </a:r>
            <a:endParaRPr lang="en-US" sz="1300" dirty="0"/>
          </a:p>
        </p:txBody>
      </p:sp>
      <p:sp>
        <p:nvSpPr>
          <p:cNvPr id="26" name="Shape 24"/>
          <p:cNvSpPr/>
          <p:nvPr/>
        </p:nvSpPr>
        <p:spPr>
          <a:xfrm>
            <a:off x="8488375" y="3657600"/>
            <a:ext cx="2880360" cy="0"/>
          </a:xfrm>
          <a:prstGeom prst="line">
            <a:avLst/>
          </a:prstGeom>
          <a:noFill/>
          <a:ln w="12700">
            <a:solidFill>
              <a:srgbClr val="E2E8F0"/>
            </a:solidFill>
            <a:prstDash val="solid"/>
          </a:ln>
        </p:spPr>
      </p:sp>
      <p:sp>
        <p:nvSpPr>
          <p:cNvPr id="27" name="Text 25"/>
          <p:cNvSpPr/>
          <p:nvPr/>
        </p:nvSpPr>
        <p:spPr>
          <a:xfrm>
            <a:off x="8488375" y="3840480"/>
            <a:ext cx="2926080" cy="210312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Chuẩn bị dữ liệu</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Nhập Schema</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Xuất dữ liệu Excel / JSON</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Nhập lên Q One Edu</a:t>
            </a:r>
            <a:endParaRPr lang="en-US" sz="15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 · CHỌN CAMERA, LENS</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Vision Advisor tính toán camera và lens phù hợp</a:t>
            </a:r>
            <a:endParaRPr lang="en-US" sz="2600" dirty="0"/>
          </a:p>
        </p:txBody>
      </p:sp>
      <p:sp>
        <p:nvSpPr>
          <p:cNvPr id="5" name="Text 3"/>
          <p:cNvSpPr/>
          <p:nvPr/>
        </p:nvSpPr>
        <p:spPr>
          <a:xfrm>
            <a:off x="548640" y="1463040"/>
            <a:ext cx="411480" cy="411480"/>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6" name="Text 4"/>
          <p:cNvSpPr/>
          <p:nvPr/>
        </p:nvSpPr>
        <p:spPr>
          <a:xfrm>
            <a:off x="1097280" y="1417320"/>
            <a:ext cx="4815688" cy="320040"/>
          </a:xfrm>
          <a:prstGeom prst="rect">
            <a:avLst/>
          </a:prstGeom>
          <a:noFill/>
          <a:ln/>
        </p:spPr>
        <p:txBody>
          <a:bodyPr wrap="square" lIns="0" tIns="0" rIns="0" bIns="0" rtlCol="0" anchor="ctr"/>
          <a:lstStyle/>
          <a:p>
            <a:pPr indent="0" marL="0">
              <a:buNone/>
            </a:pPr>
            <a:r>
              <a:rPr lang="en-US" sz="1800" b="1" dirty="0">
                <a:solidFill>
                  <a:srgbClr val="0F172A"/>
                </a:solidFill>
                <a:latin typeface="Segoe UI" pitchFamily="34" charset="0"/>
                <a:ea typeface="Segoe UI" pitchFamily="34" charset="-122"/>
                <a:cs typeface="Segoe UI" pitchFamily="34" charset="-120"/>
              </a:rPr>
              <a:t>Chọn Vision Advisor</a:t>
            </a:r>
            <a:endParaRPr lang="en-US" sz="1800" dirty="0"/>
          </a:p>
        </p:txBody>
      </p:sp>
      <p:sp>
        <p:nvSpPr>
          <p:cNvPr id="7" name="Text 5"/>
          <p:cNvSpPr/>
          <p:nvPr/>
        </p:nvSpPr>
        <p:spPr>
          <a:xfrm>
            <a:off x="1097280" y="1737360"/>
            <a:ext cx="4815688" cy="274320"/>
          </a:xfrm>
          <a:prstGeom prst="rect">
            <a:avLst/>
          </a:prstGeom>
          <a:noFill/>
          <a:ln/>
        </p:spPr>
        <p:txBody>
          <a:bodyPr wrap="square" lIns="0" tIns="0" rIns="0" bIns="0" rtlCol="0" anchor="ctr"/>
          <a:lstStyle/>
          <a:p>
            <a:pPr indent="0" marL="0">
              <a:buNone/>
            </a:pPr>
            <a:r>
              <a:rPr lang="en-US" sz="1300" dirty="0">
                <a:solidFill>
                  <a:srgbClr val="64748B"/>
                </a:solidFill>
                <a:latin typeface="Segoe UI" pitchFamily="34" charset="0"/>
                <a:ea typeface="Segoe UI" pitchFamily="34" charset="-122"/>
                <a:cs typeface="Segoe UI" pitchFamily="34" charset="-120"/>
              </a:rPr>
              <a:t>Mở mục Vision Advisor trong menu bên trái</a:t>
            </a:r>
            <a:endParaRPr lang="en-US" sz="1300" dirty="0"/>
          </a:p>
        </p:txBody>
      </p:sp>
      <p:sp>
        <p:nvSpPr>
          <p:cNvPr id="8" name="Shape 6"/>
          <p:cNvSpPr/>
          <p:nvPr/>
        </p:nvSpPr>
        <p:spPr>
          <a:xfrm>
            <a:off x="521208" y="2167128"/>
            <a:ext cx="5419192" cy="2658991"/>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9" name="Image 0" descr="Hình minh họa 2">    </p:cNvPr>
          <p:cNvPicPr>
            <a:picLocks noChangeAspect="1"/>
          </p:cNvPicPr>
          <p:nvPr/>
        </p:nvPicPr>
        <p:blipFill>
          <a:blip r:embed="rId1"/>
          <a:stretch>
            <a:fillRect/>
          </a:stretch>
        </p:blipFill>
        <p:spPr>
          <a:xfrm>
            <a:off x="548640" y="2194560"/>
            <a:ext cx="5364328" cy="2604127"/>
          </a:xfrm>
          <a:prstGeom prst="rect">
            <a:avLst/>
          </a:prstGeom>
        </p:spPr>
      </p:pic>
      <p:sp>
        <p:nvSpPr>
          <p:cNvPr id="10" name="Text 7"/>
          <p:cNvSpPr/>
          <p:nvPr/>
        </p:nvSpPr>
        <p:spPr>
          <a:xfrm>
            <a:off x="6278728" y="1463040"/>
            <a:ext cx="411480" cy="411480"/>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1" name="Text 8"/>
          <p:cNvSpPr/>
          <p:nvPr/>
        </p:nvSpPr>
        <p:spPr>
          <a:xfrm>
            <a:off x="6827368" y="1417320"/>
            <a:ext cx="4815688" cy="320040"/>
          </a:xfrm>
          <a:prstGeom prst="rect">
            <a:avLst/>
          </a:prstGeom>
          <a:noFill/>
          <a:ln/>
        </p:spPr>
        <p:txBody>
          <a:bodyPr wrap="square" lIns="0" tIns="0" rIns="0" bIns="0" rtlCol="0" anchor="ctr"/>
          <a:lstStyle/>
          <a:p>
            <a:pPr indent="0" marL="0">
              <a:buNone/>
            </a:pPr>
            <a:r>
              <a:rPr lang="en-US" sz="1800" b="1" dirty="0">
                <a:solidFill>
                  <a:srgbClr val="0F172A"/>
                </a:solidFill>
                <a:latin typeface="Segoe UI" pitchFamily="34" charset="0"/>
                <a:ea typeface="Segoe UI" pitchFamily="34" charset="-122"/>
                <a:cs typeface="Segoe UI" pitchFamily="34" charset="-120"/>
              </a:rPr>
              <a:t>Điền các thông tin cần thiết</a:t>
            </a:r>
            <a:endParaRPr lang="en-US" sz="1800" dirty="0"/>
          </a:p>
        </p:txBody>
      </p:sp>
      <p:sp>
        <p:nvSpPr>
          <p:cNvPr id="12" name="Text 9"/>
          <p:cNvSpPr/>
          <p:nvPr/>
        </p:nvSpPr>
        <p:spPr>
          <a:xfrm>
            <a:off x="6827368" y="1737360"/>
            <a:ext cx="4815688" cy="274320"/>
          </a:xfrm>
          <a:prstGeom prst="rect">
            <a:avLst/>
          </a:prstGeom>
          <a:noFill/>
          <a:ln/>
        </p:spPr>
        <p:txBody>
          <a:bodyPr wrap="square" lIns="0" tIns="0" rIns="0" bIns="0" rtlCol="0" anchor="ctr"/>
          <a:lstStyle/>
          <a:p>
            <a:pPr indent="0" marL="0">
              <a:buNone/>
            </a:pPr>
            <a:r>
              <a:rPr lang="en-US" sz="1300" dirty="0">
                <a:solidFill>
                  <a:srgbClr val="64748B"/>
                </a:solidFill>
                <a:latin typeface="Segoe UI" pitchFamily="34" charset="0"/>
                <a:ea typeface="Segoe UI" pitchFamily="34" charset="-122"/>
                <a:cs typeface="Segoe UI" pitchFamily="34" charset="-120"/>
              </a:rPr>
              <a:t>Phần mềm tính toán camera và lens phù hợp</a:t>
            </a:r>
            <a:endParaRPr lang="en-US" sz="1300" dirty="0"/>
          </a:p>
        </p:txBody>
      </p:sp>
      <p:sp>
        <p:nvSpPr>
          <p:cNvPr id="13" name="Shape 10"/>
          <p:cNvSpPr/>
          <p:nvPr/>
        </p:nvSpPr>
        <p:spPr>
          <a:xfrm>
            <a:off x="6251296" y="2167128"/>
            <a:ext cx="5419192" cy="2621636"/>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4" name="Image 1" descr="Hình minh họa 3">    </p:cNvPr>
          <p:cNvPicPr>
            <a:picLocks noChangeAspect="1"/>
          </p:cNvPicPr>
          <p:nvPr/>
        </p:nvPicPr>
        <p:blipFill>
          <a:blip r:embed="rId2"/>
          <a:stretch>
            <a:fillRect/>
          </a:stretch>
        </p:blipFill>
        <p:spPr>
          <a:xfrm>
            <a:off x="6278728" y="2194560"/>
            <a:ext cx="5364328" cy="2566772"/>
          </a:xfrm>
          <a:prstGeom prst="rect">
            <a:avLst/>
          </a:prstGeom>
        </p:spPr>
      </p:pic>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Tạo dự án mới và điền thông tin dự án</a:t>
            </a:r>
            <a:endParaRPr lang="en-US" sz="2600" dirty="0"/>
          </a:p>
        </p:txBody>
      </p:sp>
      <p:sp>
        <p:nvSpPr>
          <p:cNvPr id="5" name="Shape 3"/>
          <p:cNvSpPr/>
          <p:nvPr/>
        </p:nvSpPr>
        <p:spPr>
          <a:xfrm>
            <a:off x="521208" y="1435608"/>
            <a:ext cx="6729984" cy="3234495"/>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6" name="Image 0" descr="Hình minh họa 4">    </p:cNvPr>
          <p:cNvPicPr>
            <a:picLocks noChangeAspect="1"/>
          </p:cNvPicPr>
          <p:nvPr/>
        </p:nvPicPr>
        <p:blipFill>
          <a:blip r:embed="rId1"/>
          <a:stretch>
            <a:fillRect/>
          </a:stretch>
        </p:blipFill>
        <p:spPr>
          <a:xfrm>
            <a:off x="548640" y="1463040"/>
            <a:ext cx="6675120" cy="3179631"/>
          </a:xfrm>
          <a:prstGeom prst="rect">
            <a:avLst/>
          </a:prstGeom>
        </p:spPr>
      </p:pic>
      <p:sp>
        <p:nvSpPr>
          <p:cNvPr id="7" name="Text 4"/>
          <p:cNvSpPr/>
          <p:nvPr/>
        </p:nvSpPr>
        <p:spPr>
          <a:xfrm>
            <a:off x="548640" y="4715823"/>
            <a:ext cx="667512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Hồ sơ thiết kế điều kiện test → Dự án mới</a:t>
            </a:r>
            <a:endParaRPr lang="en-US" sz="1100" dirty="0"/>
          </a:p>
        </p:txBody>
      </p:sp>
      <p:sp>
        <p:nvSpPr>
          <p:cNvPr id="8" name="Shape 5"/>
          <p:cNvSpPr/>
          <p:nvPr/>
        </p:nvSpPr>
        <p:spPr>
          <a:xfrm>
            <a:off x="7516368" y="1435608"/>
            <a:ext cx="4154119" cy="3612346"/>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9" name="Image 1" descr="Hình minh họa 5">    </p:cNvPr>
          <p:cNvPicPr>
            <a:picLocks noChangeAspect="1"/>
          </p:cNvPicPr>
          <p:nvPr/>
        </p:nvPicPr>
        <p:blipFill>
          <a:blip r:embed="rId2"/>
          <a:stretch>
            <a:fillRect/>
          </a:stretch>
        </p:blipFill>
        <p:spPr>
          <a:xfrm>
            <a:off x="7543800" y="1463040"/>
            <a:ext cx="4099255" cy="3557482"/>
          </a:xfrm>
          <a:prstGeom prst="rect">
            <a:avLst/>
          </a:prstGeom>
        </p:spPr>
      </p:pic>
      <p:sp>
        <p:nvSpPr>
          <p:cNvPr id="10" name="Text 6"/>
          <p:cNvSpPr/>
          <p:nvPr/>
        </p:nvSpPr>
        <p:spPr>
          <a:xfrm>
            <a:off x="7543800" y="5093674"/>
            <a:ext cx="4099255"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Biểu mẫu Dự án mới</a:t>
            </a:r>
            <a:endParaRPr lang="en-US" sz="1100" dirty="0"/>
          </a:p>
        </p:txBody>
      </p:sp>
      <p:sp>
        <p:nvSpPr>
          <p:cNvPr id="11" name="Shape 7"/>
          <p:cNvSpPr/>
          <p:nvPr/>
        </p:nvSpPr>
        <p:spPr>
          <a:xfrm>
            <a:off x="548640" y="5486400"/>
            <a:ext cx="6675120" cy="685800"/>
          </a:xfrm>
          <a:prstGeom prst="rect">
            <a:avLst/>
          </a:prstGeom>
          <a:solidFill>
            <a:srgbClr val="ECFDF3"/>
          </a:solidFill>
          <a:ln w="9525">
            <a:solidFill>
              <a:srgbClr val="BBE5C8"/>
            </a:solidFill>
            <a:prstDash val="solid"/>
          </a:ln>
        </p:spPr>
      </p:sp>
      <p:sp>
        <p:nvSpPr>
          <p:cNvPr id="12" name="Shape 8"/>
          <p:cNvSpPr/>
          <p:nvPr/>
        </p:nvSpPr>
        <p:spPr>
          <a:xfrm>
            <a:off x="548640" y="5486400"/>
            <a:ext cx="64008" cy="685800"/>
          </a:xfrm>
          <a:prstGeom prst="rect">
            <a:avLst/>
          </a:prstGeom>
          <a:solidFill>
            <a:srgbClr val="16A34A"/>
          </a:solidFill>
          <a:ln w="12700">
            <a:solidFill>
              <a:srgbClr val="16A34A"/>
            </a:solidFill>
            <a:prstDash val="solid"/>
          </a:ln>
        </p:spPr>
      </p:sp>
      <p:sp>
        <p:nvSpPr>
          <p:cNvPr id="13" name="Text 9"/>
          <p:cNvSpPr/>
          <p:nvPr/>
        </p:nvSpPr>
        <p:spPr>
          <a:xfrm>
            <a:off x="749808" y="5541264"/>
            <a:ext cx="6382512" cy="576072"/>
          </a:xfrm>
          <a:prstGeom prst="rect">
            <a:avLst/>
          </a:prstGeom>
          <a:noFill/>
          <a:ln/>
        </p:spPr>
        <p:txBody>
          <a:bodyPr wrap="square" lIns="0" tIns="0" rIns="0" bIns="0" rtlCol="0" anchor="ctr"/>
          <a:lstStyle/>
          <a:p>
            <a:pPr indent="0" marL="0">
              <a:spcAft>
                <a:spcPts val="200"/>
              </a:spcAft>
              <a:buNone/>
            </a:pPr>
            <a:r>
              <a:rPr lang="en-US" sz="1100" b="1" spc="100" kern="0" dirty="0">
                <a:solidFill>
                  <a:srgbClr val="16A34A"/>
                </a:solidFill>
                <a:latin typeface="Segoe UI" pitchFamily="34" charset="0"/>
                <a:ea typeface="Segoe UI" pitchFamily="34" charset="-122"/>
                <a:cs typeface="Segoe UI" pitchFamily="34" charset="-120"/>
              </a:rPr>
              <a:t>LƯU Ý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Nhập đủ các trường hiển thị trên biểu mẫu.</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Mở dự án: hồ sơ gồm 11 nội dung cần hoàn thiện</a:t>
            </a:r>
            <a:endParaRPr lang="en-US" sz="2600" dirty="0"/>
          </a:p>
        </p:txBody>
      </p:sp>
      <p:sp>
        <p:nvSpPr>
          <p:cNvPr id="5" name="Shape 3"/>
          <p:cNvSpPr/>
          <p:nvPr/>
        </p:nvSpPr>
        <p:spPr>
          <a:xfrm>
            <a:off x="521208" y="1435608"/>
            <a:ext cx="4992624" cy="2577807"/>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6" name="Image 0" descr="Hình minh họa 6">    </p:cNvPr>
          <p:cNvPicPr>
            <a:picLocks noChangeAspect="1"/>
          </p:cNvPicPr>
          <p:nvPr/>
        </p:nvPicPr>
        <p:blipFill>
          <a:blip r:embed="rId1"/>
          <a:stretch>
            <a:fillRect/>
          </a:stretch>
        </p:blipFill>
        <p:spPr>
          <a:xfrm>
            <a:off x="548640" y="1463040"/>
            <a:ext cx="4937760" cy="2522943"/>
          </a:xfrm>
          <a:prstGeom prst="rect">
            <a:avLst/>
          </a:prstGeom>
        </p:spPr>
      </p:pic>
      <p:sp>
        <p:nvSpPr>
          <p:cNvPr id="7" name="Text 4"/>
          <p:cNvSpPr/>
          <p:nvPr/>
        </p:nvSpPr>
        <p:spPr>
          <a:xfrm>
            <a:off x="548640" y="4059135"/>
            <a:ext cx="493776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Danh sách dự án đã tạo</a:t>
            </a:r>
            <a:endParaRPr lang="en-US" sz="1100" dirty="0"/>
          </a:p>
        </p:txBody>
      </p:sp>
      <p:sp>
        <p:nvSpPr>
          <p:cNvPr id="8" name="Shape 5"/>
          <p:cNvSpPr/>
          <p:nvPr/>
        </p:nvSpPr>
        <p:spPr>
          <a:xfrm>
            <a:off x="5852160" y="1463040"/>
            <a:ext cx="2804008" cy="566928"/>
          </a:xfrm>
          <a:prstGeom prst="roundRect">
            <a:avLst>
              <a:gd name="adj" fmla="val 9677"/>
            </a:avLst>
          </a:prstGeom>
          <a:solidFill>
            <a:srgbClr val="F1F5F9"/>
          </a:solidFill>
          <a:ln w="12700">
            <a:solidFill>
              <a:srgbClr val="F1F5F9"/>
            </a:solidFill>
            <a:prstDash val="solid"/>
          </a:ln>
        </p:spPr>
      </p:sp>
      <p:sp>
        <p:nvSpPr>
          <p:cNvPr id="9" name="Text 6"/>
          <p:cNvSpPr/>
          <p:nvPr/>
        </p:nvSpPr>
        <p:spPr>
          <a:xfrm>
            <a:off x="5961888" y="1463040"/>
            <a:ext cx="457200" cy="566928"/>
          </a:xfrm>
          <a:prstGeom prst="rect">
            <a:avLst/>
          </a:prstGeom>
          <a:noFill/>
          <a:ln/>
        </p:spPr>
        <p:txBody>
          <a:bodyPr wrap="square" lIns="0" tIns="0" rIns="0" bIns="0" rtlCol="0" anchor="ctr"/>
          <a:lstStyle/>
          <a:p>
            <a:pPr indent="0" marL="0">
              <a:buNone/>
            </a:pPr>
            <a:r>
              <a:rPr lang="en-US" sz="2000" b="1" dirty="0">
                <a:solidFill>
                  <a:srgbClr val="64748B"/>
                </a:solidFill>
                <a:latin typeface="Segoe UI" pitchFamily="34" charset="0"/>
                <a:ea typeface="Segoe UI" pitchFamily="34" charset="-122"/>
                <a:cs typeface="Segoe UI" pitchFamily="34" charset="-120"/>
              </a:rPr>
              <a:t>1</a:t>
            </a:r>
            <a:endParaRPr lang="en-US" sz="2000" dirty="0"/>
          </a:p>
        </p:txBody>
      </p:sp>
      <p:sp>
        <p:nvSpPr>
          <p:cNvPr id="10" name="Text 7"/>
          <p:cNvSpPr/>
          <p:nvPr/>
        </p:nvSpPr>
        <p:spPr>
          <a:xfrm>
            <a:off x="6419088" y="1463040"/>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Tài liệu khách hàng cung cấp</a:t>
            </a:r>
            <a:endParaRPr lang="en-US" sz="1400" dirty="0"/>
          </a:p>
        </p:txBody>
      </p:sp>
      <p:sp>
        <p:nvSpPr>
          <p:cNvPr id="11" name="Shape 8"/>
          <p:cNvSpPr/>
          <p:nvPr/>
        </p:nvSpPr>
        <p:spPr>
          <a:xfrm>
            <a:off x="5852160" y="2121408"/>
            <a:ext cx="2804008" cy="566928"/>
          </a:xfrm>
          <a:prstGeom prst="roundRect">
            <a:avLst>
              <a:gd name="adj" fmla="val 9677"/>
            </a:avLst>
          </a:prstGeom>
          <a:solidFill>
            <a:srgbClr val="F1F5F9"/>
          </a:solidFill>
          <a:ln w="12700">
            <a:solidFill>
              <a:srgbClr val="F1F5F9"/>
            </a:solidFill>
            <a:prstDash val="solid"/>
          </a:ln>
        </p:spPr>
      </p:sp>
      <p:sp>
        <p:nvSpPr>
          <p:cNvPr id="12" name="Text 9"/>
          <p:cNvSpPr/>
          <p:nvPr/>
        </p:nvSpPr>
        <p:spPr>
          <a:xfrm>
            <a:off x="5961888" y="2121408"/>
            <a:ext cx="457200" cy="566928"/>
          </a:xfrm>
          <a:prstGeom prst="rect">
            <a:avLst/>
          </a:prstGeom>
          <a:noFill/>
          <a:ln/>
        </p:spPr>
        <p:txBody>
          <a:bodyPr wrap="square" lIns="0" tIns="0" rIns="0" bIns="0" rtlCol="0" anchor="ctr"/>
          <a:lstStyle/>
          <a:p>
            <a:pPr indent="0" marL="0">
              <a:buNone/>
            </a:pPr>
            <a:r>
              <a:rPr lang="en-US" sz="2000" b="1" dirty="0">
                <a:solidFill>
                  <a:srgbClr val="64748B"/>
                </a:solidFill>
                <a:latin typeface="Segoe UI" pitchFamily="34" charset="0"/>
                <a:ea typeface="Segoe UI" pitchFamily="34" charset="-122"/>
                <a:cs typeface="Segoe UI" pitchFamily="34" charset="-120"/>
              </a:rPr>
              <a:t>2</a:t>
            </a:r>
            <a:endParaRPr lang="en-US" sz="2000" dirty="0"/>
          </a:p>
        </p:txBody>
      </p:sp>
      <p:sp>
        <p:nvSpPr>
          <p:cNvPr id="13" name="Text 10"/>
          <p:cNvSpPr/>
          <p:nvPr/>
        </p:nvSpPr>
        <p:spPr>
          <a:xfrm>
            <a:off x="6419088" y="2121408"/>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Báo cáo khảo sát</a:t>
            </a:r>
            <a:endParaRPr lang="en-US" sz="1400" dirty="0"/>
          </a:p>
        </p:txBody>
      </p:sp>
      <p:sp>
        <p:nvSpPr>
          <p:cNvPr id="14" name="Shape 11"/>
          <p:cNvSpPr/>
          <p:nvPr/>
        </p:nvSpPr>
        <p:spPr>
          <a:xfrm>
            <a:off x="5852160" y="2779776"/>
            <a:ext cx="2804008" cy="566928"/>
          </a:xfrm>
          <a:prstGeom prst="roundRect">
            <a:avLst>
              <a:gd name="adj" fmla="val 9677"/>
            </a:avLst>
          </a:prstGeom>
          <a:solidFill>
            <a:srgbClr val="ECFDF3"/>
          </a:solidFill>
          <a:ln w="12700">
            <a:solidFill>
              <a:srgbClr val="ECFDF3"/>
            </a:solidFill>
            <a:prstDash val="solid"/>
          </a:ln>
        </p:spPr>
      </p:sp>
      <p:sp>
        <p:nvSpPr>
          <p:cNvPr id="15" name="Text 12"/>
          <p:cNvSpPr/>
          <p:nvPr/>
        </p:nvSpPr>
        <p:spPr>
          <a:xfrm>
            <a:off x="5961888" y="2779776"/>
            <a:ext cx="457200" cy="566928"/>
          </a:xfrm>
          <a:prstGeom prst="rect">
            <a:avLst/>
          </a:prstGeom>
          <a:noFill/>
          <a:ln/>
        </p:spPr>
        <p:txBody>
          <a:bodyPr wrap="square" lIns="0" tIns="0" rIns="0" bIns="0" rtlCol="0" anchor="ctr"/>
          <a:lstStyle/>
          <a:p>
            <a:pPr indent="0" marL="0">
              <a:buNone/>
            </a:pPr>
            <a:r>
              <a:rPr lang="en-US" sz="2000" b="1" dirty="0">
                <a:solidFill>
                  <a:srgbClr val="16A34A"/>
                </a:solidFill>
                <a:latin typeface="Segoe UI" pitchFamily="34" charset="0"/>
                <a:ea typeface="Segoe UI" pitchFamily="34" charset="-122"/>
                <a:cs typeface="Segoe UI" pitchFamily="34" charset="-120"/>
              </a:rPr>
              <a:t>3</a:t>
            </a:r>
            <a:endParaRPr lang="en-US" sz="2000" dirty="0"/>
          </a:p>
        </p:txBody>
      </p:sp>
      <p:sp>
        <p:nvSpPr>
          <p:cNvPr id="16" name="Text 13"/>
          <p:cNvSpPr/>
          <p:nvPr/>
        </p:nvSpPr>
        <p:spPr>
          <a:xfrm>
            <a:off x="6419088" y="2779776"/>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Chọn điều kiện test</a:t>
            </a:r>
            <a:endParaRPr lang="en-US" sz="1400" dirty="0"/>
          </a:p>
        </p:txBody>
      </p:sp>
      <p:sp>
        <p:nvSpPr>
          <p:cNvPr id="17" name="Shape 14"/>
          <p:cNvSpPr/>
          <p:nvPr/>
        </p:nvSpPr>
        <p:spPr>
          <a:xfrm>
            <a:off x="5852160" y="3438144"/>
            <a:ext cx="2804008" cy="566928"/>
          </a:xfrm>
          <a:prstGeom prst="roundRect">
            <a:avLst>
              <a:gd name="adj" fmla="val 9677"/>
            </a:avLst>
          </a:prstGeom>
          <a:solidFill>
            <a:srgbClr val="E0E7FF"/>
          </a:solidFill>
          <a:ln w="12700">
            <a:solidFill>
              <a:srgbClr val="E0E7FF"/>
            </a:solidFill>
            <a:prstDash val="solid"/>
          </a:ln>
        </p:spPr>
      </p:sp>
      <p:sp>
        <p:nvSpPr>
          <p:cNvPr id="18" name="Text 15"/>
          <p:cNvSpPr/>
          <p:nvPr/>
        </p:nvSpPr>
        <p:spPr>
          <a:xfrm>
            <a:off x="5961888" y="3438144"/>
            <a:ext cx="457200" cy="566928"/>
          </a:xfrm>
          <a:prstGeom prst="rect">
            <a:avLst/>
          </a:prstGeom>
          <a:noFill/>
          <a:ln/>
        </p:spPr>
        <p:txBody>
          <a:bodyPr wrap="square" lIns="0" tIns="0" rIns="0" bIns="0" rtlCol="0" anchor="ctr"/>
          <a:lstStyle/>
          <a:p>
            <a:pPr indent="0" marL="0">
              <a:buNone/>
            </a:pPr>
            <a:r>
              <a:rPr lang="en-US" sz="2000" b="1" dirty="0">
                <a:solidFill>
                  <a:srgbClr val="3730A3"/>
                </a:solidFill>
                <a:latin typeface="Segoe UI" pitchFamily="34" charset="0"/>
                <a:ea typeface="Segoe UI" pitchFamily="34" charset="-122"/>
                <a:cs typeface="Segoe UI" pitchFamily="34" charset="-120"/>
              </a:rPr>
              <a:t>4</a:t>
            </a:r>
            <a:endParaRPr lang="en-US" sz="2000" dirty="0"/>
          </a:p>
        </p:txBody>
      </p:sp>
      <p:sp>
        <p:nvSpPr>
          <p:cNvPr id="19" name="Text 16"/>
          <p:cNvSpPr/>
          <p:nvPr/>
        </p:nvSpPr>
        <p:spPr>
          <a:xfrm>
            <a:off x="6419088" y="3438144"/>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Mô phỏng bố trí</a:t>
            </a:r>
            <a:endParaRPr lang="en-US" sz="1400" dirty="0"/>
          </a:p>
        </p:txBody>
      </p:sp>
      <p:sp>
        <p:nvSpPr>
          <p:cNvPr id="20" name="Shape 17"/>
          <p:cNvSpPr/>
          <p:nvPr/>
        </p:nvSpPr>
        <p:spPr>
          <a:xfrm>
            <a:off x="5852160" y="4096512"/>
            <a:ext cx="2804008" cy="566928"/>
          </a:xfrm>
          <a:prstGeom prst="roundRect">
            <a:avLst>
              <a:gd name="adj" fmla="val 9677"/>
            </a:avLst>
          </a:prstGeom>
          <a:solidFill>
            <a:srgbClr val="ECFDF3"/>
          </a:solidFill>
          <a:ln w="12700">
            <a:solidFill>
              <a:srgbClr val="ECFDF3"/>
            </a:solidFill>
            <a:prstDash val="solid"/>
          </a:ln>
        </p:spPr>
      </p:sp>
      <p:sp>
        <p:nvSpPr>
          <p:cNvPr id="21" name="Text 18"/>
          <p:cNvSpPr/>
          <p:nvPr/>
        </p:nvSpPr>
        <p:spPr>
          <a:xfrm>
            <a:off x="5961888" y="4096512"/>
            <a:ext cx="457200" cy="566928"/>
          </a:xfrm>
          <a:prstGeom prst="rect">
            <a:avLst/>
          </a:prstGeom>
          <a:noFill/>
          <a:ln/>
        </p:spPr>
        <p:txBody>
          <a:bodyPr wrap="square" lIns="0" tIns="0" rIns="0" bIns="0" rtlCol="0" anchor="ctr"/>
          <a:lstStyle/>
          <a:p>
            <a:pPr indent="0" marL="0">
              <a:buNone/>
            </a:pPr>
            <a:r>
              <a:rPr lang="en-US" sz="2000" b="1" dirty="0">
                <a:solidFill>
                  <a:srgbClr val="16A34A"/>
                </a:solidFill>
                <a:latin typeface="Segoe UI" pitchFamily="34" charset="0"/>
                <a:ea typeface="Segoe UI" pitchFamily="34" charset="-122"/>
                <a:cs typeface="Segoe UI" pitchFamily="34" charset="-120"/>
              </a:rPr>
              <a:t>5</a:t>
            </a:r>
            <a:endParaRPr lang="en-US" sz="2000" dirty="0"/>
          </a:p>
        </p:txBody>
      </p:sp>
      <p:sp>
        <p:nvSpPr>
          <p:cNvPr id="22" name="Text 19"/>
          <p:cNvSpPr/>
          <p:nvPr/>
        </p:nvSpPr>
        <p:spPr>
          <a:xfrm>
            <a:off x="6419088" y="4096512"/>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Vị trí kiểm tra</a:t>
            </a:r>
            <a:endParaRPr lang="en-US" sz="1400" dirty="0"/>
          </a:p>
        </p:txBody>
      </p:sp>
      <p:sp>
        <p:nvSpPr>
          <p:cNvPr id="23" name="Shape 20"/>
          <p:cNvSpPr/>
          <p:nvPr/>
        </p:nvSpPr>
        <p:spPr>
          <a:xfrm>
            <a:off x="5852160" y="4754880"/>
            <a:ext cx="2804008" cy="566928"/>
          </a:xfrm>
          <a:prstGeom prst="roundRect">
            <a:avLst>
              <a:gd name="adj" fmla="val 9677"/>
            </a:avLst>
          </a:prstGeom>
          <a:solidFill>
            <a:srgbClr val="ECFDF3"/>
          </a:solidFill>
          <a:ln w="12700">
            <a:solidFill>
              <a:srgbClr val="ECFDF3"/>
            </a:solidFill>
            <a:prstDash val="solid"/>
          </a:ln>
        </p:spPr>
      </p:sp>
      <p:sp>
        <p:nvSpPr>
          <p:cNvPr id="24" name="Text 21"/>
          <p:cNvSpPr/>
          <p:nvPr/>
        </p:nvSpPr>
        <p:spPr>
          <a:xfrm>
            <a:off x="5961888" y="4754880"/>
            <a:ext cx="457200" cy="566928"/>
          </a:xfrm>
          <a:prstGeom prst="rect">
            <a:avLst/>
          </a:prstGeom>
          <a:noFill/>
          <a:ln/>
        </p:spPr>
        <p:txBody>
          <a:bodyPr wrap="square" lIns="0" tIns="0" rIns="0" bIns="0" rtlCol="0" anchor="ctr"/>
          <a:lstStyle/>
          <a:p>
            <a:pPr indent="0" marL="0">
              <a:buNone/>
            </a:pPr>
            <a:r>
              <a:rPr lang="en-US" sz="2000" b="1" dirty="0">
                <a:solidFill>
                  <a:srgbClr val="16A34A"/>
                </a:solidFill>
                <a:latin typeface="Segoe UI" pitchFamily="34" charset="0"/>
                <a:ea typeface="Segoe UI" pitchFamily="34" charset="-122"/>
                <a:cs typeface="Segoe UI" pitchFamily="34" charset="-120"/>
              </a:rPr>
              <a:t>6</a:t>
            </a:r>
            <a:endParaRPr lang="en-US" sz="2000" dirty="0"/>
          </a:p>
        </p:txBody>
      </p:sp>
      <p:sp>
        <p:nvSpPr>
          <p:cNvPr id="25" name="Text 22"/>
          <p:cNvSpPr/>
          <p:nvPr/>
        </p:nvSpPr>
        <p:spPr>
          <a:xfrm>
            <a:off x="6419088" y="4754880"/>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Bom list</a:t>
            </a:r>
            <a:endParaRPr lang="en-US" sz="1400" dirty="0"/>
          </a:p>
        </p:txBody>
      </p:sp>
      <p:sp>
        <p:nvSpPr>
          <p:cNvPr id="26" name="Shape 23"/>
          <p:cNvSpPr/>
          <p:nvPr/>
        </p:nvSpPr>
        <p:spPr>
          <a:xfrm>
            <a:off x="8839048" y="1463040"/>
            <a:ext cx="2804008" cy="566928"/>
          </a:xfrm>
          <a:prstGeom prst="roundRect">
            <a:avLst>
              <a:gd name="adj" fmla="val 9677"/>
            </a:avLst>
          </a:prstGeom>
          <a:solidFill>
            <a:srgbClr val="ECFDF3"/>
          </a:solidFill>
          <a:ln w="12700">
            <a:solidFill>
              <a:srgbClr val="ECFDF3"/>
            </a:solidFill>
            <a:prstDash val="solid"/>
          </a:ln>
        </p:spPr>
      </p:sp>
      <p:sp>
        <p:nvSpPr>
          <p:cNvPr id="27" name="Text 24"/>
          <p:cNvSpPr/>
          <p:nvPr/>
        </p:nvSpPr>
        <p:spPr>
          <a:xfrm>
            <a:off x="8948776" y="1463040"/>
            <a:ext cx="457200" cy="566928"/>
          </a:xfrm>
          <a:prstGeom prst="rect">
            <a:avLst/>
          </a:prstGeom>
          <a:noFill/>
          <a:ln/>
        </p:spPr>
        <p:txBody>
          <a:bodyPr wrap="square" lIns="0" tIns="0" rIns="0" bIns="0" rtlCol="0" anchor="ctr"/>
          <a:lstStyle/>
          <a:p>
            <a:pPr indent="0" marL="0">
              <a:buNone/>
            </a:pPr>
            <a:r>
              <a:rPr lang="en-US" sz="2000" b="1" dirty="0">
                <a:solidFill>
                  <a:srgbClr val="16A34A"/>
                </a:solidFill>
                <a:latin typeface="Segoe UI" pitchFamily="34" charset="0"/>
                <a:ea typeface="Segoe UI" pitchFamily="34" charset="-122"/>
                <a:cs typeface="Segoe UI" pitchFamily="34" charset="-120"/>
              </a:rPr>
              <a:t>7</a:t>
            </a:r>
            <a:endParaRPr lang="en-US" sz="2000" dirty="0"/>
          </a:p>
        </p:txBody>
      </p:sp>
      <p:sp>
        <p:nvSpPr>
          <p:cNvPr id="28" name="Text 25"/>
          <p:cNvSpPr/>
          <p:nvPr/>
        </p:nvSpPr>
        <p:spPr>
          <a:xfrm>
            <a:off x="9405976" y="1463040"/>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Sơ đồ kết nối hệ thống</a:t>
            </a:r>
            <a:endParaRPr lang="en-US" sz="1400" dirty="0"/>
          </a:p>
        </p:txBody>
      </p:sp>
      <p:sp>
        <p:nvSpPr>
          <p:cNvPr id="29" name="Shape 26"/>
          <p:cNvSpPr/>
          <p:nvPr/>
        </p:nvSpPr>
        <p:spPr>
          <a:xfrm>
            <a:off x="8839048" y="2121408"/>
            <a:ext cx="2804008" cy="566928"/>
          </a:xfrm>
          <a:prstGeom prst="roundRect">
            <a:avLst>
              <a:gd name="adj" fmla="val 9677"/>
            </a:avLst>
          </a:prstGeom>
          <a:solidFill>
            <a:srgbClr val="ECFDF3"/>
          </a:solidFill>
          <a:ln w="12700">
            <a:solidFill>
              <a:srgbClr val="ECFDF3"/>
            </a:solidFill>
            <a:prstDash val="solid"/>
          </a:ln>
        </p:spPr>
      </p:sp>
      <p:sp>
        <p:nvSpPr>
          <p:cNvPr id="30" name="Text 27"/>
          <p:cNvSpPr/>
          <p:nvPr/>
        </p:nvSpPr>
        <p:spPr>
          <a:xfrm>
            <a:off x="8948776" y="2121408"/>
            <a:ext cx="457200" cy="566928"/>
          </a:xfrm>
          <a:prstGeom prst="rect">
            <a:avLst/>
          </a:prstGeom>
          <a:noFill/>
          <a:ln/>
        </p:spPr>
        <p:txBody>
          <a:bodyPr wrap="square" lIns="0" tIns="0" rIns="0" bIns="0" rtlCol="0" anchor="ctr"/>
          <a:lstStyle/>
          <a:p>
            <a:pPr indent="0" marL="0">
              <a:buNone/>
            </a:pPr>
            <a:r>
              <a:rPr lang="en-US" sz="2000" b="1" dirty="0">
                <a:solidFill>
                  <a:srgbClr val="16A34A"/>
                </a:solidFill>
                <a:latin typeface="Segoe UI" pitchFamily="34" charset="0"/>
                <a:ea typeface="Segoe UI" pitchFamily="34" charset="-122"/>
                <a:cs typeface="Segoe UI" pitchFamily="34" charset="-120"/>
              </a:rPr>
              <a:t>8</a:t>
            </a:r>
            <a:endParaRPr lang="en-US" sz="2000" dirty="0"/>
          </a:p>
        </p:txBody>
      </p:sp>
      <p:sp>
        <p:nvSpPr>
          <p:cNvPr id="31" name="Text 28"/>
          <p:cNvSpPr/>
          <p:nvPr/>
        </p:nvSpPr>
        <p:spPr>
          <a:xfrm>
            <a:off x="9405976" y="2121408"/>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Cycle time</a:t>
            </a:r>
            <a:endParaRPr lang="en-US" sz="1400" dirty="0"/>
          </a:p>
        </p:txBody>
      </p:sp>
      <p:sp>
        <p:nvSpPr>
          <p:cNvPr id="32" name="Shape 29"/>
          <p:cNvSpPr/>
          <p:nvPr/>
        </p:nvSpPr>
        <p:spPr>
          <a:xfrm>
            <a:off x="8839048" y="2779776"/>
            <a:ext cx="2804008" cy="566928"/>
          </a:xfrm>
          <a:prstGeom prst="roundRect">
            <a:avLst>
              <a:gd name="adj" fmla="val 9677"/>
            </a:avLst>
          </a:prstGeom>
          <a:solidFill>
            <a:srgbClr val="ECFDF3"/>
          </a:solidFill>
          <a:ln w="12700">
            <a:solidFill>
              <a:srgbClr val="ECFDF3"/>
            </a:solidFill>
            <a:prstDash val="solid"/>
          </a:ln>
        </p:spPr>
      </p:sp>
      <p:sp>
        <p:nvSpPr>
          <p:cNvPr id="33" name="Text 30"/>
          <p:cNvSpPr/>
          <p:nvPr/>
        </p:nvSpPr>
        <p:spPr>
          <a:xfrm>
            <a:off x="8948776" y="2779776"/>
            <a:ext cx="457200" cy="566928"/>
          </a:xfrm>
          <a:prstGeom prst="rect">
            <a:avLst/>
          </a:prstGeom>
          <a:noFill/>
          <a:ln/>
        </p:spPr>
        <p:txBody>
          <a:bodyPr wrap="square" lIns="0" tIns="0" rIns="0" bIns="0" rtlCol="0" anchor="ctr"/>
          <a:lstStyle/>
          <a:p>
            <a:pPr indent="0" marL="0">
              <a:buNone/>
            </a:pPr>
            <a:r>
              <a:rPr lang="en-US" sz="2000" b="1" dirty="0">
                <a:solidFill>
                  <a:srgbClr val="16A34A"/>
                </a:solidFill>
                <a:latin typeface="Segoe UI" pitchFamily="34" charset="0"/>
                <a:ea typeface="Segoe UI" pitchFamily="34" charset="-122"/>
                <a:cs typeface="Segoe UI" pitchFamily="34" charset="-120"/>
              </a:rPr>
              <a:t>9</a:t>
            </a:r>
            <a:endParaRPr lang="en-US" sz="2000" dirty="0"/>
          </a:p>
        </p:txBody>
      </p:sp>
      <p:sp>
        <p:nvSpPr>
          <p:cNvPr id="34" name="Text 31"/>
          <p:cNvSpPr/>
          <p:nvPr/>
        </p:nvSpPr>
        <p:spPr>
          <a:xfrm>
            <a:off x="9405976" y="2779776"/>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Thông tin / ảnh đánh giá</a:t>
            </a:r>
            <a:endParaRPr lang="en-US" sz="1400" dirty="0"/>
          </a:p>
        </p:txBody>
      </p:sp>
      <p:sp>
        <p:nvSpPr>
          <p:cNvPr id="35" name="Shape 32"/>
          <p:cNvSpPr/>
          <p:nvPr/>
        </p:nvSpPr>
        <p:spPr>
          <a:xfrm>
            <a:off x="8839048" y="3438144"/>
            <a:ext cx="2804008" cy="566928"/>
          </a:xfrm>
          <a:prstGeom prst="roundRect">
            <a:avLst>
              <a:gd name="adj" fmla="val 9677"/>
            </a:avLst>
          </a:prstGeom>
          <a:solidFill>
            <a:srgbClr val="ECFDF3"/>
          </a:solidFill>
          <a:ln w="12700">
            <a:solidFill>
              <a:srgbClr val="ECFDF3"/>
            </a:solidFill>
            <a:prstDash val="solid"/>
          </a:ln>
        </p:spPr>
      </p:sp>
      <p:sp>
        <p:nvSpPr>
          <p:cNvPr id="36" name="Text 33"/>
          <p:cNvSpPr/>
          <p:nvPr/>
        </p:nvSpPr>
        <p:spPr>
          <a:xfrm>
            <a:off x="8948776" y="3438144"/>
            <a:ext cx="457200" cy="566928"/>
          </a:xfrm>
          <a:prstGeom prst="rect">
            <a:avLst/>
          </a:prstGeom>
          <a:noFill/>
          <a:ln/>
        </p:spPr>
        <p:txBody>
          <a:bodyPr wrap="square" lIns="0" tIns="0" rIns="0" bIns="0" rtlCol="0" anchor="ctr"/>
          <a:lstStyle/>
          <a:p>
            <a:pPr indent="0" marL="0">
              <a:buNone/>
            </a:pPr>
            <a:r>
              <a:rPr lang="en-US" sz="2000" b="1" dirty="0">
                <a:solidFill>
                  <a:srgbClr val="16A34A"/>
                </a:solidFill>
                <a:latin typeface="Segoe UI" pitchFamily="34" charset="0"/>
                <a:ea typeface="Segoe UI" pitchFamily="34" charset="-122"/>
                <a:cs typeface="Segoe UI" pitchFamily="34" charset="-120"/>
              </a:rPr>
              <a:t>10</a:t>
            </a:r>
            <a:endParaRPr lang="en-US" sz="2000" dirty="0"/>
          </a:p>
        </p:txBody>
      </p:sp>
      <p:sp>
        <p:nvSpPr>
          <p:cNvPr id="37" name="Text 34"/>
          <p:cNvSpPr/>
          <p:nvPr/>
        </p:nvSpPr>
        <p:spPr>
          <a:xfrm>
            <a:off x="9405976" y="3438144"/>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Đánh giá</a:t>
            </a:r>
            <a:endParaRPr lang="en-US" sz="1400" dirty="0"/>
          </a:p>
        </p:txBody>
      </p:sp>
      <p:sp>
        <p:nvSpPr>
          <p:cNvPr id="38" name="Shape 35"/>
          <p:cNvSpPr/>
          <p:nvPr/>
        </p:nvSpPr>
        <p:spPr>
          <a:xfrm>
            <a:off x="8839048" y="4096512"/>
            <a:ext cx="2804008" cy="566928"/>
          </a:xfrm>
          <a:prstGeom prst="roundRect">
            <a:avLst>
              <a:gd name="adj" fmla="val 9677"/>
            </a:avLst>
          </a:prstGeom>
          <a:solidFill>
            <a:srgbClr val="E0E7FF"/>
          </a:solidFill>
          <a:ln w="12700">
            <a:solidFill>
              <a:srgbClr val="E0E7FF"/>
            </a:solidFill>
            <a:prstDash val="solid"/>
          </a:ln>
        </p:spPr>
      </p:sp>
      <p:sp>
        <p:nvSpPr>
          <p:cNvPr id="39" name="Text 36"/>
          <p:cNvSpPr/>
          <p:nvPr/>
        </p:nvSpPr>
        <p:spPr>
          <a:xfrm>
            <a:off x="8948776" y="4096512"/>
            <a:ext cx="457200" cy="566928"/>
          </a:xfrm>
          <a:prstGeom prst="rect">
            <a:avLst/>
          </a:prstGeom>
          <a:noFill/>
          <a:ln/>
        </p:spPr>
        <p:txBody>
          <a:bodyPr wrap="square" lIns="0" tIns="0" rIns="0" bIns="0" rtlCol="0" anchor="ctr"/>
          <a:lstStyle/>
          <a:p>
            <a:pPr indent="0" marL="0">
              <a:buNone/>
            </a:pPr>
            <a:r>
              <a:rPr lang="en-US" sz="2000" b="1" dirty="0">
                <a:solidFill>
                  <a:srgbClr val="3730A3"/>
                </a:solidFill>
                <a:latin typeface="Segoe UI" pitchFamily="34" charset="0"/>
                <a:ea typeface="Segoe UI" pitchFamily="34" charset="-122"/>
                <a:cs typeface="Segoe UI" pitchFamily="34" charset="-120"/>
              </a:rPr>
              <a:t>11</a:t>
            </a:r>
            <a:endParaRPr lang="en-US" sz="2000" dirty="0"/>
          </a:p>
        </p:txBody>
      </p:sp>
      <p:sp>
        <p:nvSpPr>
          <p:cNvPr id="40" name="Text 37"/>
          <p:cNvSpPr/>
          <p:nvPr/>
        </p:nvSpPr>
        <p:spPr>
          <a:xfrm>
            <a:off x="9405976" y="4096512"/>
            <a:ext cx="2163928" cy="566928"/>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Kết quả đánh giá tự động</a:t>
            </a:r>
            <a:endParaRPr lang="en-US" sz="1400" dirty="0"/>
          </a:p>
        </p:txBody>
      </p:sp>
      <p:sp>
        <p:nvSpPr>
          <p:cNvPr id="41" name="Shape 38"/>
          <p:cNvSpPr/>
          <p:nvPr/>
        </p:nvSpPr>
        <p:spPr>
          <a:xfrm>
            <a:off x="8839048" y="4809744"/>
            <a:ext cx="128016" cy="128016"/>
          </a:xfrm>
          <a:prstGeom prst="rect">
            <a:avLst/>
          </a:prstGeom>
          <a:solidFill>
            <a:srgbClr val="64748B"/>
          </a:solidFill>
          <a:ln w="12700">
            <a:solidFill>
              <a:srgbClr val="FFFFFF"/>
            </a:solidFill>
            <a:prstDash val="solid"/>
          </a:ln>
        </p:spPr>
      </p:sp>
      <p:sp>
        <p:nvSpPr>
          <p:cNvPr id="42" name="Text 39"/>
          <p:cNvSpPr/>
          <p:nvPr/>
        </p:nvSpPr>
        <p:spPr>
          <a:xfrm>
            <a:off x="9040216" y="4764024"/>
            <a:ext cx="2575408" cy="201168"/>
          </a:xfrm>
          <a:prstGeom prst="rect">
            <a:avLst/>
          </a:prstGeom>
          <a:noFill/>
          <a:ln/>
        </p:spPr>
        <p:txBody>
          <a:bodyPr wrap="square" lIns="0" tIns="0" rIns="0" bIns="0" rtlCol="0" anchor="ctr"/>
          <a:lstStyle/>
          <a:p>
            <a:pPr indent="0" marL="0">
              <a:buNone/>
            </a:pPr>
            <a:r>
              <a:rPr lang="en-US" sz="1050" dirty="0">
                <a:solidFill>
                  <a:srgbClr val="64748B"/>
                </a:solidFill>
                <a:latin typeface="Segoe UI" pitchFamily="34" charset="0"/>
                <a:ea typeface="Segoe UI" pitchFamily="34" charset="-122"/>
                <a:cs typeface="Segoe UI" pitchFamily="34" charset="-120"/>
              </a:rPr>
              <a:t>Liên hệ bộ phận sale cung cấp</a:t>
            </a:r>
            <a:endParaRPr lang="en-US" sz="1050" dirty="0"/>
          </a:p>
        </p:txBody>
      </p:sp>
      <p:sp>
        <p:nvSpPr>
          <p:cNvPr id="43" name="Shape 40"/>
          <p:cNvSpPr/>
          <p:nvPr/>
        </p:nvSpPr>
        <p:spPr>
          <a:xfrm>
            <a:off x="8839048" y="4992624"/>
            <a:ext cx="128016" cy="128016"/>
          </a:xfrm>
          <a:prstGeom prst="rect">
            <a:avLst/>
          </a:prstGeom>
          <a:solidFill>
            <a:srgbClr val="16A34A"/>
          </a:solidFill>
          <a:ln w="12700">
            <a:solidFill>
              <a:srgbClr val="FFFFFF"/>
            </a:solidFill>
            <a:prstDash val="solid"/>
          </a:ln>
        </p:spPr>
      </p:sp>
      <p:sp>
        <p:nvSpPr>
          <p:cNvPr id="44" name="Text 41"/>
          <p:cNvSpPr/>
          <p:nvPr/>
        </p:nvSpPr>
        <p:spPr>
          <a:xfrm>
            <a:off x="9040216" y="4946904"/>
            <a:ext cx="2575408" cy="201168"/>
          </a:xfrm>
          <a:prstGeom prst="rect">
            <a:avLst/>
          </a:prstGeom>
          <a:noFill/>
          <a:ln/>
        </p:spPr>
        <p:txBody>
          <a:bodyPr wrap="square" lIns="0" tIns="0" rIns="0" bIns="0" rtlCol="0" anchor="ctr"/>
          <a:lstStyle/>
          <a:p>
            <a:pPr indent="0" marL="0">
              <a:buNone/>
            </a:pPr>
            <a:r>
              <a:rPr lang="en-US" sz="1050" dirty="0">
                <a:solidFill>
                  <a:srgbClr val="64748B"/>
                </a:solidFill>
                <a:latin typeface="Segoe UI" pitchFamily="34" charset="0"/>
                <a:ea typeface="Segoe UI" pitchFamily="34" charset="-122"/>
                <a:cs typeface="Segoe UI" pitchFamily="34" charset="-120"/>
              </a:rPr>
              <a:t>Người dùng nhập / thao tác</a:t>
            </a:r>
            <a:endParaRPr lang="en-US" sz="1050" dirty="0"/>
          </a:p>
        </p:txBody>
      </p:sp>
      <p:sp>
        <p:nvSpPr>
          <p:cNvPr id="45" name="Shape 42"/>
          <p:cNvSpPr/>
          <p:nvPr/>
        </p:nvSpPr>
        <p:spPr>
          <a:xfrm>
            <a:off x="8839048" y="5175504"/>
            <a:ext cx="128016" cy="128016"/>
          </a:xfrm>
          <a:prstGeom prst="rect">
            <a:avLst/>
          </a:prstGeom>
          <a:solidFill>
            <a:srgbClr val="3730A3"/>
          </a:solidFill>
          <a:ln w="12700">
            <a:solidFill>
              <a:srgbClr val="FFFFFF"/>
            </a:solidFill>
            <a:prstDash val="solid"/>
          </a:ln>
        </p:spPr>
      </p:sp>
      <p:sp>
        <p:nvSpPr>
          <p:cNvPr id="46" name="Text 43"/>
          <p:cNvSpPr/>
          <p:nvPr/>
        </p:nvSpPr>
        <p:spPr>
          <a:xfrm>
            <a:off x="9040216" y="5129784"/>
            <a:ext cx="2575408" cy="201168"/>
          </a:xfrm>
          <a:prstGeom prst="rect">
            <a:avLst/>
          </a:prstGeom>
          <a:noFill/>
          <a:ln/>
        </p:spPr>
        <p:txBody>
          <a:bodyPr wrap="square" lIns="0" tIns="0" rIns="0" bIns="0" rtlCol="0" anchor="ctr"/>
          <a:lstStyle/>
          <a:p>
            <a:pPr indent="0" marL="0">
              <a:buNone/>
            </a:pPr>
            <a:r>
              <a:rPr lang="en-US" sz="1050" dirty="0">
                <a:solidFill>
                  <a:srgbClr val="64748B"/>
                </a:solidFill>
                <a:latin typeface="Segoe UI" pitchFamily="34" charset="0"/>
                <a:ea typeface="Segoe UI" pitchFamily="34" charset="-122"/>
                <a:cs typeface="Segoe UI" pitchFamily="34" charset="-120"/>
              </a:rPr>
              <a:t>Phần mềm tự hiển thị / tổng hợp</a:t>
            </a:r>
            <a:endParaRPr lang="en-US" sz="1050" dirty="0"/>
          </a:p>
        </p:txBody>
      </p:sp>
      <p:sp>
        <p:nvSpPr>
          <p:cNvPr id="47" name="Shape 44"/>
          <p:cNvSpPr/>
          <p:nvPr/>
        </p:nvSpPr>
        <p:spPr>
          <a:xfrm>
            <a:off x="5852160" y="5440680"/>
            <a:ext cx="5790895" cy="731520"/>
          </a:xfrm>
          <a:prstGeom prst="rect">
            <a:avLst/>
          </a:prstGeom>
          <a:solidFill>
            <a:srgbClr val="ECFDF3"/>
          </a:solidFill>
          <a:ln w="9525">
            <a:solidFill>
              <a:srgbClr val="BBE5C8"/>
            </a:solidFill>
            <a:prstDash val="solid"/>
          </a:ln>
        </p:spPr>
      </p:sp>
      <p:sp>
        <p:nvSpPr>
          <p:cNvPr id="48" name="Shape 45"/>
          <p:cNvSpPr/>
          <p:nvPr/>
        </p:nvSpPr>
        <p:spPr>
          <a:xfrm>
            <a:off x="5852160" y="5440680"/>
            <a:ext cx="64008" cy="731520"/>
          </a:xfrm>
          <a:prstGeom prst="rect">
            <a:avLst/>
          </a:prstGeom>
          <a:solidFill>
            <a:srgbClr val="16A34A"/>
          </a:solidFill>
          <a:ln w="12700">
            <a:solidFill>
              <a:srgbClr val="16A34A"/>
            </a:solidFill>
            <a:prstDash val="solid"/>
          </a:ln>
        </p:spPr>
      </p:sp>
      <p:sp>
        <p:nvSpPr>
          <p:cNvPr id="49" name="Text 46"/>
          <p:cNvSpPr/>
          <p:nvPr/>
        </p:nvSpPr>
        <p:spPr>
          <a:xfrm>
            <a:off x="6053328" y="5495544"/>
            <a:ext cx="5498287" cy="621792"/>
          </a:xfrm>
          <a:prstGeom prst="rect">
            <a:avLst/>
          </a:prstGeom>
          <a:noFill/>
          <a:ln/>
        </p:spPr>
        <p:txBody>
          <a:bodyPr wrap="square" lIns="0" tIns="0" rIns="0" bIns="0" rtlCol="0" anchor="ctr"/>
          <a:lstStyle/>
          <a:p>
            <a:pPr indent="0" marL="0">
              <a:spcAft>
                <a:spcPts val="200"/>
              </a:spcAft>
              <a:buNone/>
            </a:pPr>
            <a:r>
              <a:rPr lang="en-US" sz="1100" b="1" spc="100" kern="0" dirty="0">
                <a:solidFill>
                  <a:srgbClr val="16A34A"/>
                </a:solidFill>
                <a:latin typeface="Segoe UI" pitchFamily="34" charset="0"/>
                <a:ea typeface="Segoe UI" pitchFamily="34" charset="-122"/>
                <a:cs typeface="Segoe UI" pitchFamily="34" charset="-120"/>
              </a:rPr>
              <a:t>LƯU Ý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Nội dung 1 và 2: liên hệ bộ phận sale cung cấp thông tin.</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7689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a:t>
            </a:r>
            <a:endParaRPr lang="en-US" sz="900" dirty="0"/>
          </a:p>
        </p:txBody>
      </p:sp>
      <p:sp>
        <p:nvSpPr>
          <p:cNvPr id="3" name="Text 1"/>
          <p:cNvSpPr/>
          <p:nvPr/>
        </p:nvSpPr>
        <p:spPr>
          <a:xfrm>
            <a:off x="840607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2</a:t>
            </a:r>
            <a:endParaRPr lang="en-US" sz="900" dirty="0"/>
          </a:p>
        </p:txBody>
      </p:sp>
      <p:sp>
        <p:nvSpPr>
          <p:cNvPr id="4" name="Text 2"/>
          <p:cNvSpPr/>
          <p:nvPr/>
        </p:nvSpPr>
        <p:spPr>
          <a:xfrm>
            <a:off x="8735263" y="292608"/>
            <a:ext cx="274320" cy="274320"/>
          </a:xfrm>
          <a:prstGeom prst="ellipse">
            <a:avLst/>
          </a:prstGeom>
          <a:solidFill>
            <a:srgbClr val="16A34A"/>
          </a:solidFill>
          <a:ln w="9525">
            <a:solidFill>
              <a:srgbClr val="16A34A"/>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3</a:t>
            </a:r>
            <a:endParaRPr lang="en-US" sz="900" dirty="0"/>
          </a:p>
        </p:txBody>
      </p:sp>
      <p:sp>
        <p:nvSpPr>
          <p:cNvPr id="5" name="Text 3"/>
          <p:cNvSpPr/>
          <p:nvPr/>
        </p:nvSpPr>
        <p:spPr>
          <a:xfrm>
            <a:off x="9064447"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9393631"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5</a:t>
            </a:r>
            <a:endParaRPr lang="en-US" sz="900" dirty="0"/>
          </a:p>
        </p:txBody>
      </p:sp>
      <p:sp>
        <p:nvSpPr>
          <p:cNvPr id="7" name="Text 5"/>
          <p:cNvSpPr/>
          <p:nvPr/>
        </p:nvSpPr>
        <p:spPr>
          <a:xfrm>
            <a:off x="972281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6</a:t>
            </a:r>
            <a:endParaRPr lang="en-US" sz="900" dirty="0"/>
          </a:p>
        </p:txBody>
      </p:sp>
      <p:sp>
        <p:nvSpPr>
          <p:cNvPr id="8" name="Text 6"/>
          <p:cNvSpPr/>
          <p:nvPr/>
        </p:nvSpPr>
        <p:spPr>
          <a:xfrm>
            <a:off x="10051999"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7</a:t>
            </a:r>
            <a:endParaRPr lang="en-US" sz="900" dirty="0"/>
          </a:p>
        </p:txBody>
      </p:sp>
      <p:sp>
        <p:nvSpPr>
          <p:cNvPr id="9" name="Text 7"/>
          <p:cNvSpPr/>
          <p:nvPr/>
        </p:nvSpPr>
        <p:spPr>
          <a:xfrm>
            <a:off x="10381183"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8</a:t>
            </a:r>
            <a:endParaRPr lang="en-US" sz="900" dirty="0"/>
          </a:p>
        </p:txBody>
      </p:sp>
      <p:sp>
        <p:nvSpPr>
          <p:cNvPr id="10" name="Text 8"/>
          <p:cNvSpPr/>
          <p:nvPr/>
        </p:nvSpPr>
        <p:spPr>
          <a:xfrm>
            <a:off x="10710367"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9</a:t>
            </a:r>
            <a:endParaRPr lang="en-US" sz="900" dirty="0"/>
          </a:p>
        </p:txBody>
      </p:sp>
      <p:sp>
        <p:nvSpPr>
          <p:cNvPr id="11" name="Text 9"/>
          <p:cNvSpPr/>
          <p:nvPr/>
        </p:nvSpPr>
        <p:spPr>
          <a:xfrm>
            <a:off x="11039551"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10</a:t>
            </a:r>
            <a:endParaRPr lang="en-US" sz="900" dirty="0"/>
          </a:p>
        </p:txBody>
      </p:sp>
      <p:sp>
        <p:nvSpPr>
          <p:cNvPr id="12" name="Text 10"/>
          <p:cNvSpPr/>
          <p:nvPr/>
        </p:nvSpPr>
        <p:spPr>
          <a:xfrm>
            <a:off x="1136873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11</a:t>
            </a:r>
            <a:endParaRPr lang="en-US" sz="900" dirty="0"/>
          </a:p>
        </p:txBody>
      </p:sp>
      <p:sp>
        <p:nvSpPr>
          <p:cNvPr id="13" name="Shape 11"/>
          <p:cNvSpPr/>
          <p:nvPr/>
        </p:nvSpPr>
        <p:spPr>
          <a:xfrm>
            <a:off x="548640" y="384048"/>
            <a:ext cx="411480" cy="54864"/>
          </a:xfrm>
          <a:prstGeom prst="rect">
            <a:avLst/>
          </a:prstGeom>
          <a:solidFill>
            <a:srgbClr val="16A34A"/>
          </a:solidFill>
          <a:ln w="12700">
            <a:solidFill>
              <a:srgbClr val="16A34A"/>
            </a:solidFill>
            <a:prstDash val="solid"/>
          </a:ln>
        </p:spPr>
      </p:sp>
      <p:sp>
        <p:nvSpPr>
          <p:cNvPr id="14" name="Text 12"/>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15" name="Text 13"/>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Nội dung 3 · Chọn điều kiện test</a:t>
            </a:r>
            <a:endParaRPr lang="en-US" sz="2600" dirty="0"/>
          </a:p>
        </p:txBody>
      </p:sp>
      <p:sp>
        <p:nvSpPr>
          <p:cNvPr id="16" name="Text 14"/>
          <p:cNvSpPr/>
          <p:nvPr/>
        </p:nvSpPr>
        <p:spPr>
          <a:xfrm>
            <a:off x="548640" y="1371600"/>
            <a:ext cx="6400800" cy="320040"/>
          </a:xfrm>
          <a:prstGeom prst="rect">
            <a:avLst/>
          </a:prstGeom>
          <a:noFill/>
          <a:ln/>
        </p:spPr>
        <p:txBody>
          <a:bodyPr wrap="square" lIns="0" tIns="0" rIns="0" bIns="0" rtlCol="0" anchor="ctr"/>
          <a:lstStyle/>
          <a:p>
            <a:pPr indent="0" marL="0">
              <a:buNone/>
            </a:pPr>
            <a:r>
              <a:rPr lang="en-US" sz="1600" dirty="0">
                <a:solidFill>
                  <a:srgbClr val="1E293B"/>
                </a:solidFill>
                <a:latin typeface="Segoe UI" pitchFamily="34" charset="0"/>
                <a:ea typeface="Segoe UI" pitchFamily="34" charset="-122"/>
                <a:cs typeface="Segoe UI" pitchFamily="34" charset="-120"/>
              </a:rPr>
              <a:t>Thao tác: điền đầy đủ thông tin đã chọn.</a:t>
            </a:r>
            <a:endParaRPr lang="en-US" sz="1600" dirty="0"/>
          </a:p>
        </p:txBody>
      </p:sp>
      <p:sp>
        <p:nvSpPr>
          <p:cNvPr id="17" name="Shape 15"/>
          <p:cNvSpPr/>
          <p:nvPr/>
        </p:nvSpPr>
        <p:spPr>
          <a:xfrm>
            <a:off x="521208" y="1801368"/>
            <a:ext cx="5541264" cy="2711523"/>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8" name="Image 0" descr="Hình minh họa 7">    </p:cNvPr>
          <p:cNvPicPr>
            <a:picLocks noChangeAspect="1"/>
          </p:cNvPicPr>
          <p:nvPr/>
        </p:nvPicPr>
        <p:blipFill>
          <a:blip r:embed="rId1"/>
          <a:stretch>
            <a:fillRect/>
          </a:stretch>
        </p:blipFill>
        <p:spPr>
          <a:xfrm>
            <a:off x="548640" y="1828800"/>
            <a:ext cx="5486400" cy="2656659"/>
          </a:xfrm>
          <a:prstGeom prst="rect">
            <a:avLst/>
          </a:prstGeom>
        </p:spPr>
      </p:pic>
      <p:sp>
        <p:nvSpPr>
          <p:cNvPr id="19" name="Text 16"/>
          <p:cNvSpPr/>
          <p:nvPr/>
        </p:nvSpPr>
        <p:spPr>
          <a:xfrm>
            <a:off x="548640" y="4558611"/>
            <a:ext cx="548640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Nhập điều kiện test</a:t>
            </a:r>
            <a:endParaRPr lang="en-US" sz="1100" dirty="0"/>
          </a:p>
        </p:txBody>
      </p:sp>
      <p:sp>
        <p:nvSpPr>
          <p:cNvPr id="20" name="Shape 17"/>
          <p:cNvSpPr/>
          <p:nvPr/>
        </p:nvSpPr>
        <p:spPr>
          <a:xfrm>
            <a:off x="6327648" y="1801368"/>
            <a:ext cx="5342839" cy="1898129"/>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1" name="Image 1" descr="Hình minh họa 8">    </p:cNvPr>
          <p:cNvPicPr>
            <a:picLocks noChangeAspect="1"/>
          </p:cNvPicPr>
          <p:nvPr/>
        </p:nvPicPr>
        <p:blipFill>
          <a:blip r:embed="rId2"/>
          <a:stretch>
            <a:fillRect/>
          </a:stretch>
        </p:blipFill>
        <p:spPr>
          <a:xfrm>
            <a:off x="6355080" y="1828800"/>
            <a:ext cx="5287975" cy="1843265"/>
          </a:xfrm>
          <a:prstGeom prst="rect">
            <a:avLst/>
          </a:prstGeom>
        </p:spPr>
      </p:pic>
      <p:sp>
        <p:nvSpPr>
          <p:cNvPr id="22" name="Text 18"/>
          <p:cNvSpPr/>
          <p:nvPr/>
        </p:nvSpPr>
        <p:spPr>
          <a:xfrm>
            <a:off x="6355080" y="3745217"/>
            <a:ext cx="5287975"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Kết quả sau khi nhập</a:t>
            </a:r>
            <a:endParaRPr lang="en-US" sz="1100" dirty="0"/>
          </a:p>
        </p:txBody>
      </p:sp>
      <p:sp>
        <p:nvSpPr>
          <p:cNvPr id="23" name="Shape 19"/>
          <p:cNvSpPr/>
          <p:nvPr/>
        </p:nvSpPr>
        <p:spPr>
          <a:xfrm>
            <a:off x="548640" y="5257800"/>
            <a:ext cx="11094415" cy="914400"/>
          </a:xfrm>
          <a:prstGeom prst="rect">
            <a:avLst/>
          </a:prstGeom>
          <a:solidFill>
            <a:srgbClr val="FFF7E6"/>
          </a:solidFill>
          <a:ln w="9525">
            <a:solidFill>
              <a:srgbClr val="F5D08A"/>
            </a:solidFill>
            <a:prstDash val="solid"/>
          </a:ln>
        </p:spPr>
      </p:sp>
      <p:sp>
        <p:nvSpPr>
          <p:cNvPr id="24" name="Shape 20"/>
          <p:cNvSpPr/>
          <p:nvPr/>
        </p:nvSpPr>
        <p:spPr>
          <a:xfrm>
            <a:off x="548640" y="5257800"/>
            <a:ext cx="64008" cy="914400"/>
          </a:xfrm>
          <a:prstGeom prst="rect">
            <a:avLst/>
          </a:prstGeom>
          <a:solidFill>
            <a:srgbClr val="D97706"/>
          </a:solidFill>
          <a:ln w="12700">
            <a:solidFill>
              <a:srgbClr val="D97706"/>
            </a:solidFill>
            <a:prstDash val="solid"/>
          </a:ln>
        </p:spPr>
      </p:sp>
      <p:sp>
        <p:nvSpPr>
          <p:cNvPr id="25" name="Text 21"/>
          <p:cNvSpPr/>
          <p:nvPr/>
        </p:nvSpPr>
        <p:spPr>
          <a:xfrm>
            <a:off x="749808" y="5312664"/>
            <a:ext cx="10801807" cy="804672"/>
          </a:xfrm>
          <a:prstGeom prst="rect">
            <a:avLst/>
          </a:prstGeom>
          <a:noFill/>
          <a:ln/>
        </p:spPr>
        <p:txBody>
          <a:bodyPr wrap="square" lIns="0" tIns="0" rIns="0" bIns="0" rtlCol="0" anchor="ctr"/>
          <a:lstStyle/>
          <a:p>
            <a:pPr indent="0" marL="0">
              <a:spcAft>
                <a:spcPts val="200"/>
              </a:spcAft>
              <a:buNone/>
            </a:pPr>
            <a:r>
              <a:rPr lang="en-US" sz="1100" b="1" spc="100" kern="0" dirty="0">
                <a:solidFill>
                  <a:srgbClr val="D97706"/>
                </a:solidFill>
                <a:latin typeface="Segoe UI" pitchFamily="34" charset="0"/>
                <a:ea typeface="Segoe UI" pitchFamily="34" charset="-122"/>
                <a:cs typeface="Segoe UI" pitchFamily="34" charset="-120"/>
              </a:rPr>
              <a:t>CẢNH BÁO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Không bỏ trống trường bắt buộc; kiểm tra thông tin đã chọn trước khi lưu. Thông tin nào chưa có cần báo leader tạo thêm thiết bị bổ sung hệ thống.</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7689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a:t>
            </a:r>
            <a:endParaRPr lang="en-US" sz="900" dirty="0"/>
          </a:p>
        </p:txBody>
      </p:sp>
      <p:sp>
        <p:nvSpPr>
          <p:cNvPr id="3" name="Text 1"/>
          <p:cNvSpPr/>
          <p:nvPr/>
        </p:nvSpPr>
        <p:spPr>
          <a:xfrm>
            <a:off x="840607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2</a:t>
            </a:r>
            <a:endParaRPr lang="en-US" sz="900" dirty="0"/>
          </a:p>
        </p:txBody>
      </p:sp>
      <p:sp>
        <p:nvSpPr>
          <p:cNvPr id="4" name="Text 2"/>
          <p:cNvSpPr/>
          <p:nvPr/>
        </p:nvSpPr>
        <p:spPr>
          <a:xfrm>
            <a:off x="873526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3</a:t>
            </a:r>
            <a:endParaRPr lang="en-US" sz="900" dirty="0"/>
          </a:p>
        </p:txBody>
      </p:sp>
      <p:sp>
        <p:nvSpPr>
          <p:cNvPr id="5" name="Text 3"/>
          <p:cNvSpPr/>
          <p:nvPr/>
        </p:nvSpPr>
        <p:spPr>
          <a:xfrm>
            <a:off x="9064447" y="292608"/>
            <a:ext cx="274320" cy="274320"/>
          </a:xfrm>
          <a:prstGeom prst="ellipse">
            <a:avLst/>
          </a:prstGeom>
          <a:solidFill>
            <a:srgbClr val="16A34A"/>
          </a:solidFill>
          <a:ln w="9525">
            <a:solidFill>
              <a:srgbClr val="16A34A"/>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9393631"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5</a:t>
            </a:r>
            <a:endParaRPr lang="en-US" sz="900" dirty="0"/>
          </a:p>
        </p:txBody>
      </p:sp>
      <p:sp>
        <p:nvSpPr>
          <p:cNvPr id="7" name="Text 5"/>
          <p:cNvSpPr/>
          <p:nvPr/>
        </p:nvSpPr>
        <p:spPr>
          <a:xfrm>
            <a:off x="972281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6</a:t>
            </a:r>
            <a:endParaRPr lang="en-US" sz="900" dirty="0"/>
          </a:p>
        </p:txBody>
      </p:sp>
      <p:sp>
        <p:nvSpPr>
          <p:cNvPr id="8" name="Text 6"/>
          <p:cNvSpPr/>
          <p:nvPr/>
        </p:nvSpPr>
        <p:spPr>
          <a:xfrm>
            <a:off x="10051999"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7</a:t>
            </a:r>
            <a:endParaRPr lang="en-US" sz="900" dirty="0"/>
          </a:p>
        </p:txBody>
      </p:sp>
      <p:sp>
        <p:nvSpPr>
          <p:cNvPr id="9" name="Text 7"/>
          <p:cNvSpPr/>
          <p:nvPr/>
        </p:nvSpPr>
        <p:spPr>
          <a:xfrm>
            <a:off x="10381183"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8</a:t>
            </a:r>
            <a:endParaRPr lang="en-US" sz="900" dirty="0"/>
          </a:p>
        </p:txBody>
      </p:sp>
      <p:sp>
        <p:nvSpPr>
          <p:cNvPr id="10" name="Text 8"/>
          <p:cNvSpPr/>
          <p:nvPr/>
        </p:nvSpPr>
        <p:spPr>
          <a:xfrm>
            <a:off x="10710367"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9</a:t>
            </a:r>
            <a:endParaRPr lang="en-US" sz="900" dirty="0"/>
          </a:p>
        </p:txBody>
      </p:sp>
      <p:sp>
        <p:nvSpPr>
          <p:cNvPr id="11" name="Text 9"/>
          <p:cNvSpPr/>
          <p:nvPr/>
        </p:nvSpPr>
        <p:spPr>
          <a:xfrm>
            <a:off x="11039551"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10</a:t>
            </a:r>
            <a:endParaRPr lang="en-US" sz="900" dirty="0"/>
          </a:p>
        </p:txBody>
      </p:sp>
      <p:sp>
        <p:nvSpPr>
          <p:cNvPr id="12" name="Text 10"/>
          <p:cNvSpPr/>
          <p:nvPr/>
        </p:nvSpPr>
        <p:spPr>
          <a:xfrm>
            <a:off x="1136873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11</a:t>
            </a:r>
            <a:endParaRPr lang="en-US" sz="900" dirty="0"/>
          </a:p>
        </p:txBody>
      </p:sp>
      <p:sp>
        <p:nvSpPr>
          <p:cNvPr id="13" name="Shape 11"/>
          <p:cNvSpPr/>
          <p:nvPr/>
        </p:nvSpPr>
        <p:spPr>
          <a:xfrm>
            <a:off x="548640" y="384048"/>
            <a:ext cx="411480" cy="54864"/>
          </a:xfrm>
          <a:prstGeom prst="rect">
            <a:avLst/>
          </a:prstGeom>
          <a:solidFill>
            <a:srgbClr val="16A34A"/>
          </a:solidFill>
          <a:ln w="12700">
            <a:solidFill>
              <a:srgbClr val="16A34A"/>
            </a:solidFill>
            <a:prstDash val="solid"/>
          </a:ln>
        </p:spPr>
      </p:sp>
      <p:sp>
        <p:nvSpPr>
          <p:cNvPr id="14" name="Text 12"/>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15" name="Text 13"/>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Nội dung 4 · Mô phỏng bố trí được hiển thị tự động</a:t>
            </a:r>
            <a:endParaRPr lang="en-US" sz="2600" dirty="0"/>
          </a:p>
        </p:txBody>
      </p:sp>
      <p:sp>
        <p:nvSpPr>
          <p:cNvPr id="16" name="Text 14"/>
          <p:cNvSpPr/>
          <p:nvPr/>
        </p:nvSpPr>
        <p:spPr>
          <a:xfrm>
            <a:off x="548640" y="1371600"/>
            <a:ext cx="11094415" cy="320040"/>
          </a:xfrm>
          <a:prstGeom prst="rect">
            <a:avLst/>
          </a:prstGeom>
          <a:noFill/>
          <a:ln/>
        </p:spPr>
        <p:txBody>
          <a:bodyPr wrap="square" lIns="0" tIns="0" rIns="0" bIns="0" rtlCol="0" anchor="ctr"/>
          <a:lstStyle/>
          <a:p>
            <a:pPr indent="0" marL="0">
              <a:buNone/>
            </a:pPr>
            <a:r>
              <a:rPr lang="en-US" sz="1600" dirty="0">
                <a:solidFill>
                  <a:srgbClr val="1E293B"/>
                </a:solidFill>
                <a:latin typeface="Segoe UI" pitchFamily="34" charset="0"/>
                <a:ea typeface="Segoe UI" pitchFamily="34" charset="-122"/>
                <a:cs typeface="Segoe UI" pitchFamily="34" charset="-120"/>
              </a:rPr>
              <a:t>Sau khi hoàn thành Nội dung 3, phần mềm sẽ hiển thị mô phỏng bố trí.</a:t>
            </a:r>
            <a:endParaRPr lang="en-US" sz="1600" dirty="0"/>
          </a:p>
        </p:txBody>
      </p:sp>
      <p:sp>
        <p:nvSpPr>
          <p:cNvPr id="17" name="Shape 15"/>
          <p:cNvSpPr/>
          <p:nvPr/>
        </p:nvSpPr>
        <p:spPr>
          <a:xfrm>
            <a:off x="1683683" y="1801368"/>
            <a:ext cx="8824330" cy="439826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8" name="Image 0" descr="Hình minh họa 9">    </p:cNvPr>
          <p:cNvPicPr>
            <a:picLocks noChangeAspect="1"/>
          </p:cNvPicPr>
          <p:nvPr/>
        </p:nvPicPr>
        <p:blipFill>
          <a:blip r:embed="rId1"/>
          <a:stretch>
            <a:fillRect/>
          </a:stretch>
        </p:blipFill>
        <p:spPr>
          <a:xfrm>
            <a:off x="1711115" y="1828800"/>
            <a:ext cx="8769466" cy="4343400"/>
          </a:xfrm>
          <a:prstGeom prst="rect">
            <a:avLst/>
          </a:prstGeom>
        </p:spPr>
      </p:pic>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07689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a:t>
            </a:r>
            <a:endParaRPr lang="en-US" sz="900" dirty="0"/>
          </a:p>
        </p:txBody>
      </p:sp>
      <p:sp>
        <p:nvSpPr>
          <p:cNvPr id="3" name="Text 1"/>
          <p:cNvSpPr/>
          <p:nvPr/>
        </p:nvSpPr>
        <p:spPr>
          <a:xfrm>
            <a:off x="840607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2</a:t>
            </a:r>
            <a:endParaRPr lang="en-US" sz="900" dirty="0"/>
          </a:p>
        </p:txBody>
      </p:sp>
      <p:sp>
        <p:nvSpPr>
          <p:cNvPr id="4" name="Text 2"/>
          <p:cNvSpPr/>
          <p:nvPr/>
        </p:nvSpPr>
        <p:spPr>
          <a:xfrm>
            <a:off x="873526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3</a:t>
            </a:r>
            <a:endParaRPr lang="en-US" sz="900" dirty="0"/>
          </a:p>
        </p:txBody>
      </p:sp>
      <p:sp>
        <p:nvSpPr>
          <p:cNvPr id="5" name="Text 3"/>
          <p:cNvSpPr/>
          <p:nvPr/>
        </p:nvSpPr>
        <p:spPr>
          <a:xfrm>
            <a:off x="9064447"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9393631" y="292608"/>
            <a:ext cx="274320" cy="274320"/>
          </a:xfrm>
          <a:prstGeom prst="ellipse">
            <a:avLst/>
          </a:prstGeom>
          <a:solidFill>
            <a:srgbClr val="16A34A"/>
          </a:solidFill>
          <a:ln w="9525">
            <a:solidFill>
              <a:srgbClr val="16A34A"/>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5</a:t>
            </a:r>
            <a:endParaRPr lang="en-US" sz="900" dirty="0"/>
          </a:p>
        </p:txBody>
      </p:sp>
      <p:sp>
        <p:nvSpPr>
          <p:cNvPr id="7" name="Text 5"/>
          <p:cNvSpPr/>
          <p:nvPr/>
        </p:nvSpPr>
        <p:spPr>
          <a:xfrm>
            <a:off x="972281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6</a:t>
            </a:r>
            <a:endParaRPr lang="en-US" sz="900" dirty="0"/>
          </a:p>
        </p:txBody>
      </p:sp>
      <p:sp>
        <p:nvSpPr>
          <p:cNvPr id="8" name="Text 6"/>
          <p:cNvSpPr/>
          <p:nvPr/>
        </p:nvSpPr>
        <p:spPr>
          <a:xfrm>
            <a:off x="10051999"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7</a:t>
            </a:r>
            <a:endParaRPr lang="en-US" sz="900" dirty="0"/>
          </a:p>
        </p:txBody>
      </p:sp>
      <p:sp>
        <p:nvSpPr>
          <p:cNvPr id="9" name="Text 7"/>
          <p:cNvSpPr/>
          <p:nvPr/>
        </p:nvSpPr>
        <p:spPr>
          <a:xfrm>
            <a:off x="10381183"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8</a:t>
            </a:r>
            <a:endParaRPr lang="en-US" sz="900" dirty="0"/>
          </a:p>
        </p:txBody>
      </p:sp>
      <p:sp>
        <p:nvSpPr>
          <p:cNvPr id="10" name="Text 8"/>
          <p:cNvSpPr/>
          <p:nvPr/>
        </p:nvSpPr>
        <p:spPr>
          <a:xfrm>
            <a:off x="10710367"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9</a:t>
            </a:r>
            <a:endParaRPr lang="en-US" sz="900" dirty="0"/>
          </a:p>
        </p:txBody>
      </p:sp>
      <p:sp>
        <p:nvSpPr>
          <p:cNvPr id="11" name="Text 9"/>
          <p:cNvSpPr/>
          <p:nvPr/>
        </p:nvSpPr>
        <p:spPr>
          <a:xfrm>
            <a:off x="11039551"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10</a:t>
            </a:r>
            <a:endParaRPr lang="en-US" sz="900" dirty="0"/>
          </a:p>
        </p:txBody>
      </p:sp>
      <p:sp>
        <p:nvSpPr>
          <p:cNvPr id="12" name="Text 10"/>
          <p:cNvSpPr/>
          <p:nvPr/>
        </p:nvSpPr>
        <p:spPr>
          <a:xfrm>
            <a:off x="1136873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11</a:t>
            </a:r>
            <a:endParaRPr lang="en-US" sz="900" dirty="0"/>
          </a:p>
        </p:txBody>
      </p:sp>
      <p:sp>
        <p:nvSpPr>
          <p:cNvPr id="13" name="Shape 11"/>
          <p:cNvSpPr/>
          <p:nvPr/>
        </p:nvSpPr>
        <p:spPr>
          <a:xfrm>
            <a:off x="548640" y="384048"/>
            <a:ext cx="411480" cy="54864"/>
          </a:xfrm>
          <a:prstGeom prst="rect">
            <a:avLst/>
          </a:prstGeom>
          <a:solidFill>
            <a:srgbClr val="16A34A"/>
          </a:solidFill>
          <a:ln w="12700">
            <a:solidFill>
              <a:srgbClr val="16A34A"/>
            </a:solidFill>
            <a:prstDash val="solid"/>
          </a:ln>
        </p:spPr>
      </p:sp>
      <p:sp>
        <p:nvSpPr>
          <p:cNvPr id="14" name="Text 12"/>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15" name="Text 13"/>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Nội dung 5 · Vị trí kiểm tra</a:t>
            </a:r>
            <a:endParaRPr lang="en-US" sz="2600" dirty="0"/>
          </a:p>
        </p:txBody>
      </p:sp>
      <p:sp>
        <p:nvSpPr>
          <p:cNvPr id="16" name="Text 14"/>
          <p:cNvSpPr/>
          <p:nvPr/>
        </p:nvSpPr>
        <p:spPr>
          <a:xfrm>
            <a:off x="548640" y="1472184"/>
            <a:ext cx="329184" cy="329184"/>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7" name="Text 15"/>
          <p:cNvSpPr/>
          <p:nvPr/>
        </p:nvSpPr>
        <p:spPr>
          <a:xfrm>
            <a:off x="1014984" y="1463040"/>
            <a:ext cx="2276856" cy="1111504"/>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Điền đủ các trường thông tin
</a:t>
            </a:r>
            <a:pPr indent="0" marL="0">
              <a:buNone/>
            </a:pPr>
            <a:r>
              <a:rPr lang="en-US" sz="1300" dirty="0">
                <a:solidFill>
                  <a:srgbClr val="64748B"/>
                </a:solidFill>
                <a:latin typeface="Segoe UI" pitchFamily="34" charset="0"/>
                <a:ea typeface="Segoe UI" pitchFamily="34" charset="-122"/>
                <a:cs typeface="Segoe UI" pitchFamily="34" charset="-120"/>
              </a:rPr>
              <a:t>Nhập thông tin cho từng vị trí kiểm tra</a:t>
            </a:r>
            <a:endParaRPr lang="en-US" sz="1600" dirty="0"/>
          </a:p>
        </p:txBody>
      </p:sp>
      <p:sp>
        <p:nvSpPr>
          <p:cNvPr id="18" name="Shape 16"/>
          <p:cNvSpPr/>
          <p:nvPr/>
        </p:nvSpPr>
        <p:spPr>
          <a:xfrm>
            <a:off x="3538728" y="1344168"/>
            <a:ext cx="6347286" cy="234086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9" name="Image 0" descr="Hình minh họa 10">    </p:cNvPr>
          <p:cNvPicPr>
            <a:picLocks noChangeAspect="1"/>
          </p:cNvPicPr>
          <p:nvPr/>
        </p:nvPicPr>
        <p:blipFill>
          <a:blip r:embed="rId1"/>
          <a:stretch>
            <a:fillRect/>
          </a:stretch>
        </p:blipFill>
        <p:spPr>
          <a:xfrm>
            <a:off x="3566160" y="1371600"/>
            <a:ext cx="6292422" cy="2286000"/>
          </a:xfrm>
          <a:prstGeom prst="rect">
            <a:avLst/>
          </a:prstGeom>
        </p:spPr>
      </p:pic>
      <p:sp>
        <p:nvSpPr>
          <p:cNvPr id="20" name="Text 17"/>
          <p:cNvSpPr/>
          <p:nvPr/>
        </p:nvSpPr>
        <p:spPr>
          <a:xfrm>
            <a:off x="548640" y="3941064"/>
            <a:ext cx="329184" cy="329184"/>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21" name="Text 18"/>
          <p:cNvSpPr/>
          <p:nvPr/>
        </p:nvSpPr>
        <p:spPr>
          <a:xfrm>
            <a:off x="1014984" y="3931920"/>
            <a:ext cx="2276856" cy="1111504"/>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Kết quả sau khi điền thông tin
</a:t>
            </a:r>
            <a:pPr indent="0" marL="0">
              <a:buNone/>
            </a:pPr>
            <a:r>
              <a:rPr lang="en-US" sz="1300" dirty="0">
                <a:solidFill>
                  <a:srgbClr val="64748B"/>
                </a:solidFill>
                <a:latin typeface="Segoe UI" pitchFamily="34" charset="0"/>
                <a:ea typeface="Segoe UI" pitchFamily="34" charset="-122"/>
                <a:cs typeface="Segoe UI" pitchFamily="34" charset="-120"/>
              </a:rPr>
              <a:t>Danh sách vị trí đã khai báo</a:t>
            </a:r>
            <a:endParaRPr lang="en-US" sz="1600" dirty="0"/>
          </a:p>
        </p:txBody>
      </p:sp>
      <p:sp>
        <p:nvSpPr>
          <p:cNvPr id="22" name="Shape 19"/>
          <p:cNvSpPr/>
          <p:nvPr/>
        </p:nvSpPr>
        <p:spPr>
          <a:xfrm>
            <a:off x="3538728" y="3813048"/>
            <a:ext cx="4657707" cy="234086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3" name="Image 1" descr="Hình minh họa 11">    </p:cNvPr>
          <p:cNvPicPr>
            <a:picLocks noChangeAspect="1"/>
          </p:cNvPicPr>
          <p:nvPr/>
        </p:nvPicPr>
        <p:blipFill>
          <a:blip r:embed="rId2"/>
          <a:stretch>
            <a:fillRect/>
          </a:stretch>
        </p:blipFill>
        <p:spPr>
          <a:xfrm>
            <a:off x="3566160" y="3840480"/>
            <a:ext cx="4602843" cy="2286000"/>
          </a:xfrm>
          <a:prstGeom prst="rect">
            <a:avLst/>
          </a:prstGeom>
        </p:spPr>
      </p:pic>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07689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a:t>
            </a:r>
            <a:endParaRPr lang="en-US" sz="900" dirty="0"/>
          </a:p>
        </p:txBody>
      </p:sp>
      <p:sp>
        <p:nvSpPr>
          <p:cNvPr id="3" name="Text 1"/>
          <p:cNvSpPr/>
          <p:nvPr/>
        </p:nvSpPr>
        <p:spPr>
          <a:xfrm>
            <a:off x="840607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2</a:t>
            </a:r>
            <a:endParaRPr lang="en-US" sz="900" dirty="0"/>
          </a:p>
        </p:txBody>
      </p:sp>
      <p:sp>
        <p:nvSpPr>
          <p:cNvPr id="4" name="Text 2"/>
          <p:cNvSpPr/>
          <p:nvPr/>
        </p:nvSpPr>
        <p:spPr>
          <a:xfrm>
            <a:off x="873526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3</a:t>
            </a:r>
            <a:endParaRPr lang="en-US" sz="900" dirty="0"/>
          </a:p>
        </p:txBody>
      </p:sp>
      <p:sp>
        <p:nvSpPr>
          <p:cNvPr id="5" name="Text 3"/>
          <p:cNvSpPr/>
          <p:nvPr/>
        </p:nvSpPr>
        <p:spPr>
          <a:xfrm>
            <a:off x="9064447"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9393631"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5</a:t>
            </a:r>
            <a:endParaRPr lang="en-US" sz="900" dirty="0"/>
          </a:p>
        </p:txBody>
      </p:sp>
      <p:sp>
        <p:nvSpPr>
          <p:cNvPr id="7" name="Text 5"/>
          <p:cNvSpPr/>
          <p:nvPr/>
        </p:nvSpPr>
        <p:spPr>
          <a:xfrm>
            <a:off x="9722815" y="292608"/>
            <a:ext cx="274320" cy="274320"/>
          </a:xfrm>
          <a:prstGeom prst="ellipse">
            <a:avLst/>
          </a:prstGeom>
          <a:solidFill>
            <a:srgbClr val="16A34A"/>
          </a:solidFill>
          <a:ln w="9525">
            <a:solidFill>
              <a:srgbClr val="16A34A"/>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6</a:t>
            </a:r>
            <a:endParaRPr lang="en-US" sz="900" dirty="0"/>
          </a:p>
        </p:txBody>
      </p:sp>
      <p:sp>
        <p:nvSpPr>
          <p:cNvPr id="8" name="Text 6"/>
          <p:cNvSpPr/>
          <p:nvPr/>
        </p:nvSpPr>
        <p:spPr>
          <a:xfrm>
            <a:off x="10051999"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7</a:t>
            </a:r>
            <a:endParaRPr lang="en-US" sz="900" dirty="0"/>
          </a:p>
        </p:txBody>
      </p:sp>
      <p:sp>
        <p:nvSpPr>
          <p:cNvPr id="9" name="Text 7"/>
          <p:cNvSpPr/>
          <p:nvPr/>
        </p:nvSpPr>
        <p:spPr>
          <a:xfrm>
            <a:off x="10381183"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8</a:t>
            </a:r>
            <a:endParaRPr lang="en-US" sz="900" dirty="0"/>
          </a:p>
        </p:txBody>
      </p:sp>
      <p:sp>
        <p:nvSpPr>
          <p:cNvPr id="10" name="Text 8"/>
          <p:cNvSpPr/>
          <p:nvPr/>
        </p:nvSpPr>
        <p:spPr>
          <a:xfrm>
            <a:off x="10710367"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9</a:t>
            </a:r>
            <a:endParaRPr lang="en-US" sz="900" dirty="0"/>
          </a:p>
        </p:txBody>
      </p:sp>
      <p:sp>
        <p:nvSpPr>
          <p:cNvPr id="11" name="Text 9"/>
          <p:cNvSpPr/>
          <p:nvPr/>
        </p:nvSpPr>
        <p:spPr>
          <a:xfrm>
            <a:off x="11039551"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10</a:t>
            </a:r>
            <a:endParaRPr lang="en-US" sz="900" dirty="0"/>
          </a:p>
        </p:txBody>
      </p:sp>
      <p:sp>
        <p:nvSpPr>
          <p:cNvPr id="12" name="Text 10"/>
          <p:cNvSpPr/>
          <p:nvPr/>
        </p:nvSpPr>
        <p:spPr>
          <a:xfrm>
            <a:off x="1136873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11</a:t>
            </a:r>
            <a:endParaRPr lang="en-US" sz="900" dirty="0"/>
          </a:p>
        </p:txBody>
      </p:sp>
      <p:sp>
        <p:nvSpPr>
          <p:cNvPr id="13" name="Shape 11"/>
          <p:cNvSpPr/>
          <p:nvPr/>
        </p:nvSpPr>
        <p:spPr>
          <a:xfrm>
            <a:off x="548640" y="384048"/>
            <a:ext cx="411480" cy="54864"/>
          </a:xfrm>
          <a:prstGeom prst="rect">
            <a:avLst/>
          </a:prstGeom>
          <a:solidFill>
            <a:srgbClr val="16A34A"/>
          </a:solidFill>
          <a:ln w="12700">
            <a:solidFill>
              <a:srgbClr val="16A34A"/>
            </a:solidFill>
            <a:prstDash val="solid"/>
          </a:ln>
        </p:spPr>
      </p:sp>
      <p:sp>
        <p:nvSpPr>
          <p:cNvPr id="14" name="Text 12"/>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15" name="Text 13"/>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Nội dung 6 · Bom list: dựng nhanh, sau đó rà soát</a:t>
            </a:r>
            <a:endParaRPr lang="en-US" sz="2600" dirty="0"/>
          </a:p>
        </p:txBody>
      </p:sp>
      <p:sp>
        <p:nvSpPr>
          <p:cNvPr id="16" name="Text 14"/>
          <p:cNvSpPr/>
          <p:nvPr/>
        </p:nvSpPr>
        <p:spPr>
          <a:xfrm>
            <a:off x="548640" y="1371600"/>
            <a:ext cx="3931920" cy="292608"/>
          </a:xfrm>
          <a:prstGeom prst="rect">
            <a:avLst/>
          </a:prstGeom>
          <a:noFill/>
          <a:ln/>
        </p:spPr>
        <p:txBody>
          <a:bodyPr wrap="square" lIns="0" tIns="0" rIns="0" bIns="0"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Có 2 cách</a:t>
            </a:r>
            <a:endParaRPr lang="en-US" sz="1300" dirty="0"/>
          </a:p>
        </p:txBody>
      </p:sp>
      <p:sp>
        <p:nvSpPr>
          <p:cNvPr id="17" name="Shape 15"/>
          <p:cNvSpPr/>
          <p:nvPr/>
        </p:nvSpPr>
        <p:spPr>
          <a:xfrm>
            <a:off x="548640" y="1737360"/>
            <a:ext cx="3931920" cy="1051560"/>
          </a:xfrm>
          <a:prstGeom prst="roundRect">
            <a:avLst>
              <a:gd name="adj" fmla="val 6957"/>
            </a:avLst>
          </a:prstGeom>
          <a:solidFill>
            <a:srgbClr val="FFFFFF"/>
          </a:solidFill>
          <a:ln w="9525">
            <a:solidFill>
              <a:srgbClr val="E2E8F0"/>
            </a:solidFill>
            <a:prstDash val="solid"/>
          </a:ln>
        </p:spPr>
      </p:sp>
      <p:sp>
        <p:nvSpPr>
          <p:cNvPr id="18" name="Text 16"/>
          <p:cNvSpPr/>
          <p:nvPr/>
        </p:nvSpPr>
        <p:spPr>
          <a:xfrm>
            <a:off x="731520" y="1783080"/>
            <a:ext cx="3566160" cy="960120"/>
          </a:xfrm>
          <a:prstGeom prst="rect">
            <a:avLst/>
          </a:prstGeom>
          <a:noFill/>
          <a:ln/>
        </p:spPr>
        <p:txBody>
          <a:bodyPr wrap="square" lIns="0" tIns="0" rIns="0" bIns="0" rtlCol="0" anchor="ctr"/>
          <a:lstStyle/>
          <a:p>
            <a:pPr indent="0" marL="0">
              <a:buNone/>
            </a:pPr>
            <a:r>
              <a:rPr lang="en-US" sz="1200" b="1" dirty="0">
                <a:solidFill>
                  <a:srgbClr val="16A34A"/>
                </a:solidFill>
                <a:latin typeface="Segoe UI" pitchFamily="34" charset="0"/>
                <a:ea typeface="Segoe UI" pitchFamily="34" charset="-122"/>
                <a:cs typeface="Segoe UI" pitchFamily="34" charset="-120"/>
              </a:rPr>
              <a:t>Cách 1
</a:t>
            </a:r>
            <a:pPr indent="0" marL="0">
              <a:buNone/>
            </a:pPr>
            <a:r>
              <a:rPr lang="en-US" sz="1600" dirty="0">
                <a:solidFill>
                  <a:srgbClr val="1E293B"/>
                </a:solidFill>
                <a:latin typeface="Segoe UI" pitchFamily="34" charset="0"/>
                <a:ea typeface="Segoe UI" pitchFamily="34" charset="-122"/>
                <a:cs typeface="Segoe UI" pitchFamily="34" charset="-120"/>
              </a:rPr>
              <a:t>Thêm dòng BOM và nhập thông tin</a:t>
            </a:r>
            <a:endParaRPr lang="en-US" sz="1600" dirty="0"/>
          </a:p>
        </p:txBody>
      </p:sp>
      <p:sp>
        <p:nvSpPr>
          <p:cNvPr id="19" name="Shape 17"/>
          <p:cNvSpPr/>
          <p:nvPr/>
        </p:nvSpPr>
        <p:spPr>
          <a:xfrm>
            <a:off x="548640" y="2926080"/>
            <a:ext cx="3931920" cy="1051560"/>
          </a:xfrm>
          <a:prstGeom prst="roundRect">
            <a:avLst>
              <a:gd name="adj" fmla="val 6957"/>
            </a:avLst>
          </a:prstGeom>
          <a:solidFill>
            <a:srgbClr val="FFFFFF"/>
          </a:solidFill>
          <a:ln w="9525">
            <a:solidFill>
              <a:srgbClr val="E2E8F0"/>
            </a:solidFill>
            <a:prstDash val="solid"/>
          </a:ln>
        </p:spPr>
      </p:sp>
      <p:sp>
        <p:nvSpPr>
          <p:cNvPr id="20" name="Text 18"/>
          <p:cNvSpPr/>
          <p:nvPr/>
        </p:nvSpPr>
        <p:spPr>
          <a:xfrm>
            <a:off x="731520" y="2971800"/>
            <a:ext cx="3566160" cy="960120"/>
          </a:xfrm>
          <a:prstGeom prst="rect">
            <a:avLst/>
          </a:prstGeom>
          <a:noFill/>
          <a:ln/>
        </p:spPr>
        <p:txBody>
          <a:bodyPr wrap="square" lIns="0" tIns="0" rIns="0" bIns="0" rtlCol="0" anchor="ctr"/>
          <a:lstStyle/>
          <a:p>
            <a:pPr indent="0" marL="0">
              <a:buNone/>
            </a:pPr>
            <a:r>
              <a:rPr lang="en-US" sz="1200" b="1" dirty="0">
                <a:solidFill>
                  <a:srgbClr val="16A34A"/>
                </a:solidFill>
                <a:latin typeface="Segoe UI" pitchFamily="34" charset="0"/>
                <a:ea typeface="Segoe UI" pitchFamily="34" charset="-122"/>
                <a:cs typeface="Segoe UI" pitchFamily="34" charset="-120"/>
              </a:rPr>
              <a:t>Cách 2
</a:t>
            </a:r>
            <a:pPr indent="0" marL="0">
              <a:buNone/>
            </a:pPr>
            <a:r>
              <a:rPr lang="en-US" sz="1600" dirty="0">
                <a:solidFill>
                  <a:srgbClr val="1E293B"/>
                </a:solidFill>
                <a:latin typeface="Segoe UI" pitchFamily="34" charset="0"/>
                <a:ea typeface="Segoe UI" pitchFamily="34" charset="-122"/>
                <a:cs typeface="Segoe UI" pitchFamily="34" charset="-120"/>
              </a:rPr>
              <a:t>Chọn chức năng dựng từ Bước 3</a:t>
            </a:r>
            <a:endParaRPr lang="en-US" sz="1600" dirty="0"/>
          </a:p>
        </p:txBody>
      </p:sp>
      <p:sp>
        <p:nvSpPr>
          <p:cNvPr id="21" name="Text 19"/>
          <p:cNvSpPr/>
          <p:nvPr/>
        </p:nvSpPr>
        <p:spPr>
          <a:xfrm>
            <a:off x="548640" y="4160520"/>
            <a:ext cx="3931920" cy="822960"/>
          </a:xfrm>
          <a:prstGeom prst="rect">
            <a:avLst/>
          </a:prstGeom>
          <a:noFill/>
          <a:ln/>
        </p:spPr>
        <p:txBody>
          <a:bodyPr wrap="square" lIns="0" tIns="0" rIns="0" bIns="0" rtlCol="0" anchor="t"/>
          <a:lstStyle/>
          <a:p>
            <a:pPr indent="0" marL="0">
              <a:buNone/>
            </a:pPr>
            <a:r>
              <a:rPr lang="en-US" sz="1500" dirty="0">
                <a:solidFill>
                  <a:srgbClr val="1E293B"/>
                </a:solidFill>
                <a:latin typeface="Segoe UI" pitchFamily="34" charset="0"/>
                <a:ea typeface="Segoe UI" pitchFamily="34" charset="-122"/>
                <a:cs typeface="Segoe UI" pitchFamily="34" charset="-120"/>
              </a:rPr>
              <a:t>Sau đó: kiểm tra danh sách BOM, bổ sung thông tin còn thiếu và cập nhật kết quả.</a:t>
            </a:r>
            <a:endParaRPr lang="en-US" sz="1500" dirty="0"/>
          </a:p>
        </p:txBody>
      </p:sp>
      <p:sp>
        <p:nvSpPr>
          <p:cNvPr id="22" name="Shape 20"/>
          <p:cNvSpPr/>
          <p:nvPr/>
        </p:nvSpPr>
        <p:spPr>
          <a:xfrm>
            <a:off x="548640" y="5257800"/>
            <a:ext cx="3931920" cy="914400"/>
          </a:xfrm>
          <a:prstGeom prst="rect">
            <a:avLst/>
          </a:prstGeom>
          <a:solidFill>
            <a:srgbClr val="FFF7E6"/>
          </a:solidFill>
          <a:ln w="9525">
            <a:solidFill>
              <a:srgbClr val="F5D08A"/>
            </a:solidFill>
            <a:prstDash val="solid"/>
          </a:ln>
        </p:spPr>
      </p:sp>
      <p:sp>
        <p:nvSpPr>
          <p:cNvPr id="23" name="Shape 21"/>
          <p:cNvSpPr/>
          <p:nvPr/>
        </p:nvSpPr>
        <p:spPr>
          <a:xfrm>
            <a:off x="548640" y="5257800"/>
            <a:ext cx="64008" cy="914400"/>
          </a:xfrm>
          <a:prstGeom prst="rect">
            <a:avLst/>
          </a:prstGeom>
          <a:solidFill>
            <a:srgbClr val="D97706"/>
          </a:solidFill>
          <a:ln w="12700">
            <a:solidFill>
              <a:srgbClr val="D97706"/>
            </a:solidFill>
            <a:prstDash val="solid"/>
          </a:ln>
        </p:spPr>
      </p:sp>
      <p:sp>
        <p:nvSpPr>
          <p:cNvPr id="24" name="Text 22"/>
          <p:cNvSpPr/>
          <p:nvPr/>
        </p:nvSpPr>
        <p:spPr>
          <a:xfrm>
            <a:off x="749808" y="5312664"/>
            <a:ext cx="3639312" cy="804672"/>
          </a:xfrm>
          <a:prstGeom prst="rect">
            <a:avLst/>
          </a:prstGeom>
          <a:noFill/>
          <a:ln/>
        </p:spPr>
        <p:txBody>
          <a:bodyPr wrap="square" lIns="0" tIns="0" rIns="0" bIns="0" rtlCol="0" anchor="ctr"/>
          <a:lstStyle/>
          <a:p>
            <a:pPr indent="0" marL="0">
              <a:spcAft>
                <a:spcPts val="200"/>
              </a:spcAft>
              <a:buNone/>
            </a:pPr>
            <a:r>
              <a:rPr lang="en-US" sz="1100" b="1" spc="100" kern="0" dirty="0">
                <a:solidFill>
                  <a:srgbClr val="D97706"/>
                </a:solidFill>
                <a:latin typeface="Segoe UI" pitchFamily="34" charset="0"/>
                <a:ea typeface="Segoe UI" pitchFamily="34" charset="-122"/>
                <a:cs typeface="Segoe UI" pitchFamily="34" charset="-120"/>
              </a:rPr>
              <a:t>CẢNH BÁO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Không nên bỏ qua bước rà soát BOM sau khi dựng tự động.</a:t>
            </a:r>
            <a:endParaRPr lang="en-US" sz="1400" dirty="0"/>
          </a:p>
        </p:txBody>
      </p:sp>
      <p:sp>
        <p:nvSpPr>
          <p:cNvPr id="25" name="Shape 23"/>
          <p:cNvSpPr/>
          <p:nvPr/>
        </p:nvSpPr>
        <p:spPr>
          <a:xfrm>
            <a:off x="4773168" y="1344168"/>
            <a:ext cx="4607270" cy="165506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6" name="Image 0" descr="Hình minh họa 12">    </p:cNvPr>
          <p:cNvPicPr>
            <a:picLocks noChangeAspect="1"/>
          </p:cNvPicPr>
          <p:nvPr/>
        </p:nvPicPr>
        <p:blipFill>
          <a:blip r:embed="rId1"/>
          <a:stretch>
            <a:fillRect/>
          </a:stretch>
        </p:blipFill>
        <p:spPr>
          <a:xfrm>
            <a:off x="4800600" y="1371600"/>
            <a:ext cx="4552406" cy="1600200"/>
          </a:xfrm>
          <a:prstGeom prst="rect">
            <a:avLst/>
          </a:prstGeom>
        </p:spPr>
      </p:pic>
      <p:sp>
        <p:nvSpPr>
          <p:cNvPr id="27" name="Shape 24"/>
          <p:cNvSpPr/>
          <p:nvPr/>
        </p:nvSpPr>
        <p:spPr>
          <a:xfrm>
            <a:off x="4773168" y="3172968"/>
            <a:ext cx="6006613" cy="307238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8" name="Image 1" descr="Hình minh họa 13">    </p:cNvPr>
          <p:cNvPicPr>
            <a:picLocks noChangeAspect="1"/>
          </p:cNvPicPr>
          <p:nvPr/>
        </p:nvPicPr>
        <p:blipFill>
          <a:blip r:embed="rId2"/>
          <a:stretch>
            <a:fillRect/>
          </a:stretch>
        </p:blipFill>
        <p:spPr>
          <a:xfrm>
            <a:off x="4800600" y="3200400"/>
            <a:ext cx="5951749" cy="3017520"/>
          </a:xfrm>
          <a:prstGeom prst="rect">
            <a:avLst/>
          </a:prstGeom>
        </p:spPr>
      </p:pic>
      <p:sp>
        <p:nvSpPr>
          <p:cNvPr id="29" name="Text 25"/>
          <p:cNvSpPr/>
          <p:nvPr/>
        </p:nvSpPr>
        <p:spPr>
          <a:xfrm>
            <a:off x="4800600" y="6291072"/>
            <a:ext cx="5951749"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Danh sách BOM sau khi dựng</a:t>
            </a:r>
            <a:endParaRPr lang="en-US" sz="11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07689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a:t>
            </a:r>
            <a:endParaRPr lang="en-US" sz="900" dirty="0"/>
          </a:p>
        </p:txBody>
      </p:sp>
      <p:sp>
        <p:nvSpPr>
          <p:cNvPr id="3" name="Text 1"/>
          <p:cNvSpPr/>
          <p:nvPr/>
        </p:nvSpPr>
        <p:spPr>
          <a:xfrm>
            <a:off x="840607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2</a:t>
            </a:r>
            <a:endParaRPr lang="en-US" sz="900" dirty="0"/>
          </a:p>
        </p:txBody>
      </p:sp>
      <p:sp>
        <p:nvSpPr>
          <p:cNvPr id="4" name="Text 2"/>
          <p:cNvSpPr/>
          <p:nvPr/>
        </p:nvSpPr>
        <p:spPr>
          <a:xfrm>
            <a:off x="873526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3</a:t>
            </a:r>
            <a:endParaRPr lang="en-US" sz="900" dirty="0"/>
          </a:p>
        </p:txBody>
      </p:sp>
      <p:sp>
        <p:nvSpPr>
          <p:cNvPr id="5" name="Text 3"/>
          <p:cNvSpPr/>
          <p:nvPr/>
        </p:nvSpPr>
        <p:spPr>
          <a:xfrm>
            <a:off x="9064447"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9393631"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5</a:t>
            </a:r>
            <a:endParaRPr lang="en-US" sz="900" dirty="0"/>
          </a:p>
        </p:txBody>
      </p:sp>
      <p:sp>
        <p:nvSpPr>
          <p:cNvPr id="7" name="Text 5"/>
          <p:cNvSpPr/>
          <p:nvPr/>
        </p:nvSpPr>
        <p:spPr>
          <a:xfrm>
            <a:off x="972281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6</a:t>
            </a:r>
            <a:endParaRPr lang="en-US" sz="900" dirty="0"/>
          </a:p>
        </p:txBody>
      </p:sp>
      <p:sp>
        <p:nvSpPr>
          <p:cNvPr id="8" name="Text 6"/>
          <p:cNvSpPr/>
          <p:nvPr/>
        </p:nvSpPr>
        <p:spPr>
          <a:xfrm>
            <a:off x="10051999" y="292608"/>
            <a:ext cx="274320" cy="274320"/>
          </a:xfrm>
          <a:prstGeom prst="ellipse">
            <a:avLst/>
          </a:prstGeom>
          <a:solidFill>
            <a:srgbClr val="16A34A"/>
          </a:solidFill>
          <a:ln w="9525">
            <a:solidFill>
              <a:srgbClr val="16A34A"/>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7</a:t>
            </a:r>
            <a:endParaRPr lang="en-US" sz="900" dirty="0"/>
          </a:p>
        </p:txBody>
      </p:sp>
      <p:sp>
        <p:nvSpPr>
          <p:cNvPr id="9" name="Text 7"/>
          <p:cNvSpPr/>
          <p:nvPr/>
        </p:nvSpPr>
        <p:spPr>
          <a:xfrm>
            <a:off x="10381183"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8</a:t>
            </a:r>
            <a:endParaRPr lang="en-US" sz="900" dirty="0"/>
          </a:p>
        </p:txBody>
      </p:sp>
      <p:sp>
        <p:nvSpPr>
          <p:cNvPr id="10" name="Text 8"/>
          <p:cNvSpPr/>
          <p:nvPr/>
        </p:nvSpPr>
        <p:spPr>
          <a:xfrm>
            <a:off x="10710367"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9</a:t>
            </a:r>
            <a:endParaRPr lang="en-US" sz="900" dirty="0"/>
          </a:p>
        </p:txBody>
      </p:sp>
      <p:sp>
        <p:nvSpPr>
          <p:cNvPr id="11" name="Text 9"/>
          <p:cNvSpPr/>
          <p:nvPr/>
        </p:nvSpPr>
        <p:spPr>
          <a:xfrm>
            <a:off x="11039551"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10</a:t>
            </a:r>
            <a:endParaRPr lang="en-US" sz="900" dirty="0"/>
          </a:p>
        </p:txBody>
      </p:sp>
      <p:sp>
        <p:nvSpPr>
          <p:cNvPr id="12" name="Text 10"/>
          <p:cNvSpPr/>
          <p:nvPr/>
        </p:nvSpPr>
        <p:spPr>
          <a:xfrm>
            <a:off x="1136873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11</a:t>
            </a:r>
            <a:endParaRPr lang="en-US" sz="900" dirty="0"/>
          </a:p>
        </p:txBody>
      </p:sp>
      <p:sp>
        <p:nvSpPr>
          <p:cNvPr id="13" name="Shape 11"/>
          <p:cNvSpPr/>
          <p:nvPr/>
        </p:nvSpPr>
        <p:spPr>
          <a:xfrm>
            <a:off x="548640" y="384048"/>
            <a:ext cx="411480" cy="54864"/>
          </a:xfrm>
          <a:prstGeom prst="rect">
            <a:avLst/>
          </a:prstGeom>
          <a:solidFill>
            <a:srgbClr val="16A34A"/>
          </a:solidFill>
          <a:ln w="12700">
            <a:solidFill>
              <a:srgbClr val="16A34A"/>
            </a:solidFill>
            <a:prstDash val="solid"/>
          </a:ln>
        </p:spPr>
      </p:sp>
      <p:sp>
        <p:nvSpPr>
          <p:cNvPr id="14" name="Text 12"/>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15" name="Text 13"/>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Nội dung 7 · Sơ đồ kết nối hệ thống dựng từ BOM</a:t>
            </a:r>
            <a:endParaRPr lang="en-US" sz="2600" dirty="0"/>
          </a:p>
        </p:txBody>
      </p:sp>
      <p:sp>
        <p:nvSpPr>
          <p:cNvPr id="16" name="Text 14"/>
          <p:cNvSpPr/>
          <p:nvPr/>
        </p:nvSpPr>
        <p:spPr>
          <a:xfrm>
            <a:off x="548640" y="1380744"/>
            <a:ext cx="329184" cy="329184"/>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7" name="Text 15"/>
          <p:cNvSpPr/>
          <p:nvPr/>
        </p:nvSpPr>
        <p:spPr>
          <a:xfrm>
            <a:off x="1014984" y="1371600"/>
            <a:ext cx="4806544" cy="550164"/>
          </a:xfrm>
          <a:prstGeom prst="rect">
            <a:avLst/>
          </a:prstGeom>
          <a:noFill/>
          <a:ln/>
        </p:spPr>
        <p:txBody>
          <a:bodyPr wrap="square" lIns="0" tIns="0" rIns="0" bIns="0" rtlCol="0" anchor="t"/>
          <a:lstStyle/>
          <a:p>
            <a:pPr indent="0" marL="0">
              <a:buNone/>
            </a:pPr>
            <a:r>
              <a:rPr lang="en-US" sz="1500" dirty="0">
                <a:solidFill>
                  <a:srgbClr val="1E293B"/>
                </a:solidFill>
                <a:latin typeface="Segoe UI" pitchFamily="34" charset="0"/>
                <a:ea typeface="Segoe UI" pitchFamily="34" charset="-122"/>
                <a:cs typeface="Segoe UI" pitchFamily="34" charset="-120"/>
              </a:rPr>
              <a:t>Nhập thông tin điều kiện, sau đó chọn chức năng dựng từ BOM.</a:t>
            </a:r>
            <a:endParaRPr lang="en-US" sz="1500" dirty="0"/>
          </a:p>
        </p:txBody>
      </p:sp>
      <p:sp>
        <p:nvSpPr>
          <p:cNvPr id="18" name="Text 16"/>
          <p:cNvSpPr/>
          <p:nvPr/>
        </p:nvSpPr>
        <p:spPr>
          <a:xfrm>
            <a:off x="6370168" y="1380744"/>
            <a:ext cx="329184" cy="329184"/>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9" name="Text 17"/>
          <p:cNvSpPr/>
          <p:nvPr/>
        </p:nvSpPr>
        <p:spPr>
          <a:xfrm>
            <a:off x="6836512" y="1371600"/>
            <a:ext cx="4806544" cy="550164"/>
          </a:xfrm>
          <a:prstGeom prst="rect">
            <a:avLst/>
          </a:prstGeom>
          <a:noFill/>
          <a:ln/>
        </p:spPr>
        <p:txBody>
          <a:bodyPr wrap="square" lIns="0" tIns="0" rIns="0" bIns="0" rtlCol="0" anchor="t"/>
          <a:lstStyle/>
          <a:p>
            <a:pPr indent="0" marL="0">
              <a:buNone/>
            </a:pPr>
            <a:r>
              <a:rPr lang="en-US" sz="1500" dirty="0">
                <a:solidFill>
                  <a:srgbClr val="1E293B"/>
                </a:solidFill>
                <a:latin typeface="Segoe UI" pitchFamily="34" charset="0"/>
                <a:ea typeface="Segoe UI" pitchFamily="34" charset="-122"/>
                <a:cs typeface="Segoe UI" pitchFamily="34" charset="-120"/>
              </a:rPr>
              <a:t>Kéo thả các thành phần trên sơ đồ, chỉnh sửa thông tin theo cấu hình thực tế.</a:t>
            </a:r>
            <a:endParaRPr lang="en-US" sz="1500" dirty="0"/>
          </a:p>
        </p:txBody>
      </p:sp>
      <p:sp>
        <p:nvSpPr>
          <p:cNvPr id="20" name="Shape 18"/>
          <p:cNvSpPr/>
          <p:nvPr/>
        </p:nvSpPr>
        <p:spPr>
          <a:xfrm>
            <a:off x="521208" y="2075688"/>
            <a:ext cx="5327752" cy="2099193"/>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1" name="Image 0" descr="Hình minh họa 14">    </p:cNvPr>
          <p:cNvPicPr>
            <a:picLocks noChangeAspect="1"/>
          </p:cNvPicPr>
          <p:nvPr/>
        </p:nvPicPr>
        <p:blipFill>
          <a:blip r:embed="rId1"/>
          <a:stretch>
            <a:fillRect/>
          </a:stretch>
        </p:blipFill>
        <p:spPr>
          <a:xfrm>
            <a:off x="548640" y="2103120"/>
            <a:ext cx="5272888" cy="2044329"/>
          </a:xfrm>
          <a:prstGeom prst="rect">
            <a:avLst/>
          </a:prstGeom>
        </p:spPr>
      </p:pic>
      <p:sp>
        <p:nvSpPr>
          <p:cNvPr id="22" name="Shape 19"/>
          <p:cNvSpPr/>
          <p:nvPr/>
        </p:nvSpPr>
        <p:spPr>
          <a:xfrm>
            <a:off x="6342736" y="2075688"/>
            <a:ext cx="5327752" cy="2723047"/>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3" name="Image 1" descr="Hình minh họa 15">    </p:cNvPr>
          <p:cNvPicPr>
            <a:picLocks noChangeAspect="1"/>
          </p:cNvPicPr>
          <p:nvPr/>
        </p:nvPicPr>
        <p:blipFill>
          <a:blip r:embed="rId2"/>
          <a:stretch>
            <a:fillRect/>
          </a:stretch>
        </p:blipFill>
        <p:spPr>
          <a:xfrm>
            <a:off x="6370168" y="2103120"/>
            <a:ext cx="5272888" cy="2668183"/>
          </a:xfrm>
          <a:prstGeom prst="rect">
            <a:avLst/>
          </a:prstGeom>
        </p:spPr>
      </p:pic>
      <p:sp>
        <p:nvSpPr>
          <p:cNvPr id="24" name="Shape 20"/>
          <p:cNvSpPr/>
          <p:nvPr/>
        </p:nvSpPr>
        <p:spPr>
          <a:xfrm>
            <a:off x="5931256" y="3429000"/>
            <a:ext cx="329184" cy="292608"/>
          </a:xfrm>
          <a:prstGeom prst="rightArrow">
            <a:avLst/>
          </a:prstGeom>
          <a:solidFill>
            <a:srgbClr val="94A3B8"/>
          </a:solidFill>
          <a:ln w="12700">
            <a:solidFill>
              <a:srgbClr val="94A3B8"/>
            </a:solidFill>
            <a:prstDash val="solid"/>
          </a:ln>
        </p:spPr>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07689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a:t>
            </a:r>
            <a:endParaRPr lang="en-US" sz="900" dirty="0"/>
          </a:p>
        </p:txBody>
      </p:sp>
      <p:sp>
        <p:nvSpPr>
          <p:cNvPr id="3" name="Text 1"/>
          <p:cNvSpPr/>
          <p:nvPr/>
        </p:nvSpPr>
        <p:spPr>
          <a:xfrm>
            <a:off x="840607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2</a:t>
            </a:r>
            <a:endParaRPr lang="en-US" sz="900" dirty="0"/>
          </a:p>
        </p:txBody>
      </p:sp>
      <p:sp>
        <p:nvSpPr>
          <p:cNvPr id="4" name="Text 2"/>
          <p:cNvSpPr/>
          <p:nvPr/>
        </p:nvSpPr>
        <p:spPr>
          <a:xfrm>
            <a:off x="873526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3</a:t>
            </a:r>
            <a:endParaRPr lang="en-US" sz="900" dirty="0"/>
          </a:p>
        </p:txBody>
      </p:sp>
      <p:sp>
        <p:nvSpPr>
          <p:cNvPr id="5" name="Text 3"/>
          <p:cNvSpPr/>
          <p:nvPr/>
        </p:nvSpPr>
        <p:spPr>
          <a:xfrm>
            <a:off x="9064447"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9393631"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5</a:t>
            </a:r>
            <a:endParaRPr lang="en-US" sz="900" dirty="0"/>
          </a:p>
        </p:txBody>
      </p:sp>
      <p:sp>
        <p:nvSpPr>
          <p:cNvPr id="7" name="Text 5"/>
          <p:cNvSpPr/>
          <p:nvPr/>
        </p:nvSpPr>
        <p:spPr>
          <a:xfrm>
            <a:off x="972281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6</a:t>
            </a:r>
            <a:endParaRPr lang="en-US" sz="900" dirty="0"/>
          </a:p>
        </p:txBody>
      </p:sp>
      <p:sp>
        <p:nvSpPr>
          <p:cNvPr id="8" name="Text 6"/>
          <p:cNvSpPr/>
          <p:nvPr/>
        </p:nvSpPr>
        <p:spPr>
          <a:xfrm>
            <a:off x="1005199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7</a:t>
            </a:r>
            <a:endParaRPr lang="en-US" sz="900" dirty="0"/>
          </a:p>
        </p:txBody>
      </p:sp>
      <p:sp>
        <p:nvSpPr>
          <p:cNvPr id="9" name="Text 7"/>
          <p:cNvSpPr/>
          <p:nvPr/>
        </p:nvSpPr>
        <p:spPr>
          <a:xfrm>
            <a:off x="10381183" y="292608"/>
            <a:ext cx="274320" cy="274320"/>
          </a:xfrm>
          <a:prstGeom prst="ellipse">
            <a:avLst/>
          </a:prstGeom>
          <a:solidFill>
            <a:srgbClr val="16A34A"/>
          </a:solidFill>
          <a:ln w="9525">
            <a:solidFill>
              <a:srgbClr val="16A34A"/>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8</a:t>
            </a:r>
            <a:endParaRPr lang="en-US" sz="900" dirty="0"/>
          </a:p>
        </p:txBody>
      </p:sp>
      <p:sp>
        <p:nvSpPr>
          <p:cNvPr id="10" name="Text 8"/>
          <p:cNvSpPr/>
          <p:nvPr/>
        </p:nvSpPr>
        <p:spPr>
          <a:xfrm>
            <a:off x="10710367"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9</a:t>
            </a:r>
            <a:endParaRPr lang="en-US" sz="900" dirty="0"/>
          </a:p>
        </p:txBody>
      </p:sp>
      <p:sp>
        <p:nvSpPr>
          <p:cNvPr id="11" name="Text 9"/>
          <p:cNvSpPr/>
          <p:nvPr/>
        </p:nvSpPr>
        <p:spPr>
          <a:xfrm>
            <a:off x="11039551"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10</a:t>
            </a:r>
            <a:endParaRPr lang="en-US" sz="900" dirty="0"/>
          </a:p>
        </p:txBody>
      </p:sp>
      <p:sp>
        <p:nvSpPr>
          <p:cNvPr id="12" name="Text 10"/>
          <p:cNvSpPr/>
          <p:nvPr/>
        </p:nvSpPr>
        <p:spPr>
          <a:xfrm>
            <a:off x="1136873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11</a:t>
            </a:r>
            <a:endParaRPr lang="en-US" sz="900" dirty="0"/>
          </a:p>
        </p:txBody>
      </p:sp>
      <p:sp>
        <p:nvSpPr>
          <p:cNvPr id="13" name="Shape 11"/>
          <p:cNvSpPr/>
          <p:nvPr/>
        </p:nvSpPr>
        <p:spPr>
          <a:xfrm>
            <a:off x="548640" y="384048"/>
            <a:ext cx="411480" cy="54864"/>
          </a:xfrm>
          <a:prstGeom prst="rect">
            <a:avLst/>
          </a:prstGeom>
          <a:solidFill>
            <a:srgbClr val="16A34A"/>
          </a:solidFill>
          <a:ln w="12700">
            <a:solidFill>
              <a:srgbClr val="16A34A"/>
            </a:solidFill>
            <a:prstDash val="solid"/>
          </a:ln>
        </p:spPr>
      </p:sp>
      <p:sp>
        <p:nvSpPr>
          <p:cNvPr id="14" name="Text 12"/>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15" name="Text 13"/>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Nội dung 8 · Cycle time</a:t>
            </a:r>
            <a:endParaRPr lang="en-US" sz="2600" dirty="0"/>
          </a:p>
        </p:txBody>
      </p:sp>
      <p:sp>
        <p:nvSpPr>
          <p:cNvPr id="16" name="Text 14"/>
          <p:cNvSpPr/>
          <p:nvPr/>
        </p:nvSpPr>
        <p:spPr>
          <a:xfrm>
            <a:off x="548640" y="1472184"/>
            <a:ext cx="329184" cy="329184"/>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7" name="Text 15"/>
          <p:cNvSpPr/>
          <p:nvPr/>
        </p:nvSpPr>
        <p:spPr>
          <a:xfrm>
            <a:off x="1014984" y="1463040"/>
            <a:ext cx="3282696" cy="329184"/>
          </a:xfrm>
          <a:prstGeom prst="rect">
            <a:avLst/>
          </a:prstGeom>
          <a:noFill/>
          <a:ln/>
        </p:spPr>
        <p:txBody>
          <a:bodyPr wrap="square" lIns="0" tIns="0" rIns="0" bIns="0" rtlCol="0" anchor="t"/>
          <a:lstStyle/>
          <a:p>
            <a:pPr indent="0" marL="0">
              <a:buNone/>
            </a:pPr>
            <a:r>
              <a:rPr lang="en-US" sz="1600" dirty="0">
                <a:solidFill>
                  <a:srgbClr val="1E293B"/>
                </a:solidFill>
                <a:latin typeface="Segoe UI" pitchFamily="34" charset="0"/>
                <a:ea typeface="Segoe UI" pitchFamily="34" charset="-122"/>
                <a:cs typeface="Segoe UI" pitchFamily="34" charset="-120"/>
              </a:rPr>
              <a:t>Thêm từng tác vụ</a:t>
            </a:r>
            <a:endParaRPr lang="en-US" sz="1600" dirty="0"/>
          </a:p>
        </p:txBody>
      </p:sp>
      <p:sp>
        <p:nvSpPr>
          <p:cNvPr id="18" name="Text 16"/>
          <p:cNvSpPr/>
          <p:nvPr/>
        </p:nvSpPr>
        <p:spPr>
          <a:xfrm>
            <a:off x="548640" y="2075688"/>
            <a:ext cx="329184" cy="329184"/>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9" name="Text 17"/>
          <p:cNvSpPr/>
          <p:nvPr/>
        </p:nvSpPr>
        <p:spPr>
          <a:xfrm>
            <a:off x="1014984" y="2066544"/>
            <a:ext cx="3282696" cy="583184"/>
          </a:xfrm>
          <a:prstGeom prst="rect">
            <a:avLst/>
          </a:prstGeom>
          <a:noFill/>
          <a:ln/>
        </p:spPr>
        <p:txBody>
          <a:bodyPr wrap="square" lIns="0" tIns="0" rIns="0" bIns="0" rtlCol="0" anchor="t"/>
          <a:lstStyle/>
          <a:p>
            <a:pPr indent="0" marL="0">
              <a:buNone/>
            </a:pPr>
            <a:r>
              <a:rPr lang="en-US" sz="1600" dirty="0">
                <a:solidFill>
                  <a:srgbClr val="1E293B"/>
                </a:solidFill>
                <a:latin typeface="Segoe UI" pitchFamily="34" charset="0"/>
                <a:ea typeface="Segoe UI" pitchFamily="34" charset="-122"/>
                <a:cs typeface="Segoe UI" pitchFamily="34" charset="-120"/>
              </a:rPr>
              <a:t>Nhập nội dung cùng thời gian bắt đầu và kết thúc</a:t>
            </a:r>
            <a:endParaRPr lang="en-US" sz="1600" dirty="0"/>
          </a:p>
        </p:txBody>
      </p:sp>
      <p:sp>
        <p:nvSpPr>
          <p:cNvPr id="20" name="Text 18"/>
          <p:cNvSpPr/>
          <p:nvPr/>
        </p:nvSpPr>
        <p:spPr>
          <a:xfrm>
            <a:off x="548640" y="2933192"/>
            <a:ext cx="329184" cy="329184"/>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1" name="Text 19"/>
          <p:cNvSpPr/>
          <p:nvPr/>
        </p:nvSpPr>
        <p:spPr>
          <a:xfrm>
            <a:off x="1014984" y="2924048"/>
            <a:ext cx="3282696" cy="329184"/>
          </a:xfrm>
          <a:prstGeom prst="rect">
            <a:avLst/>
          </a:prstGeom>
          <a:noFill/>
          <a:ln/>
        </p:spPr>
        <p:txBody>
          <a:bodyPr wrap="square" lIns="0" tIns="0" rIns="0" bIns="0" rtlCol="0" anchor="t"/>
          <a:lstStyle/>
          <a:p>
            <a:pPr indent="0" marL="0">
              <a:buNone/>
            </a:pPr>
            <a:r>
              <a:rPr lang="en-US" sz="1600" dirty="0">
                <a:solidFill>
                  <a:srgbClr val="1E293B"/>
                </a:solidFill>
                <a:latin typeface="Segoe UI" pitchFamily="34" charset="0"/>
                <a:ea typeface="Segoe UI" pitchFamily="34" charset="-122"/>
                <a:cs typeface="Segoe UI" pitchFamily="34" charset="-120"/>
              </a:rPr>
              <a:t>Kiểm tra kết quả</a:t>
            </a:r>
            <a:endParaRPr lang="en-US" sz="1600" dirty="0"/>
          </a:p>
        </p:txBody>
      </p:sp>
      <p:sp>
        <p:nvSpPr>
          <p:cNvPr id="22" name="Shape 20"/>
          <p:cNvSpPr/>
          <p:nvPr/>
        </p:nvSpPr>
        <p:spPr>
          <a:xfrm>
            <a:off x="548640" y="5074920"/>
            <a:ext cx="3749040" cy="1097280"/>
          </a:xfrm>
          <a:prstGeom prst="rect">
            <a:avLst/>
          </a:prstGeom>
          <a:solidFill>
            <a:srgbClr val="ECFDF3"/>
          </a:solidFill>
          <a:ln w="9525">
            <a:solidFill>
              <a:srgbClr val="BBE5C8"/>
            </a:solidFill>
            <a:prstDash val="solid"/>
          </a:ln>
        </p:spPr>
      </p:sp>
      <p:sp>
        <p:nvSpPr>
          <p:cNvPr id="23" name="Shape 21"/>
          <p:cNvSpPr/>
          <p:nvPr/>
        </p:nvSpPr>
        <p:spPr>
          <a:xfrm>
            <a:off x="548640" y="5074920"/>
            <a:ext cx="64008" cy="1097280"/>
          </a:xfrm>
          <a:prstGeom prst="rect">
            <a:avLst/>
          </a:prstGeom>
          <a:solidFill>
            <a:srgbClr val="16A34A"/>
          </a:solidFill>
          <a:ln w="12700">
            <a:solidFill>
              <a:srgbClr val="16A34A"/>
            </a:solidFill>
            <a:prstDash val="solid"/>
          </a:ln>
        </p:spPr>
      </p:sp>
      <p:sp>
        <p:nvSpPr>
          <p:cNvPr id="24" name="Text 22"/>
          <p:cNvSpPr/>
          <p:nvPr/>
        </p:nvSpPr>
        <p:spPr>
          <a:xfrm>
            <a:off x="749808" y="5129784"/>
            <a:ext cx="3456432" cy="987552"/>
          </a:xfrm>
          <a:prstGeom prst="rect">
            <a:avLst/>
          </a:prstGeom>
          <a:noFill/>
          <a:ln/>
        </p:spPr>
        <p:txBody>
          <a:bodyPr wrap="square" lIns="0" tIns="0" rIns="0" bIns="0" rtlCol="0" anchor="ctr"/>
          <a:lstStyle/>
          <a:p>
            <a:pPr indent="0" marL="0">
              <a:spcAft>
                <a:spcPts val="200"/>
              </a:spcAft>
              <a:buNone/>
            </a:pPr>
            <a:r>
              <a:rPr lang="en-US" sz="1100" b="1" spc="100" kern="0" dirty="0">
                <a:solidFill>
                  <a:srgbClr val="16A34A"/>
                </a:solidFill>
                <a:latin typeface="Segoe UI" pitchFamily="34" charset="0"/>
                <a:ea typeface="Segoe UI" pitchFamily="34" charset="-122"/>
                <a:cs typeface="Segoe UI" pitchFamily="34" charset="-120"/>
              </a:rPr>
              <a:t>LƯU Ý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Kiểm tra định dạng và thứ tự thời gian bắt đầu / kết thúc của từng tác vụ.</a:t>
            </a:r>
            <a:endParaRPr lang="en-US" sz="1400" dirty="0"/>
          </a:p>
        </p:txBody>
      </p:sp>
      <p:sp>
        <p:nvSpPr>
          <p:cNvPr id="25" name="Shape 23"/>
          <p:cNvSpPr/>
          <p:nvPr/>
        </p:nvSpPr>
        <p:spPr>
          <a:xfrm>
            <a:off x="4636008" y="1344168"/>
            <a:ext cx="7034479" cy="3945528"/>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6" name="Image 0" descr="Hình minh họa 17">    </p:cNvPr>
          <p:cNvPicPr>
            <a:picLocks noChangeAspect="1"/>
          </p:cNvPicPr>
          <p:nvPr/>
        </p:nvPicPr>
        <p:blipFill>
          <a:blip r:embed="rId1"/>
          <a:stretch>
            <a:fillRect/>
          </a:stretch>
        </p:blipFill>
        <p:spPr>
          <a:xfrm>
            <a:off x="4663440" y="1371600"/>
            <a:ext cx="6979615" cy="3890664"/>
          </a:xfrm>
          <a:prstGeom prst="rect">
            <a:avLst/>
          </a:prstGeom>
        </p:spPr>
      </p:pic>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07689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a:t>
            </a:r>
            <a:endParaRPr lang="en-US" sz="900" dirty="0"/>
          </a:p>
        </p:txBody>
      </p:sp>
      <p:sp>
        <p:nvSpPr>
          <p:cNvPr id="3" name="Text 1"/>
          <p:cNvSpPr/>
          <p:nvPr/>
        </p:nvSpPr>
        <p:spPr>
          <a:xfrm>
            <a:off x="840607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2</a:t>
            </a:r>
            <a:endParaRPr lang="en-US" sz="900" dirty="0"/>
          </a:p>
        </p:txBody>
      </p:sp>
      <p:sp>
        <p:nvSpPr>
          <p:cNvPr id="4" name="Text 2"/>
          <p:cNvSpPr/>
          <p:nvPr/>
        </p:nvSpPr>
        <p:spPr>
          <a:xfrm>
            <a:off x="873526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3</a:t>
            </a:r>
            <a:endParaRPr lang="en-US" sz="900" dirty="0"/>
          </a:p>
        </p:txBody>
      </p:sp>
      <p:sp>
        <p:nvSpPr>
          <p:cNvPr id="5" name="Text 3"/>
          <p:cNvSpPr/>
          <p:nvPr/>
        </p:nvSpPr>
        <p:spPr>
          <a:xfrm>
            <a:off x="9064447"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9393631"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5</a:t>
            </a:r>
            <a:endParaRPr lang="en-US" sz="900" dirty="0"/>
          </a:p>
        </p:txBody>
      </p:sp>
      <p:sp>
        <p:nvSpPr>
          <p:cNvPr id="7" name="Text 5"/>
          <p:cNvSpPr/>
          <p:nvPr/>
        </p:nvSpPr>
        <p:spPr>
          <a:xfrm>
            <a:off x="972281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6</a:t>
            </a:r>
            <a:endParaRPr lang="en-US" sz="900" dirty="0"/>
          </a:p>
        </p:txBody>
      </p:sp>
      <p:sp>
        <p:nvSpPr>
          <p:cNvPr id="8" name="Text 6"/>
          <p:cNvSpPr/>
          <p:nvPr/>
        </p:nvSpPr>
        <p:spPr>
          <a:xfrm>
            <a:off x="1005199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7</a:t>
            </a:r>
            <a:endParaRPr lang="en-US" sz="900" dirty="0"/>
          </a:p>
        </p:txBody>
      </p:sp>
      <p:sp>
        <p:nvSpPr>
          <p:cNvPr id="9" name="Text 7"/>
          <p:cNvSpPr/>
          <p:nvPr/>
        </p:nvSpPr>
        <p:spPr>
          <a:xfrm>
            <a:off x="1038118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8</a:t>
            </a:r>
            <a:endParaRPr lang="en-US" sz="900" dirty="0"/>
          </a:p>
        </p:txBody>
      </p:sp>
      <p:sp>
        <p:nvSpPr>
          <p:cNvPr id="10" name="Text 8"/>
          <p:cNvSpPr/>
          <p:nvPr/>
        </p:nvSpPr>
        <p:spPr>
          <a:xfrm>
            <a:off x="10710367" y="292608"/>
            <a:ext cx="274320" cy="274320"/>
          </a:xfrm>
          <a:prstGeom prst="ellipse">
            <a:avLst/>
          </a:prstGeom>
          <a:solidFill>
            <a:srgbClr val="16A34A"/>
          </a:solidFill>
          <a:ln w="9525">
            <a:solidFill>
              <a:srgbClr val="16A34A"/>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9</a:t>
            </a:r>
            <a:endParaRPr lang="en-US" sz="900" dirty="0"/>
          </a:p>
        </p:txBody>
      </p:sp>
      <p:sp>
        <p:nvSpPr>
          <p:cNvPr id="11" name="Text 9"/>
          <p:cNvSpPr/>
          <p:nvPr/>
        </p:nvSpPr>
        <p:spPr>
          <a:xfrm>
            <a:off x="11039551"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10</a:t>
            </a:r>
            <a:endParaRPr lang="en-US" sz="900" dirty="0"/>
          </a:p>
        </p:txBody>
      </p:sp>
      <p:sp>
        <p:nvSpPr>
          <p:cNvPr id="12" name="Text 10"/>
          <p:cNvSpPr/>
          <p:nvPr/>
        </p:nvSpPr>
        <p:spPr>
          <a:xfrm>
            <a:off x="1136873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11</a:t>
            </a:r>
            <a:endParaRPr lang="en-US" sz="900" dirty="0"/>
          </a:p>
        </p:txBody>
      </p:sp>
      <p:sp>
        <p:nvSpPr>
          <p:cNvPr id="13" name="Shape 11"/>
          <p:cNvSpPr/>
          <p:nvPr/>
        </p:nvSpPr>
        <p:spPr>
          <a:xfrm>
            <a:off x="548640" y="384048"/>
            <a:ext cx="411480" cy="54864"/>
          </a:xfrm>
          <a:prstGeom prst="rect">
            <a:avLst/>
          </a:prstGeom>
          <a:solidFill>
            <a:srgbClr val="16A34A"/>
          </a:solidFill>
          <a:ln w="12700">
            <a:solidFill>
              <a:srgbClr val="16A34A"/>
            </a:solidFill>
            <a:prstDash val="solid"/>
          </a:ln>
        </p:spPr>
      </p:sp>
      <p:sp>
        <p:nvSpPr>
          <p:cNvPr id="14" name="Text 12"/>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15" name="Text 13"/>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Nội dung 9 · Thông tin / ảnh đánh giá: 2 phương án</a:t>
            </a:r>
            <a:endParaRPr lang="en-US" sz="2600" dirty="0"/>
          </a:p>
        </p:txBody>
      </p:sp>
      <p:sp>
        <p:nvSpPr>
          <p:cNvPr id="16" name="Shape 14"/>
          <p:cNvSpPr/>
          <p:nvPr/>
        </p:nvSpPr>
        <p:spPr>
          <a:xfrm>
            <a:off x="548640" y="1371600"/>
            <a:ext cx="5364328" cy="1005840"/>
          </a:xfrm>
          <a:prstGeom prst="roundRect">
            <a:avLst>
              <a:gd name="adj" fmla="val 7273"/>
            </a:avLst>
          </a:prstGeom>
          <a:solidFill>
            <a:srgbClr val="FFFFFF"/>
          </a:solidFill>
          <a:ln w="9525">
            <a:solidFill>
              <a:srgbClr val="E2E8F0"/>
            </a:solidFill>
            <a:prstDash val="solid"/>
          </a:ln>
        </p:spPr>
      </p:sp>
      <p:sp>
        <p:nvSpPr>
          <p:cNvPr id="17" name="Text 15"/>
          <p:cNvSpPr/>
          <p:nvPr/>
        </p:nvSpPr>
        <p:spPr>
          <a:xfrm>
            <a:off x="731520" y="1417320"/>
            <a:ext cx="4998568" cy="914400"/>
          </a:xfrm>
          <a:prstGeom prst="rect">
            <a:avLst/>
          </a:prstGeom>
          <a:noFill/>
          <a:ln/>
        </p:spPr>
        <p:txBody>
          <a:bodyPr wrap="square" lIns="0" tIns="0" rIns="0" bIns="0" rtlCol="0" anchor="ctr"/>
          <a:lstStyle/>
          <a:p>
            <a:pPr indent="0" marL="0">
              <a:buNone/>
            </a:pPr>
            <a:r>
              <a:rPr lang="en-US" sz="1500" b="1" dirty="0">
                <a:solidFill>
                  <a:srgbClr val="0F172A"/>
                </a:solidFill>
                <a:latin typeface="Segoe UI" pitchFamily="34" charset="0"/>
                <a:ea typeface="Segoe UI" pitchFamily="34" charset="-122"/>
                <a:cs typeface="Segoe UI" pitchFamily="34" charset="-120"/>
              </a:rPr>
              <a:t>Phương án 1 · Thủ công
</a:t>
            </a:r>
            <a:pPr indent="0" marL="0">
              <a:buNone/>
            </a:pPr>
            <a:r>
              <a:rPr lang="en-US" sz="1400" dirty="0">
                <a:solidFill>
                  <a:srgbClr val="1E293B"/>
                </a:solidFill>
                <a:latin typeface="Segoe UI" pitchFamily="34" charset="0"/>
                <a:ea typeface="Segoe UI" pitchFamily="34" charset="-122"/>
                <a:cs typeface="Segoe UI" pitchFamily="34" charset="-120"/>
              </a:rPr>
              <a:t>Chọn “Thêm mẫu”, tạo thủ công các trường thông tin và import ảnh.</a:t>
            </a:r>
            <a:endParaRPr lang="en-US" sz="1500" dirty="0"/>
          </a:p>
        </p:txBody>
      </p:sp>
      <p:sp>
        <p:nvSpPr>
          <p:cNvPr id="18" name="Shape 16"/>
          <p:cNvSpPr/>
          <p:nvPr/>
        </p:nvSpPr>
        <p:spPr>
          <a:xfrm>
            <a:off x="521208" y="2532888"/>
            <a:ext cx="5419192" cy="1898691"/>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9" name="Image 0" descr="Hình minh họa 19">    </p:cNvPr>
          <p:cNvPicPr>
            <a:picLocks noChangeAspect="1"/>
          </p:cNvPicPr>
          <p:nvPr/>
        </p:nvPicPr>
        <p:blipFill>
          <a:blip r:embed="rId1"/>
          <a:stretch>
            <a:fillRect/>
          </a:stretch>
        </p:blipFill>
        <p:spPr>
          <a:xfrm>
            <a:off x="548640" y="2560320"/>
            <a:ext cx="5364328" cy="1843827"/>
          </a:xfrm>
          <a:prstGeom prst="rect">
            <a:avLst/>
          </a:prstGeom>
        </p:spPr>
      </p:pic>
      <p:sp>
        <p:nvSpPr>
          <p:cNvPr id="20" name="Text 17"/>
          <p:cNvSpPr/>
          <p:nvPr/>
        </p:nvSpPr>
        <p:spPr>
          <a:xfrm>
            <a:off x="548640" y="4477299"/>
            <a:ext cx="5364328"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Thêm mẫu thủ công</a:t>
            </a:r>
            <a:endParaRPr lang="en-US" sz="1100" dirty="0"/>
          </a:p>
        </p:txBody>
      </p:sp>
      <p:sp>
        <p:nvSpPr>
          <p:cNvPr id="21" name="Shape 18"/>
          <p:cNvSpPr/>
          <p:nvPr/>
        </p:nvSpPr>
        <p:spPr>
          <a:xfrm>
            <a:off x="6278728" y="1371600"/>
            <a:ext cx="5364328" cy="1005840"/>
          </a:xfrm>
          <a:prstGeom prst="roundRect">
            <a:avLst>
              <a:gd name="adj" fmla="val 7273"/>
            </a:avLst>
          </a:prstGeom>
          <a:solidFill>
            <a:srgbClr val="ECFDF3"/>
          </a:solidFill>
          <a:ln w="9525">
            <a:solidFill>
              <a:srgbClr val="BBE5C8"/>
            </a:solidFill>
            <a:prstDash val="solid"/>
          </a:ln>
        </p:spPr>
      </p:sp>
      <p:sp>
        <p:nvSpPr>
          <p:cNvPr id="22" name="Text 19"/>
          <p:cNvSpPr/>
          <p:nvPr/>
        </p:nvSpPr>
        <p:spPr>
          <a:xfrm>
            <a:off x="6461608" y="1417320"/>
            <a:ext cx="4998568" cy="914400"/>
          </a:xfrm>
          <a:prstGeom prst="rect">
            <a:avLst/>
          </a:prstGeom>
          <a:noFill/>
          <a:ln/>
        </p:spPr>
        <p:txBody>
          <a:bodyPr wrap="square" lIns="0" tIns="0" rIns="0" bIns="0" rtlCol="0" anchor="ctr"/>
          <a:lstStyle/>
          <a:p>
            <a:pPr indent="0" marL="0">
              <a:buNone/>
            </a:pPr>
            <a:r>
              <a:rPr lang="en-US" sz="1500" b="1" dirty="0">
                <a:solidFill>
                  <a:srgbClr val="16A34A"/>
                </a:solidFill>
                <a:latin typeface="Segoe UI" pitchFamily="34" charset="0"/>
                <a:ea typeface="Segoe UI" pitchFamily="34" charset="-122"/>
                <a:cs typeface="Segoe UI" pitchFamily="34" charset="-120"/>
              </a:rPr>
              <a:t>Phương án 2 · Import Excel
</a:t>
            </a:r>
            <a:pPr indent="0" marL="0">
              <a:buNone/>
            </a:pPr>
            <a:r>
              <a:rPr lang="en-US" sz="1400" dirty="0">
                <a:solidFill>
                  <a:srgbClr val="1E293B"/>
                </a:solidFill>
                <a:latin typeface="Segoe UI" pitchFamily="34" charset="0"/>
                <a:ea typeface="Segoe UI" pitchFamily="34" charset="-122"/>
                <a:cs typeface="Segoe UI" pitchFamily="34" charset="-120"/>
              </a:rPr>
              <a:t>Import file Excel từ phần mềm đánh giá; các trường thông tin tự động đưa vào báo cáo.</a:t>
            </a:r>
            <a:endParaRPr lang="en-US" sz="1500" dirty="0"/>
          </a:p>
        </p:txBody>
      </p:sp>
      <p:sp>
        <p:nvSpPr>
          <p:cNvPr id="23" name="Shape 20"/>
          <p:cNvSpPr/>
          <p:nvPr/>
        </p:nvSpPr>
        <p:spPr>
          <a:xfrm>
            <a:off x="6251296" y="2532888"/>
            <a:ext cx="5419192" cy="2939135"/>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4" name="Image 1" descr="Hình minh họa 20">    </p:cNvPr>
          <p:cNvPicPr>
            <a:picLocks noChangeAspect="1"/>
          </p:cNvPicPr>
          <p:nvPr/>
        </p:nvPicPr>
        <p:blipFill>
          <a:blip r:embed="rId2"/>
          <a:stretch>
            <a:fillRect/>
          </a:stretch>
        </p:blipFill>
        <p:spPr>
          <a:xfrm>
            <a:off x="6278728" y="2560320"/>
            <a:ext cx="5364328" cy="2884271"/>
          </a:xfrm>
          <a:prstGeom prst="rect">
            <a:avLst/>
          </a:prstGeom>
        </p:spPr>
      </p:pic>
      <p:sp>
        <p:nvSpPr>
          <p:cNvPr id="25" name="Text 21"/>
          <p:cNvSpPr/>
          <p:nvPr/>
        </p:nvSpPr>
        <p:spPr>
          <a:xfrm>
            <a:off x="6278728" y="5517743"/>
            <a:ext cx="5364328"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Kết quả sau khi import</a:t>
            </a:r>
            <a:endParaRPr lang="en-US" sz="1100" dirty="0"/>
          </a:p>
        </p:txBody>
      </p:sp>
      <p:sp>
        <p:nvSpPr>
          <p:cNvPr id="26" name="Shape 22"/>
          <p:cNvSpPr/>
          <p:nvPr/>
        </p:nvSpPr>
        <p:spPr>
          <a:xfrm>
            <a:off x="548640" y="5532120"/>
            <a:ext cx="11094415" cy="640080"/>
          </a:xfrm>
          <a:prstGeom prst="rect">
            <a:avLst/>
          </a:prstGeom>
          <a:solidFill>
            <a:srgbClr val="ECFDF3"/>
          </a:solidFill>
          <a:ln w="9525">
            <a:solidFill>
              <a:srgbClr val="BBE5C8"/>
            </a:solidFill>
            <a:prstDash val="solid"/>
          </a:ln>
        </p:spPr>
      </p:sp>
      <p:sp>
        <p:nvSpPr>
          <p:cNvPr id="27" name="Shape 23"/>
          <p:cNvSpPr/>
          <p:nvPr/>
        </p:nvSpPr>
        <p:spPr>
          <a:xfrm>
            <a:off x="548640" y="5532120"/>
            <a:ext cx="64008" cy="640080"/>
          </a:xfrm>
          <a:prstGeom prst="rect">
            <a:avLst/>
          </a:prstGeom>
          <a:solidFill>
            <a:srgbClr val="16A34A"/>
          </a:solidFill>
          <a:ln w="12700">
            <a:solidFill>
              <a:srgbClr val="16A34A"/>
            </a:solidFill>
            <a:prstDash val="solid"/>
          </a:ln>
        </p:spPr>
      </p:sp>
      <p:sp>
        <p:nvSpPr>
          <p:cNvPr id="28" name="Text 24"/>
          <p:cNvSpPr/>
          <p:nvPr/>
        </p:nvSpPr>
        <p:spPr>
          <a:xfrm>
            <a:off x="749808" y="5586984"/>
            <a:ext cx="10801807" cy="530352"/>
          </a:xfrm>
          <a:prstGeom prst="rect">
            <a:avLst/>
          </a:prstGeom>
          <a:noFill/>
          <a:ln/>
        </p:spPr>
        <p:txBody>
          <a:bodyPr wrap="square" lIns="0" tIns="0" rIns="0" bIns="0" rtlCol="0" anchor="ctr"/>
          <a:lstStyle/>
          <a:p>
            <a:pPr indent="0" marL="0">
              <a:spcAft>
                <a:spcPts val="200"/>
              </a:spcAft>
              <a:buNone/>
            </a:pPr>
            <a:r>
              <a:rPr lang="en-US" sz="1100" b="1" spc="100" kern="0" dirty="0">
                <a:solidFill>
                  <a:srgbClr val="16A34A"/>
                </a:solidFill>
                <a:latin typeface="Segoe UI" pitchFamily="34" charset="0"/>
                <a:ea typeface="Segoe UI" pitchFamily="34" charset="-122"/>
                <a:cs typeface="Segoe UI" pitchFamily="34" charset="-120"/>
              </a:rPr>
              <a:t>LƯU Ý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Sau khi import, kiểm tra lại dữ liệu được tự động điền trong báo cáo.</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07689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a:t>
            </a:r>
            <a:endParaRPr lang="en-US" sz="900" dirty="0"/>
          </a:p>
        </p:txBody>
      </p:sp>
      <p:sp>
        <p:nvSpPr>
          <p:cNvPr id="3" name="Text 1"/>
          <p:cNvSpPr/>
          <p:nvPr/>
        </p:nvSpPr>
        <p:spPr>
          <a:xfrm>
            <a:off x="840607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2</a:t>
            </a:r>
            <a:endParaRPr lang="en-US" sz="900" dirty="0"/>
          </a:p>
        </p:txBody>
      </p:sp>
      <p:sp>
        <p:nvSpPr>
          <p:cNvPr id="4" name="Text 2"/>
          <p:cNvSpPr/>
          <p:nvPr/>
        </p:nvSpPr>
        <p:spPr>
          <a:xfrm>
            <a:off x="873526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3</a:t>
            </a:r>
            <a:endParaRPr lang="en-US" sz="900" dirty="0"/>
          </a:p>
        </p:txBody>
      </p:sp>
      <p:sp>
        <p:nvSpPr>
          <p:cNvPr id="5" name="Text 3"/>
          <p:cNvSpPr/>
          <p:nvPr/>
        </p:nvSpPr>
        <p:spPr>
          <a:xfrm>
            <a:off x="9064447"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9393631"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5</a:t>
            </a:r>
            <a:endParaRPr lang="en-US" sz="900" dirty="0"/>
          </a:p>
        </p:txBody>
      </p:sp>
      <p:sp>
        <p:nvSpPr>
          <p:cNvPr id="7" name="Text 5"/>
          <p:cNvSpPr/>
          <p:nvPr/>
        </p:nvSpPr>
        <p:spPr>
          <a:xfrm>
            <a:off x="972281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6</a:t>
            </a:r>
            <a:endParaRPr lang="en-US" sz="900" dirty="0"/>
          </a:p>
        </p:txBody>
      </p:sp>
      <p:sp>
        <p:nvSpPr>
          <p:cNvPr id="8" name="Text 6"/>
          <p:cNvSpPr/>
          <p:nvPr/>
        </p:nvSpPr>
        <p:spPr>
          <a:xfrm>
            <a:off x="1005199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7</a:t>
            </a:r>
            <a:endParaRPr lang="en-US" sz="900" dirty="0"/>
          </a:p>
        </p:txBody>
      </p:sp>
      <p:sp>
        <p:nvSpPr>
          <p:cNvPr id="9" name="Text 7"/>
          <p:cNvSpPr/>
          <p:nvPr/>
        </p:nvSpPr>
        <p:spPr>
          <a:xfrm>
            <a:off x="1038118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8</a:t>
            </a:r>
            <a:endParaRPr lang="en-US" sz="900" dirty="0"/>
          </a:p>
        </p:txBody>
      </p:sp>
      <p:sp>
        <p:nvSpPr>
          <p:cNvPr id="10" name="Text 8"/>
          <p:cNvSpPr/>
          <p:nvPr/>
        </p:nvSpPr>
        <p:spPr>
          <a:xfrm>
            <a:off x="10710367"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9</a:t>
            </a:r>
            <a:endParaRPr lang="en-US" sz="900" dirty="0"/>
          </a:p>
        </p:txBody>
      </p:sp>
      <p:sp>
        <p:nvSpPr>
          <p:cNvPr id="11" name="Text 9"/>
          <p:cNvSpPr/>
          <p:nvPr/>
        </p:nvSpPr>
        <p:spPr>
          <a:xfrm>
            <a:off x="11039551" y="292608"/>
            <a:ext cx="274320" cy="274320"/>
          </a:xfrm>
          <a:prstGeom prst="ellipse">
            <a:avLst/>
          </a:prstGeom>
          <a:solidFill>
            <a:srgbClr val="16A34A"/>
          </a:solidFill>
          <a:ln w="9525">
            <a:solidFill>
              <a:srgbClr val="16A34A"/>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10</a:t>
            </a:r>
            <a:endParaRPr lang="en-US" sz="900" dirty="0"/>
          </a:p>
        </p:txBody>
      </p:sp>
      <p:sp>
        <p:nvSpPr>
          <p:cNvPr id="12" name="Text 10"/>
          <p:cNvSpPr/>
          <p:nvPr/>
        </p:nvSpPr>
        <p:spPr>
          <a:xfrm>
            <a:off x="11368735" y="292608"/>
            <a:ext cx="274320" cy="274320"/>
          </a:xfrm>
          <a:prstGeom prst="ellipse">
            <a:avLst/>
          </a:prstGeom>
          <a:solidFill>
            <a:srgbClr val="F1F5F9"/>
          </a:solidFill>
          <a:ln w="9525">
            <a:solidFill>
              <a:srgbClr val="CBD5E1"/>
            </a:solidFill>
          </a:ln>
        </p:spPr>
        <p:txBody>
          <a:bodyPr wrap="square" lIns="0" tIns="0" rIns="0" bIns="0"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11</a:t>
            </a:r>
            <a:endParaRPr lang="en-US" sz="900" dirty="0"/>
          </a:p>
        </p:txBody>
      </p:sp>
      <p:sp>
        <p:nvSpPr>
          <p:cNvPr id="13" name="Shape 11"/>
          <p:cNvSpPr/>
          <p:nvPr/>
        </p:nvSpPr>
        <p:spPr>
          <a:xfrm>
            <a:off x="548640" y="384048"/>
            <a:ext cx="411480" cy="54864"/>
          </a:xfrm>
          <a:prstGeom prst="rect">
            <a:avLst/>
          </a:prstGeom>
          <a:solidFill>
            <a:srgbClr val="16A34A"/>
          </a:solidFill>
          <a:ln w="12700">
            <a:solidFill>
              <a:srgbClr val="16A34A"/>
            </a:solidFill>
            <a:prstDash val="solid"/>
          </a:ln>
        </p:spPr>
      </p:sp>
      <p:sp>
        <p:nvSpPr>
          <p:cNvPr id="14" name="Text 12"/>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15" name="Text 13"/>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Nội dung 10 · Đánh giá nhận dữ liệu từ Nội dung 9</a:t>
            </a:r>
            <a:endParaRPr lang="en-US" sz="2600" dirty="0"/>
          </a:p>
        </p:txBody>
      </p:sp>
      <p:sp>
        <p:nvSpPr>
          <p:cNvPr id="16" name="Text 14"/>
          <p:cNvSpPr/>
          <p:nvPr/>
        </p:nvSpPr>
        <p:spPr>
          <a:xfrm>
            <a:off x="548640" y="1371600"/>
            <a:ext cx="3749040" cy="822960"/>
          </a:xfrm>
          <a:prstGeom prst="rect">
            <a:avLst/>
          </a:prstGeom>
          <a:noFill/>
          <a:ln/>
        </p:spPr>
        <p:txBody>
          <a:bodyPr wrap="square" lIns="0" tIns="0" rIns="0" bIns="0" rtlCol="0" anchor="t"/>
          <a:lstStyle/>
          <a:p>
            <a:pPr indent="0" marL="0">
              <a:buNone/>
            </a:pPr>
            <a:r>
              <a:rPr lang="en-US" sz="1600" dirty="0">
                <a:solidFill>
                  <a:srgbClr val="1E293B"/>
                </a:solidFill>
                <a:latin typeface="Segoe UI" pitchFamily="34" charset="0"/>
                <a:ea typeface="Segoe UI" pitchFamily="34" charset="-122"/>
                <a:cs typeface="Segoe UI" pitchFamily="34" charset="-120"/>
              </a:rPr>
              <a:t>Sau khi hoàn thành Nội dung 9, dữ liệu tương ứng được chuyển sang mục này.</a:t>
            </a:r>
            <a:endParaRPr lang="en-US" sz="1600" dirty="0"/>
          </a:p>
        </p:txBody>
      </p:sp>
      <p:sp>
        <p:nvSpPr>
          <p:cNvPr id="17" name="Shape 15"/>
          <p:cNvSpPr/>
          <p:nvPr/>
        </p:nvSpPr>
        <p:spPr>
          <a:xfrm>
            <a:off x="548640" y="2377440"/>
            <a:ext cx="3749040" cy="1325880"/>
          </a:xfrm>
          <a:prstGeom prst="roundRect">
            <a:avLst>
              <a:gd name="adj" fmla="val 5517"/>
            </a:avLst>
          </a:prstGeom>
          <a:solidFill>
            <a:srgbClr val="FFFFFF"/>
          </a:solidFill>
          <a:ln w="9525">
            <a:solidFill>
              <a:srgbClr val="E2E8F0"/>
            </a:solidFill>
            <a:prstDash val="solid"/>
          </a:ln>
        </p:spPr>
      </p:sp>
      <p:sp>
        <p:nvSpPr>
          <p:cNvPr id="18" name="Text 16"/>
          <p:cNvSpPr/>
          <p:nvPr/>
        </p:nvSpPr>
        <p:spPr>
          <a:xfrm>
            <a:off x="731520" y="2423160"/>
            <a:ext cx="3383280" cy="1234440"/>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Phương án 1
</a:t>
            </a:r>
            <a:pPr indent="0" marL="0">
              <a:buNone/>
            </a:pPr>
            <a:r>
              <a:rPr lang="en-US" sz="1500" dirty="0">
                <a:solidFill>
                  <a:srgbClr val="1E293B"/>
                </a:solidFill>
                <a:latin typeface="Segoe UI" pitchFamily="34" charset="0"/>
                <a:ea typeface="Segoe UI" pitchFamily="34" charset="-122"/>
                <a:cs typeface="Segoe UI" pitchFamily="34" charset="-120"/>
              </a:rPr>
              <a:t>Chọn / nhập kết quả đánh giá thủ công.</a:t>
            </a:r>
            <a:endParaRPr lang="en-US" sz="1500" dirty="0"/>
          </a:p>
        </p:txBody>
      </p:sp>
      <p:sp>
        <p:nvSpPr>
          <p:cNvPr id="19" name="Shape 17"/>
          <p:cNvSpPr/>
          <p:nvPr/>
        </p:nvSpPr>
        <p:spPr>
          <a:xfrm>
            <a:off x="548640" y="3886200"/>
            <a:ext cx="3749040" cy="1508760"/>
          </a:xfrm>
          <a:prstGeom prst="roundRect">
            <a:avLst>
              <a:gd name="adj" fmla="val 4848"/>
            </a:avLst>
          </a:prstGeom>
          <a:solidFill>
            <a:srgbClr val="ECFDF3"/>
          </a:solidFill>
          <a:ln w="9525">
            <a:solidFill>
              <a:srgbClr val="BBE5C8"/>
            </a:solidFill>
            <a:prstDash val="solid"/>
          </a:ln>
        </p:spPr>
      </p:sp>
      <p:sp>
        <p:nvSpPr>
          <p:cNvPr id="20" name="Text 18"/>
          <p:cNvSpPr/>
          <p:nvPr/>
        </p:nvSpPr>
        <p:spPr>
          <a:xfrm>
            <a:off x="731520" y="3931920"/>
            <a:ext cx="3383280" cy="1417320"/>
          </a:xfrm>
          <a:prstGeom prst="rect">
            <a:avLst/>
          </a:prstGeom>
          <a:noFill/>
          <a:ln/>
        </p:spPr>
        <p:txBody>
          <a:bodyPr wrap="square" lIns="0" tIns="0" rIns="0" bIns="0" rtlCol="0" anchor="ctr"/>
          <a:lstStyle/>
          <a:p>
            <a:pPr indent="0" marL="0">
              <a:buNone/>
            </a:pPr>
            <a:r>
              <a:rPr lang="en-US" sz="1400" b="1" dirty="0">
                <a:solidFill>
                  <a:srgbClr val="16A34A"/>
                </a:solidFill>
                <a:latin typeface="Segoe UI" pitchFamily="34" charset="0"/>
                <a:ea typeface="Segoe UI" pitchFamily="34" charset="-122"/>
                <a:cs typeface="Segoe UI" pitchFamily="34" charset="-120"/>
              </a:rPr>
              <a:t>Phương án 2
</a:t>
            </a:r>
            <a:pPr indent="0" marL="0">
              <a:buNone/>
            </a:pPr>
            <a:r>
              <a:rPr lang="en-US" sz="1500" dirty="0">
                <a:solidFill>
                  <a:srgbClr val="1E293B"/>
                </a:solidFill>
                <a:latin typeface="Segoe UI" pitchFamily="34" charset="0"/>
                <a:ea typeface="Segoe UI" pitchFamily="34" charset="-122"/>
                <a:cs typeface="Segoe UI" pitchFamily="34" charset="-120"/>
              </a:rPr>
              <a:t>Khi import Excel tại Nội dung 9, kết quả đánh giá tự động chuyển sang Nội dung 10.</a:t>
            </a:r>
            <a:endParaRPr lang="en-US" sz="1500" dirty="0"/>
          </a:p>
        </p:txBody>
      </p:sp>
      <p:sp>
        <p:nvSpPr>
          <p:cNvPr id="21" name="Shape 19"/>
          <p:cNvSpPr/>
          <p:nvPr/>
        </p:nvSpPr>
        <p:spPr>
          <a:xfrm>
            <a:off x="4636008" y="1344168"/>
            <a:ext cx="7034479" cy="3859130"/>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2" name="Image 0" descr="Hình minh họa 21">    </p:cNvPr>
          <p:cNvPicPr>
            <a:picLocks noChangeAspect="1"/>
          </p:cNvPicPr>
          <p:nvPr/>
        </p:nvPicPr>
        <p:blipFill>
          <a:blip r:embed="rId1"/>
          <a:stretch>
            <a:fillRect/>
          </a:stretch>
        </p:blipFill>
        <p:spPr>
          <a:xfrm>
            <a:off x="4663440" y="1371600"/>
            <a:ext cx="6979615" cy="3804266"/>
          </a:xfrm>
          <a:prstGeom prst="rect">
            <a:avLst/>
          </a:prstGeom>
        </p:spPr>
      </p:pic>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07689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a:t>
            </a:r>
            <a:endParaRPr lang="en-US" sz="900" dirty="0"/>
          </a:p>
        </p:txBody>
      </p:sp>
      <p:sp>
        <p:nvSpPr>
          <p:cNvPr id="3" name="Text 1"/>
          <p:cNvSpPr/>
          <p:nvPr/>
        </p:nvSpPr>
        <p:spPr>
          <a:xfrm>
            <a:off x="840607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2</a:t>
            </a:r>
            <a:endParaRPr lang="en-US" sz="900" dirty="0"/>
          </a:p>
        </p:txBody>
      </p:sp>
      <p:sp>
        <p:nvSpPr>
          <p:cNvPr id="4" name="Text 2"/>
          <p:cNvSpPr/>
          <p:nvPr/>
        </p:nvSpPr>
        <p:spPr>
          <a:xfrm>
            <a:off x="873526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3</a:t>
            </a:r>
            <a:endParaRPr lang="en-US" sz="900" dirty="0"/>
          </a:p>
        </p:txBody>
      </p:sp>
      <p:sp>
        <p:nvSpPr>
          <p:cNvPr id="5" name="Text 3"/>
          <p:cNvSpPr/>
          <p:nvPr/>
        </p:nvSpPr>
        <p:spPr>
          <a:xfrm>
            <a:off x="9064447"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9393631"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5</a:t>
            </a:r>
            <a:endParaRPr lang="en-US" sz="900" dirty="0"/>
          </a:p>
        </p:txBody>
      </p:sp>
      <p:sp>
        <p:nvSpPr>
          <p:cNvPr id="7" name="Text 5"/>
          <p:cNvSpPr/>
          <p:nvPr/>
        </p:nvSpPr>
        <p:spPr>
          <a:xfrm>
            <a:off x="9722815"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6</a:t>
            </a:r>
            <a:endParaRPr lang="en-US" sz="900" dirty="0"/>
          </a:p>
        </p:txBody>
      </p:sp>
      <p:sp>
        <p:nvSpPr>
          <p:cNvPr id="8" name="Text 6"/>
          <p:cNvSpPr/>
          <p:nvPr/>
        </p:nvSpPr>
        <p:spPr>
          <a:xfrm>
            <a:off x="10051999"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7</a:t>
            </a:r>
            <a:endParaRPr lang="en-US" sz="900" dirty="0"/>
          </a:p>
        </p:txBody>
      </p:sp>
      <p:sp>
        <p:nvSpPr>
          <p:cNvPr id="9" name="Text 7"/>
          <p:cNvSpPr/>
          <p:nvPr/>
        </p:nvSpPr>
        <p:spPr>
          <a:xfrm>
            <a:off x="10381183"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8</a:t>
            </a:r>
            <a:endParaRPr lang="en-US" sz="900" dirty="0"/>
          </a:p>
        </p:txBody>
      </p:sp>
      <p:sp>
        <p:nvSpPr>
          <p:cNvPr id="10" name="Text 8"/>
          <p:cNvSpPr/>
          <p:nvPr/>
        </p:nvSpPr>
        <p:spPr>
          <a:xfrm>
            <a:off x="10710367"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9</a:t>
            </a:r>
            <a:endParaRPr lang="en-US" sz="900" dirty="0"/>
          </a:p>
        </p:txBody>
      </p:sp>
      <p:sp>
        <p:nvSpPr>
          <p:cNvPr id="11" name="Text 9"/>
          <p:cNvSpPr/>
          <p:nvPr/>
        </p:nvSpPr>
        <p:spPr>
          <a:xfrm>
            <a:off x="11039551" y="292608"/>
            <a:ext cx="274320" cy="274320"/>
          </a:xfrm>
          <a:prstGeom prst="ellipse">
            <a:avLst/>
          </a:prstGeom>
          <a:solidFill>
            <a:srgbClr val="ECFDF3"/>
          </a:solidFill>
          <a:ln w="9525">
            <a:solidFill>
              <a:srgbClr val="16A34A"/>
            </a:solid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10</a:t>
            </a:r>
            <a:endParaRPr lang="en-US" sz="900" dirty="0"/>
          </a:p>
        </p:txBody>
      </p:sp>
      <p:sp>
        <p:nvSpPr>
          <p:cNvPr id="12" name="Text 10"/>
          <p:cNvSpPr/>
          <p:nvPr/>
        </p:nvSpPr>
        <p:spPr>
          <a:xfrm>
            <a:off x="11368735" y="292608"/>
            <a:ext cx="274320" cy="274320"/>
          </a:xfrm>
          <a:prstGeom prst="ellipse">
            <a:avLst/>
          </a:prstGeom>
          <a:solidFill>
            <a:srgbClr val="16A34A"/>
          </a:solidFill>
          <a:ln w="9525">
            <a:solidFill>
              <a:srgbClr val="16A34A"/>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11</a:t>
            </a:r>
            <a:endParaRPr lang="en-US" sz="900" dirty="0"/>
          </a:p>
        </p:txBody>
      </p:sp>
      <p:sp>
        <p:nvSpPr>
          <p:cNvPr id="13" name="Shape 11"/>
          <p:cNvSpPr/>
          <p:nvPr/>
        </p:nvSpPr>
        <p:spPr>
          <a:xfrm>
            <a:off x="548640" y="384048"/>
            <a:ext cx="411480" cy="54864"/>
          </a:xfrm>
          <a:prstGeom prst="rect">
            <a:avLst/>
          </a:prstGeom>
          <a:solidFill>
            <a:srgbClr val="16A34A"/>
          </a:solidFill>
          <a:ln w="12700">
            <a:solidFill>
              <a:srgbClr val="16A34A"/>
            </a:solidFill>
            <a:prstDash val="solid"/>
          </a:ln>
        </p:spPr>
      </p:sp>
      <p:sp>
        <p:nvSpPr>
          <p:cNvPr id="14" name="Text 12"/>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15" name="Text 13"/>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Nội dung 11 · Phần mềm tự động tổng hợp kết quả đánh giá</a:t>
            </a:r>
            <a:endParaRPr lang="en-US" sz="2600" dirty="0"/>
          </a:p>
        </p:txBody>
      </p:sp>
      <p:sp>
        <p:nvSpPr>
          <p:cNvPr id="16" name="Shape 14"/>
          <p:cNvSpPr/>
          <p:nvPr/>
        </p:nvSpPr>
        <p:spPr>
          <a:xfrm>
            <a:off x="521208" y="1435608"/>
            <a:ext cx="5419192" cy="2422769"/>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7" name="Image 0" descr="Hình minh họa 22">    </p:cNvPr>
          <p:cNvPicPr>
            <a:picLocks noChangeAspect="1"/>
          </p:cNvPicPr>
          <p:nvPr/>
        </p:nvPicPr>
        <p:blipFill>
          <a:blip r:embed="rId1"/>
          <a:stretch>
            <a:fillRect/>
          </a:stretch>
        </p:blipFill>
        <p:spPr>
          <a:xfrm>
            <a:off x="548640" y="1463040"/>
            <a:ext cx="5364328" cy="2367905"/>
          </a:xfrm>
          <a:prstGeom prst="rect">
            <a:avLst/>
          </a:prstGeom>
        </p:spPr>
      </p:pic>
      <p:sp>
        <p:nvSpPr>
          <p:cNvPr id="18" name="Text 15"/>
          <p:cNvSpPr/>
          <p:nvPr/>
        </p:nvSpPr>
        <p:spPr>
          <a:xfrm>
            <a:off x="548640" y="3904097"/>
            <a:ext cx="5364328"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Tổng kết và biểu đồ kết quả</a:t>
            </a:r>
            <a:endParaRPr lang="en-US" sz="1100" dirty="0"/>
          </a:p>
        </p:txBody>
      </p:sp>
      <p:sp>
        <p:nvSpPr>
          <p:cNvPr id="19" name="Shape 16"/>
          <p:cNvSpPr/>
          <p:nvPr/>
        </p:nvSpPr>
        <p:spPr>
          <a:xfrm>
            <a:off x="6251296" y="1435608"/>
            <a:ext cx="5419192" cy="3455592"/>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0" name="Image 1" descr="Hình minh họa 23">    </p:cNvPr>
          <p:cNvPicPr>
            <a:picLocks noChangeAspect="1"/>
          </p:cNvPicPr>
          <p:nvPr/>
        </p:nvPicPr>
        <p:blipFill>
          <a:blip r:embed="rId2"/>
          <a:stretch>
            <a:fillRect/>
          </a:stretch>
        </p:blipFill>
        <p:spPr>
          <a:xfrm>
            <a:off x="6278728" y="1463040"/>
            <a:ext cx="5364328" cy="3400728"/>
          </a:xfrm>
          <a:prstGeom prst="rect">
            <a:avLst/>
          </a:prstGeom>
        </p:spPr>
      </p:pic>
      <p:sp>
        <p:nvSpPr>
          <p:cNvPr id="21" name="Text 17"/>
          <p:cNvSpPr/>
          <p:nvPr/>
        </p:nvSpPr>
        <p:spPr>
          <a:xfrm>
            <a:off x="6278728" y="4936920"/>
            <a:ext cx="5364328"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Bảng thống kê theo điều kiện</a:t>
            </a:r>
            <a:endParaRPr lang="en-US" sz="11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Kiểm tra trước khi hoàn tất hồ sơ</a:t>
            </a:r>
            <a:endParaRPr lang="en-US" sz="2600" dirty="0"/>
          </a:p>
        </p:txBody>
      </p:sp>
      <p:sp>
        <p:nvSpPr>
          <p:cNvPr id="5" name="Shape 3"/>
          <p:cNvSpPr/>
          <p:nvPr/>
        </p:nvSpPr>
        <p:spPr>
          <a:xfrm>
            <a:off x="548640" y="1600200"/>
            <a:ext cx="5364328" cy="1965960"/>
          </a:xfrm>
          <a:prstGeom prst="roundRect">
            <a:avLst>
              <a:gd name="adj" fmla="val 3721"/>
            </a:avLst>
          </a:prstGeom>
          <a:solidFill>
            <a:srgbClr val="FFFFFF"/>
          </a:solidFill>
          <a:ln w="9525">
            <a:solidFill>
              <a:srgbClr val="E2E8F0"/>
            </a:solidFill>
            <a:prstDash val="solid"/>
          </a:ln>
        </p:spPr>
      </p:sp>
      <p:sp>
        <p:nvSpPr>
          <p:cNvPr id="6" name="Text 4"/>
          <p:cNvSpPr/>
          <p:nvPr/>
        </p:nvSpPr>
        <p:spPr>
          <a:xfrm>
            <a:off x="868680" y="1965960"/>
            <a:ext cx="685800" cy="685800"/>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a:t>
            </a:r>
            <a:endParaRPr lang="en-US" sz="2400" dirty="0"/>
          </a:p>
        </p:txBody>
      </p:sp>
      <p:sp>
        <p:nvSpPr>
          <p:cNvPr id="7" name="Text 5"/>
          <p:cNvSpPr/>
          <p:nvPr/>
        </p:nvSpPr>
        <p:spPr>
          <a:xfrm>
            <a:off x="1783080" y="1828800"/>
            <a:ext cx="3901288" cy="1508760"/>
          </a:xfrm>
          <a:prstGeom prst="rect">
            <a:avLst/>
          </a:prstGeom>
          <a:noFill/>
          <a:ln/>
        </p:spPr>
        <p:txBody>
          <a:bodyPr wrap="square" lIns="0" tIns="0" rIns="0" bIns="0" rtlCol="0" anchor="ctr"/>
          <a:lstStyle/>
          <a:p>
            <a:pPr indent="0" marL="0">
              <a:buNone/>
            </a:pPr>
            <a:r>
              <a:rPr lang="en-US" sz="1900" dirty="0">
                <a:solidFill>
                  <a:srgbClr val="0F172A"/>
                </a:solidFill>
                <a:latin typeface="Segoe UI" pitchFamily="34" charset="0"/>
                <a:ea typeface="Segoe UI" pitchFamily="34" charset="-122"/>
                <a:cs typeface="Segoe UI" pitchFamily="34" charset="-120"/>
              </a:rPr>
              <a:t>Đã tạo và mở đúng hồ sơ dự án.</a:t>
            </a:r>
            <a:endParaRPr lang="en-US" sz="1900" dirty="0"/>
          </a:p>
        </p:txBody>
      </p:sp>
      <p:sp>
        <p:nvSpPr>
          <p:cNvPr id="8" name="Shape 6"/>
          <p:cNvSpPr/>
          <p:nvPr/>
        </p:nvSpPr>
        <p:spPr>
          <a:xfrm>
            <a:off x="6278728" y="1600200"/>
            <a:ext cx="5364328" cy="1965960"/>
          </a:xfrm>
          <a:prstGeom prst="roundRect">
            <a:avLst>
              <a:gd name="adj" fmla="val 3721"/>
            </a:avLst>
          </a:prstGeom>
          <a:solidFill>
            <a:srgbClr val="FFFFFF"/>
          </a:solidFill>
          <a:ln w="9525">
            <a:solidFill>
              <a:srgbClr val="E2E8F0"/>
            </a:solidFill>
            <a:prstDash val="solid"/>
          </a:ln>
        </p:spPr>
      </p:sp>
      <p:sp>
        <p:nvSpPr>
          <p:cNvPr id="9" name="Text 7"/>
          <p:cNvSpPr/>
          <p:nvPr/>
        </p:nvSpPr>
        <p:spPr>
          <a:xfrm>
            <a:off x="6598768" y="1965960"/>
            <a:ext cx="685800" cy="685800"/>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a:t>
            </a:r>
            <a:endParaRPr lang="en-US" sz="2400" dirty="0"/>
          </a:p>
        </p:txBody>
      </p:sp>
      <p:sp>
        <p:nvSpPr>
          <p:cNvPr id="10" name="Text 8"/>
          <p:cNvSpPr/>
          <p:nvPr/>
        </p:nvSpPr>
        <p:spPr>
          <a:xfrm>
            <a:off x="7513168" y="1828800"/>
            <a:ext cx="3901288" cy="1508760"/>
          </a:xfrm>
          <a:prstGeom prst="rect">
            <a:avLst/>
          </a:prstGeom>
          <a:noFill/>
          <a:ln/>
        </p:spPr>
        <p:txBody>
          <a:bodyPr wrap="square" lIns="0" tIns="0" rIns="0" bIns="0" rtlCol="0" anchor="ctr"/>
          <a:lstStyle/>
          <a:p>
            <a:pPr indent="0" marL="0">
              <a:buNone/>
            </a:pPr>
            <a:r>
              <a:rPr lang="en-US" sz="1900" dirty="0">
                <a:solidFill>
                  <a:srgbClr val="0F172A"/>
                </a:solidFill>
                <a:latin typeface="Segoe UI" pitchFamily="34" charset="0"/>
                <a:ea typeface="Segoe UI" pitchFamily="34" charset="-122"/>
                <a:cs typeface="Segoe UI" pitchFamily="34" charset="-120"/>
              </a:rPr>
              <a:t>Đã hoàn thiện các nội dung từ 1 đến 11 theo yêu cầu.</a:t>
            </a:r>
            <a:endParaRPr lang="en-US" sz="1900" dirty="0"/>
          </a:p>
        </p:txBody>
      </p:sp>
      <p:sp>
        <p:nvSpPr>
          <p:cNvPr id="11" name="Shape 9"/>
          <p:cNvSpPr/>
          <p:nvPr/>
        </p:nvSpPr>
        <p:spPr>
          <a:xfrm>
            <a:off x="548640" y="3886200"/>
            <a:ext cx="5364328" cy="1965960"/>
          </a:xfrm>
          <a:prstGeom prst="roundRect">
            <a:avLst>
              <a:gd name="adj" fmla="val 3721"/>
            </a:avLst>
          </a:prstGeom>
          <a:solidFill>
            <a:srgbClr val="FFFFFF"/>
          </a:solidFill>
          <a:ln w="9525">
            <a:solidFill>
              <a:srgbClr val="E2E8F0"/>
            </a:solidFill>
            <a:prstDash val="solid"/>
          </a:ln>
        </p:spPr>
      </p:sp>
      <p:sp>
        <p:nvSpPr>
          <p:cNvPr id="12" name="Text 10"/>
          <p:cNvSpPr/>
          <p:nvPr/>
        </p:nvSpPr>
        <p:spPr>
          <a:xfrm>
            <a:off x="868680" y="4251960"/>
            <a:ext cx="685800" cy="685800"/>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a:t>
            </a:r>
            <a:endParaRPr lang="en-US" sz="2400" dirty="0"/>
          </a:p>
        </p:txBody>
      </p:sp>
      <p:sp>
        <p:nvSpPr>
          <p:cNvPr id="13" name="Text 11"/>
          <p:cNvSpPr/>
          <p:nvPr/>
        </p:nvSpPr>
        <p:spPr>
          <a:xfrm>
            <a:off x="1783080" y="4114800"/>
            <a:ext cx="3901288" cy="1508760"/>
          </a:xfrm>
          <a:prstGeom prst="rect">
            <a:avLst/>
          </a:prstGeom>
          <a:noFill/>
          <a:ln/>
        </p:spPr>
        <p:txBody>
          <a:bodyPr wrap="square" lIns="0" tIns="0" rIns="0" bIns="0" rtlCol="0" anchor="ctr"/>
          <a:lstStyle/>
          <a:p>
            <a:pPr indent="0" marL="0">
              <a:buNone/>
            </a:pPr>
            <a:r>
              <a:rPr lang="en-US" sz="1900" dirty="0">
                <a:solidFill>
                  <a:srgbClr val="0F172A"/>
                </a:solidFill>
                <a:latin typeface="Segoe UI" pitchFamily="34" charset="0"/>
                <a:ea typeface="Segoe UI" pitchFamily="34" charset="-122"/>
                <a:cs typeface="Segoe UI" pitchFamily="34" charset="-120"/>
              </a:rPr>
              <a:t>Đã kiểm tra các trường thông tin còn thiếu, danh sách BOM và sơ đồ kết nối.</a:t>
            </a:r>
            <a:endParaRPr lang="en-US" sz="1900" dirty="0"/>
          </a:p>
        </p:txBody>
      </p:sp>
      <p:sp>
        <p:nvSpPr>
          <p:cNvPr id="14" name="Shape 12"/>
          <p:cNvSpPr/>
          <p:nvPr/>
        </p:nvSpPr>
        <p:spPr>
          <a:xfrm>
            <a:off x="6278728" y="3886200"/>
            <a:ext cx="5364328" cy="1965960"/>
          </a:xfrm>
          <a:prstGeom prst="roundRect">
            <a:avLst>
              <a:gd name="adj" fmla="val 3721"/>
            </a:avLst>
          </a:prstGeom>
          <a:solidFill>
            <a:srgbClr val="FFFFFF"/>
          </a:solidFill>
          <a:ln w="9525">
            <a:solidFill>
              <a:srgbClr val="E2E8F0"/>
            </a:solidFill>
            <a:prstDash val="solid"/>
          </a:ln>
        </p:spPr>
      </p:sp>
      <p:sp>
        <p:nvSpPr>
          <p:cNvPr id="15" name="Text 13"/>
          <p:cNvSpPr/>
          <p:nvPr/>
        </p:nvSpPr>
        <p:spPr>
          <a:xfrm>
            <a:off x="6598768" y="4251960"/>
            <a:ext cx="685800" cy="685800"/>
          </a:xfrm>
          <a:prstGeom prst="ellipse">
            <a:avLst/>
          </a:prstGeom>
          <a:solidFill>
            <a:srgbClr val="16A34A"/>
          </a:solidFill>
          <a:ln>
            <a:solidFill>
              <a:srgbClr val="16A34A"/>
            </a:solid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a:t>
            </a:r>
            <a:endParaRPr lang="en-US" sz="2400" dirty="0"/>
          </a:p>
        </p:txBody>
      </p:sp>
      <p:sp>
        <p:nvSpPr>
          <p:cNvPr id="16" name="Text 14"/>
          <p:cNvSpPr/>
          <p:nvPr/>
        </p:nvSpPr>
        <p:spPr>
          <a:xfrm>
            <a:off x="7513168" y="4114800"/>
            <a:ext cx="3901288" cy="1508760"/>
          </a:xfrm>
          <a:prstGeom prst="rect">
            <a:avLst/>
          </a:prstGeom>
          <a:noFill/>
          <a:ln/>
        </p:spPr>
        <p:txBody>
          <a:bodyPr wrap="square" lIns="0" tIns="0" rIns="0" bIns="0" rtlCol="0" anchor="ctr"/>
          <a:lstStyle/>
          <a:p>
            <a:pPr indent="0" marL="0">
              <a:buNone/>
            </a:pPr>
            <a:r>
              <a:rPr lang="en-US" sz="1900" dirty="0">
                <a:solidFill>
                  <a:srgbClr val="0F172A"/>
                </a:solidFill>
                <a:latin typeface="Segoe UI" pitchFamily="34" charset="0"/>
                <a:ea typeface="Segoe UI" pitchFamily="34" charset="-122"/>
                <a:cs typeface="Segoe UI" pitchFamily="34" charset="-120"/>
              </a:rPr>
              <a:t>Đã rà soát cycle time, dữ liệu / ảnh đánh giá và kết quả đánh giá tự động.</a:t>
            </a:r>
            <a:endParaRPr lang="en-US" sz="19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 · KHỞI TẠO DỰ ÁN</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Xuất báo cáo giải pháp: lưu cùng cấp với thư mục ảnh</a:t>
            </a:r>
            <a:endParaRPr lang="en-US" sz="2600" dirty="0"/>
          </a:p>
        </p:txBody>
      </p:sp>
      <p:sp>
        <p:nvSpPr>
          <p:cNvPr id="5" name="Shape 3"/>
          <p:cNvSpPr/>
          <p:nvPr/>
        </p:nvSpPr>
        <p:spPr>
          <a:xfrm>
            <a:off x="521208" y="1435608"/>
            <a:ext cx="7004304" cy="3051291"/>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6" name="Image 0" descr="Hình minh họa 24">    </p:cNvPr>
          <p:cNvPicPr>
            <a:picLocks noChangeAspect="1"/>
          </p:cNvPicPr>
          <p:nvPr/>
        </p:nvPicPr>
        <p:blipFill>
          <a:blip r:embed="rId1"/>
          <a:stretch>
            <a:fillRect/>
          </a:stretch>
        </p:blipFill>
        <p:spPr>
          <a:xfrm>
            <a:off x="548640" y="1463040"/>
            <a:ext cx="6949440" cy="2996427"/>
          </a:xfrm>
          <a:prstGeom prst="rect">
            <a:avLst/>
          </a:prstGeom>
        </p:spPr>
      </p:pic>
      <p:sp>
        <p:nvSpPr>
          <p:cNvPr id="7" name="Text 4"/>
          <p:cNvSpPr/>
          <p:nvPr/>
        </p:nvSpPr>
        <p:spPr>
          <a:xfrm>
            <a:off x="548640" y="4532619"/>
            <a:ext cx="694944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Bấm Xuất Excel → chọn nơi lưu</a:t>
            </a:r>
            <a:endParaRPr lang="en-US" sz="1100" dirty="0"/>
          </a:p>
        </p:txBody>
      </p:sp>
      <p:sp>
        <p:nvSpPr>
          <p:cNvPr id="8" name="Shape 5"/>
          <p:cNvSpPr/>
          <p:nvPr/>
        </p:nvSpPr>
        <p:spPr>
          <a:xfrm>
            <a:off x="7863840" y="1463040"/>
            <a:ext cx="3779215" cy="1325880"/>
          </a:xfrm>
          <a:prstGeom prst="rect">
            <a:avLst/>
          </a:prstGeom>
          <a:solidFill>
            <a:srgbClr val="FFF7E6"/>
          </a:solidFill>
          <a:ln w="9525">
            <a:solidFill>
              <a:srgbClr val="F5D08A"/>
            </a:solidFill>
            <a:prstDash val="solid"/>
          </a:ln>
        </p:spPr>
      </p:sp>
      <p:sp>
        <p:nvSpPr>
          <p:cNvPr id="9" name="Shape 6"/>
          <p:cNvSpPr/>
          <p:nvPr/>
        </p:nvSpPr>
        <p:spPr>
          <a:xfrm>
            <a:off x="7863840" y="1463040"/>
            <a:ext cx="64008" cy="1325880"/>
          </a:xfrm>
          <a:prstGeom prst="rect">
            <a:avLst/>
          </a:prstGeom>
          <a:solidFill>
            <a:srgbClr val="D97706"/>
          </a:solidFill>
          <a:ln w="12700">
            <a:solidFill>
              <a:srgbClr val="D97706"/>
            </a:solidFill>
            <a:prstDash val="solid"/>
          </a:ln>
        </p:spPr>
      </p:sp>
      <p:sp>
        <p:nvSpPr>
          <p:cNvPr id="10" name="Text 7"/>
          <p:cNvSpPr/>
          <p:nvPr/>
        </p:nvSpPr>
        <p:spPr>
          <a:xfrm>
            <a:off x="8065008" y="1517904"/>
            <a:ext cx="3486607" cy="1216152"/>
          </a:xfrm>
          <a:prstGeom prst="rect">
            <a:avLst/>
          </a:prstGeom>
          <a:noFill/>
          <a:ln/>
        </p:spPr>
        <p:txBody>
          <a:bodyPr wrap="square" lIns="0" tIns="0" rIns="0" bIns="0" rtlCol="0" anchor="ctr"/>
          <a:lstStyle/>
          <a:p>
            <a:pPr indent="0" marL="0">
              <a:spcAft>
                <a:spcPts val="200"/>
              </a:spcAft>
              <a:buNone/>
            </a:pPr>
            <a:r>
              <a:rPr lang="en-US" sz="1100" b="1" spc="100" kern="0" dirty="0">
                <a:solidFill>
                  <a:srgbClr val="D97706"/>
                </a:solidFill>
                <a:latin typeface="Segoe UI" pitchFamily="34" charset="0"/>
                <a:ea typeface="Segoe UI" pitchFamily="34" charset="-122"/>
                <a:cs typeface="Segoe UI" pitchFamily="34" charset="-120"/>
              </a:rPr>
              <a:t>CẢNH BÁO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Báo cáo phải lưu ở cùng cấp thư mục với thư mục ảnh thì mới mở được ảnh.</a:t>
            </a:r>
            <a:endParaRPr lang="en-US" sz="1400" dirty="0"/>
          </a:p>
        </p:txBody>
      </p:sp>
      <p:sp>
        <p:nvSpPr>
          <p:cNvPr id="11" name="Text 8"/>
          <p:cNvSpPr/>
          <p:nvPr/>
        </p:nvSpPr>
        <p:spPr>
          <a:xfrm>
            <a:off x="7863840" y="3017520"/>
            <a:ext cx="3779215" cy="292608"/>
          </a:xfrm>
          <a:prstGeom prst="rect">
            <a:avLst/>
          </a:prstGeom>
          <a:noFill/>
          <a:ln/>
        </p:spPr>
        <p:txBody>
          <a:bodyPr wrap="square" lIns="0" tIns="0" rIns="0" bIns="0"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Ví dụ</a:t>
            </a:r>
            <a:endParaRPr lang="en-US" sz="1300" dirty="0"/>
          </a:p>
        </p:txBody>
      </p:sp>
      <p:sp>
        <p:nvSpPr>
          <p:cNvPr id="12" name="Text 9"/>
          <p:cNvSpPr/>
          <p:nvPr/>
        </p:nvSpPr>
        <p:spPr>
          <a:xfrm>
            <a:off x="7863840" y="3337560"/>
            <a:ext cx="3779215" cy="1463040"/>
          </a:xfrm>
          <a:prstGeom prst="rect">
            <a:avLst/>
          </a:prstGeom>
          <a:solidFill>
            <a:srgbClr val="F8FAFC"/>
          </a:solidFill>
          <a:ln w="9525">
            <a:solidFill>
              <a:srgbClr val="E2E8F0"/>
            </a:solidFill>
          </a:ln>
        </p:spPr>
        <p:txBody>
          <a:bodyPr wrap="square" lIns="1524" tIns="1524" rIns="1524" bIns="1524" rtlCol="0" anchor="t"/>
          <a:lstStyle/>
          <a:p>
            <a:pPr indent="0" marL="0">
              <a:buNone/>
            </a:pPr>
            <a:r>
              <a:rPr lang="en-US" sz="1600" dirty="0">
                <a:solidFill>
                  <a:srgbClr val="1E293B"/>
                </a:solidFill>
                <a:latin typeface="Consolas" pitchFamily="34" charset="0"/>
                <a:ea typeface="Consolas" pitchFamily="34" charset="-122"/>
                <a:cs typeface="Consolas" pitchFamily="34" charset="-120"/>
              </a:rPr>
              <a:t>Dataset\</a:t>
            </a:r>
            <a:endParaRPr lang="en-US" sz="1600" dirty="0"/>
          </a:p>
          <a:p>
            <a:pPr indent="0" marL="0">
              <a:buNone/>
            </a:pPr>
            <a:r>
              <a:rPr lang="en-US" sz="1600" dirty="0">
                <a:solidFill>
                  <a:srgbClr val="1E293B"/>
                </a:solidFill>
                <a:latin typeface="Consolas" pitchFamily="34" charset="0"/>
                <a:ea typeface="Consolas" pitchFamily="34" charset="-122"/>
                <a:cs typeface="Consolas" pitchFamily="34" charset="-120"/>
              </a:rPr>
              <a:t>├── Report.xlsx</a:t>
            </a:r>
            <a:endParaRPr lang="en-US" sz="1600" dirty="0"/>
          </a:p>
          <a:p>
            <a:pPr indent="0" marL="0">
              <a:buNone/>
            </a:pPr>
            <a:r>
              <a:rPr lang="en-US" sz="1600" dirty="0">
                <a:solidFill>
                  <a:srgbClr val="1E293B"/>
                </a:solidFill>
                <a:latin typeface="Consolas" pitchFamily="34" charset="0"/>
                <a:ea typeface="Consolas" pitchFamily="34" charset="-122"/>
                <a:cs typeface="Consolas" pitchFamily="34" charset="-120"/>
              </a:rPr>
              <a:t>├── ĐK1</a:t>
            </a:r>
            <a:endParaRPr lang="en-US" sz="1600" dirty="0"/>
          </a:p>
          <a:p>
            <a:pPr indent="0" marL="0">
              <a:buNone/>
            </a:pPr>
            <a:r>
              <a:rPr lang="en-US" sz="1600" dirty="0">
                <a:solidFill>
                  <a:srgbClr val="1E293B"/>
                </a:solidFill>
                <a:latin typeface="Consolas" pitchFamily="34" charset="0"/>
                <a:ea typeface="Consolas" pitchFamily="34" charset="-122"/>
                <a:cs typeface="Consolas" pitchFamily="34" charset="-120"/>
              </a:rPr>
              <a:t>└── ĐK2</a:t>
            </a:r>
            <a:endParaRPr lang="en-US" sz="16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Vision Image Tool: thu thập và quản lý dữ liệu ảnh cho UnitX</a:t>
            </a:r>
            <a:endParaRPr lang="en-US" sz="2600" dirty="0"/>
          </a:p>
        </p:txBody>
      </p:sp>
      <p:sp>
        <p:nvSpPr>
          <p:cNvPr id="5" name="Shape 3"/>
          <p:cNvSpPr/>
          <p:nvPr/>
        </p:nvSpPr>
        <p:spPr>
          <a:xfrm>
            <a:off x="548640" y="1371600"/>
            <a:ext cx="3545738" cy="1783080"/>
          </a:xfrm>
          <a:prstGeom prst="roundRect">
            <a:avLst>
              <a:gd name="adj" fmla="val 4103"/>
            </a:avLst>
          </a:prstGeom>
          <a:solidFill>
            <a:srgbClr val="FFFFFF"/>
          </a:solidFill>
          <a:ln w="9525">
            <a:solidFill>
              <a:srgbClr val="E2E8F0"/>
            </a:solidFill>
            <a:prstDash val="solid"/>
          </a:ln>
        </p:spPr>
      </p:sp>
      <p:sp>
        <p:nvSpPr>
          <p:cNvPr id="6" name="Shape 4"/>
          <p:cNvSpPr/>
          <p:nvPr/>
        </p:nvSpPr>
        <p:spPr>
          <a:xfrm>
            <a:off x="548640" y="1371600"/>
            <a:ext cx="64008" cy="1783080"/>
          </a:xfrm>
          <a:prstGeom prst="rect">
            <a:avLst/>
          </a:prstGeom>
          <a:solidFill>
            <a:srgbClr val="16A34A"/>
          </a:solidFill>
          <a:ln w="12700">
            <a:solidFill>
              <a:srgbClr val="16A34A"/>
            </a:solidFill>
            <a:prstDash val="solid"/>
          </a:ln>
        </p:spPr>
      </p:sp>
      <p:sp>
        <p:nvSpPr>
          <p:cNvPr id="7" name="Text 5"/>
          <p:cNvSpPr/>
          <p:nvPr/>
        </p:nvSpPr>
        <p:spPr>
          <a:xfrm>
            <a:off x="777240" y="1463040"/>
            <a:ext cx="3179978" cy="365760"/>
          </a:xfrm>
          <a:prstGeom prst="rect">
            <a:avLst/>
          </a:prstGeom>
          <a:noFill/>
          <a:ln/>
        </p:spPr>
        <p:txBody>
          <a:bodyPr wrap="square" lIns="0" tIns="0" rIns="0" bIns="0" rtlCol="0" anchor="ctr"/>
          <a:lstStyle/>
          <a:p>
            <a:pPr indent="0" marL="0">
              <a:buNone/>
            </a:pPr>
            <a:r>
              <a:rPr lang="en-US" sz="1600" b="1" dirty="0">
                <a:solidFill>
                  <a:srgbClr val="16A34A"/>
                </a:solidFill>
                <a:latin typeface="Segoe UI" pitchFamily="34" charset="0"/>
                <a:ea typeface="Segoe UI" pitchFamily="34" charset="-122"/>
                <a:cs typeface="Segoe UI" pitchFamily="34" charset="-120"/>
              </a:rPr>
              <a:t>Capture &amp; Monitor</a:t>
            </a:r>
            <a:endParaRPr lang="en-US" sz="1600" dirty="0"/>
          </a:p>
        </p:txBody>
      </p:sp>
      <p:sp>
        <p:nvSpPr>
          <p:cNvPr id="8" name="Text 6"/>
          <p:cNvSpPr/>
          <p:nvPr/>
        </p:nvSpPr>
        <p:spPr>
          <a:xfrm>
            <a:off x="777240" y="1828800"/>
            <a:ext cx="3179978" cy="1261872"/>
          </a:xfrm>
          <a:prstGeom prst="rect">
            <a:avLst/>
          </a:prstGeom>
          <a:noFill/>
          <a:ln/>
        </p:spPr>
        <p:txBody>
          <a:bodyPr wrap="square" lIns="0" tIns="0" rIns="0" bIns="0" rtlCol="0" anchor="t"/>
          <a:lstStyle/>
          <a:p>
            <a:pPr indent="0" marL="0">
              <a:buNone/>
            </a:pPr>
            <a:r>
              <a:rPr lang="en-US" sz="1300" dirty="0">
                <a:solidFill>
                  <a:srgbClr val="1E293B"/>
                </a:solidFill>
                <a:latin typeface="Segoe UI" pitchFamily="34" charset="0"/>
                <a:ea typeface="Segoe UI" pitchFamily="34" charset="-122"/>
                <a:cs typeface="Segoe UI" pitchFamily="34" charset="-120"/>
              </a:rPr>
              <a:t>Kết nối camera, chụp / push ảnh tương tác trực tiếp với phần cứng UnitX; tự động lưu cặp ảnh Raw/Mask | OK/NG theo quy tắc.</a:t>
            </a:r>
            <a:endParaRPr lang="en-US" sz="1300" dirty="0"/>
          </a:p>
        </p:txBody>
      </p:sp>
      <p:sp>
        <p:nvSpPr>
          <p:cNvPr id="9" name="Shape 7"/>
          <p:cNvSpPr/>
          <p:nvPr/>
        </p:nvSpPr>
        <p:spPr>
          <a:xfrm>
            <a:off x="4322978" y="1371600"/>
            <a:ext cx="3545738" cy="1783080"/>
          </a:xfrm>
          <a:prstGeom prst="roundRect">
            <a:avLst>
              <a:gd name="adj" fmla="val 4103"/>
            </a:avLst>
          </a:prstGeom>
          <a:solidFill>
            <a:srgbClr val="FFFFFF"/>
          </a:solidFill>
          <a:ln w="9525">
            <a:solidFill>
              <a:srgbClr val="E2E8F0"/>
            </a:solidFill>
            <a:prstDash val="solid"/>
          </a:ln>
        </p:spPr>
      </p:sp>
      <p:sp>
        <p:nvSpPr>
          <p:cNvPr id="10" name="Shape 8"/>
          <p:cNvSpPr/>
          <p:nvPr/>
        </p:nvSpPr>
        <p:spPr>
          <a:xfrm>
            <a:off x="4322978" y="1371600"/>
            <a:ext cx="64008" cy="1783080"/>
          </a:xfrm>
          <a:prstGeom prst="rect">
            <a:avLst/>
          </a:prstGeom>
          <a:solidFill>
            <a:srgbClr val="0F172A"/>
          </a:solidFill>
          <a:ln w="12700">
            <a:solidFill>
              <a:srgbClr val="16A34A"/>
            </a:solidFill>
            <a:prstDash val="solid"/>
          </a:ln>
        </p:spPr>
      </p:sp>
      <p:sp>
        <p:nvSpPr>
          <p:cNvPr id="11" name="Text 9"/>
          <p:cNvSpPr/>
          <p:nvPr/>
        </p:nvSpPr>
        <p:spPr>
          <a:xfrm>
            <a:off x="4551578" y="1463040"/>
            <a:ext cx="3179978"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Dataset Manager</a:t>
            </a:r>
            <a:endParaRPr lang="en-US" sz="1600" dirty="0"/>
          </a:p>
        </p:txBody>
      </p:sp>
      <p:sp>
        <p:nvSpPr>
          <p:cNvPr id="12" name="Text 10"/>
          <p:cNvSpPr/>
          <p:nvPr/>
        </p:nvSpPr>
        <p:spPr>
          <a:xfrm>
            <a:off x="4551578" y="1828800"/>
            <a:ext cx="3179978" cy="1261872"/>
          </a:xfrm>
          <a:prstGeom prst="rect">
            <a:avLst/>
          </a:prstGeom>
          <a:noFill/>
          <a:ln/>
        </p:spPr>
        <p:txBody>
          <a:bodyPr wrap="square" lIns="0" tIns="0" rIns="0" bIns="0" rtlCol="0" anchor="t"/>
          <a:lstStyle/>
          <a:p>
            <a:pPr indent="0" marL="0">
              <a:buNone/>
            </a:pPr>
            <a:r>
              <a:rPr lang="en-US" sz="1300" dirty="0">
                <a:solidFill>
                  <a:srgbClr val="1E293B"/>
                </a:solidFill>
                <a:latin typeface="Segoe UI" pitchFamily="34" charset="0"/>
                <a:ea typeface="Segoe UI" pitchFamily="34" charset="-122"/>
                <a:cs typeface="Segoe UI" pitchFamily="34" charset="-120"/>
              </a:rPr>
              <a:t>Tự gom ảnh theo Schema, ghép cặp Raw/Mask theo từng điều kiện test, phát hiện ảnh lỗi / thiếu, lọc, gán nhãn O / Δ / X, xuất Excel / JSON.</a:t>
            </a:r>
            <a:endParaRPr lang="en-US" sz="1300" dirty="0"/>
          </a:p>
        </p:txBody>
      </p:sp>
      <p:sp>
        <p:nvSpPr>
          <p:cNvPr id="13" name="Shape 11"/>
          <p:cNvSpPr/>
          <p:nvPr/>
        </p:nvSpPr>
        <p:spPr>
          <a:xfrm>
            <a:off x="8097317" y="1371600"/>
            <a:ext cx="3545738" cy="1783080"/>
          </a:xfrm>
          <a:prstGeom prst="roundRect">
            <a:avLst>
              <a:gd name="adj" fmla="val 4103"/>
            </a:avLst>
          </a:prstGeom>
          <a:solidFill>
            <a:srgbClr val="FFFFFF"/>
          </a:solidFill>
          <a:ln w="9525">
            <a:solidFill>
              <a:srgbClr val="E2E8F0"/>
            </a:solidFill>
            <a:prstDash val="solid"/>
          </a:ln>
        </p:spPr>
      </p:sp>
      <p:sp>
        <p:nvSpPr>
          <p:cNvPr id="14" name="Shape 12"/>
          <p:cNvSpPr/>
          <p:nvPr/>
        </p:nvSpPr>
        <p:spPr>
          <a:xfrm>
            <a:off x="8097317" y="1371600"/>
            <a:ext cx="64008" cy="1783080"/>
          </a:xfrm>
          <a:prstGeom prst="rect">
            <a:avLst/>
          </a:prstGeom>
          <a:solidFill>
            <a:srgbClr val="16A34A"/>
          </a:solidFill>
          <a:ln w="12700">
            <a:solidFill>
              <a:srgbClr val="16A34A"/>
            </a:solidFill>
            <a:prstDash val="solid"/>
          </a:ln>
        </p:spPr>
      </p:sp>
      <p:sp>
        <p:nvSpPr>
          <p:cNvPr id="15" name="Text 13"/>
          <p:cNvSpPr/>
          <p:nvPr/>
        </p:nvSpPr>
        <p:spPr>
          <a:xfrm>
            <a:off x="8325917" y="1463040"/>
            <a:ext cx="3179978" cy="365760"/>
          </a:xfrm>
          <a:prstGeom prst="rect">
            <a:avLst/>
          </a:prstGeom>
          <a:noFill/>
          <a:ln/>
        </p:spPr>
        <p:txBody>
          <a:bodyPr wrap="square" lIns="0" tIns="0" rIns="0" bIns="0" rtlCol="0" anchor="ctr"/>
          <a:lstStyle/>
          <a:p>
            <a:pPr indent="0" marL="0">
              <a:buNone/>
            </a:pPr>
            <a:r>
              <a:rPr lang="en-US" sz="1600" b="1" dirty="0">
                <a:solidFill>
                  <a:srgbClr val="16A34A"/>
                </a:solidFill>
                <a:latin typeface="Segoe UI" pitchFamily="34" charset="0"/>
                <a:ea typeface="Segoe UI" pitchFamily="34" charset="-122"/>
                <a:cs typeface="Segoe UI" pitchFamily="34" charset="-120"/>
              </a:rPr>
              <a:t>Đồng bộ Q One Edu</a:t>
            </a:r>
            <a:endParaRPr lang="en-US" sz="1600" dirty="0"/>
          </a:p>
        </p:txBody>
      </p:sp>
      <p:sp>
        <p:nvSpPr>
          <p:cNvPr id="16" name="Text 14"/>
          <p:cNvSpPr/>
          <p:nvPr/>
        </p:nvSpPr>
        <p:spPr>
          <a:xfrm>
            <a:off x="8325917" y="1828800"/>
            <a:ext cx="3179978" cy="1261872"/>
          </a:xfrm>
          <a:prstGeom prst="rect">
            <a:avLst/>
          </a:prstGeom>
          <a:noFill/>
          <a:ln/>
        </p:spPr>
        <p:txBody>
          <a:bodyPr wrap="square" lIns="0" tIns="0" rIns="0" bIns="0" rtlCol="0" anchor="t"/>
          <a:lstStyle/>
          <a:p>
            <a:pPr indent="0" marL="0">
              <a:buNone/>
            </a:pPr>
            <a:r>
              <a:rPr lang="en-US" sz="1300" dirty="0">
                <a:solidFill>
                  <a:srgbClr val="1E293B"/>
                </a:solidFill>
                <a:latin typeface="Segoe UI" pitchFamily="34" charset="0"/>
                <a:ea typeface="Segoe UI" pitchFamily="34" charset="-122"/>
                <a:cs typeface="Segoe UI" pitchFamily="34" charset="-120"/>
              </a:rPr>
              <a:t>Hỗ trợ kỹ sư triển khai dự án nhanh chóng, giảm thiểu sai sót trong quá trình thực hiện.</a:t>
            </a:r>
            <a:endParaRPr lang="en-US" sz="1300" dirty="0"/>
          </a:p>
        </p:txBody>
      </p:sp>
      <p:sp>
        <p:nvSpPr>
          <p:cNvPr id="17" name="Shape 15"/>
          <p:cNvSpPr/>
          <p:nvPr/>
        </p:nvSpPr>
        <p:spPr>
          <a:xfrm>
            <a:off x="2342903" y="3355848"/>
            <a:ext cx="7505890" cy="279806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8" name="Image 0" descr="Hình minh họa 25">    </p:cNvPr>
          <p:cNvPicPr>
            <a:picLocks noChangeAspect="1"/>
          </p:cNvPicPr>
          <p:nvPr/>
        </p:nvPicPr>
        <p:blipFill>
          <a:blip r:embed="rId1"/>
          <a:stretch>
            <a:fillRect/>
          </a:stretch>
        </p:blipFill>
        <p:spPr>
          <a:xfrm>
            <a:off x="2370335" y="3383280"/>
            <a:ext cx="7451026" cy="2743200"/>
          </a:xfrm>
          <a:prstGeom prst="rect">
            <a:avLst/>
          </a:prstGeom>
        </p:spPr>
      </p:pic>
      <p:sp>
        <p:nvSpPr>
          <p:cNvPr id="19" name="Text 16"/>
          <p:cNvSpPr/>
          <p:nvPr/>
        </p:nvSpPr>
        <p:spPr>
          <a:xfrm>
            <a:off x="2370335" y="6199632"/>
            <a:ext cx="7451026"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Sơ đồ quy trình hoạt động Vision Image Tool</a:t>
            </a:r>
            <a:endParaRPr lang="en-US" sz="11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3 luồng thu thập dữ liệu đều kết thúc bằng Report</a:t>
            </a:r>
            <a:endParaRPr lang="en-US" sz="2600" dirty="0"/>
          </a:p>
        </p:txBody>
      </p:sp>
      <p:sp>
        <p:nvSpPr>
          <p:cNvPr id="5" name="Text 3"/>
          <p:cNvSpPr/>
          <p:nvPr/>
        </p:nvSpPr>
        <p:spPr>
          <a:xfrm>
            <a:off x="548640" y="1645920"/>
            <a:ext cx="1920240" cy="548640"/>
          </a:xfrm>
          <a:prstGeom prst="roundRect">
            <a:avLst>
              <a:gd name="adj" fmla="val 10000"/>
            </a:avLst>
          </a:prstGeom>
          <a:solidFill>
            <a:srgbClr val="16A34A"/>
          </a:solidFill>
          <a:ln>
            <a:solidFill>
              <a:srgbClr val="16A34A"/>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OptiX</a:t>
            </a:r>
            <a:endParaRPr lang="en-US" sz="1400" dirty="0"/>
          </a:p>
        </p:txBody>
      </p:sp>
      <p:sp>
        <p:nvSpPr>
          <p:cNvPr id="6" name="Shape 4"/>
          <p:cNvSpPr/>
          <p:nvPr/>
        </p:nvSpPr>
        <p:spPr>
          <a:xfrm>
            <a:off x="2670048" y="1344168"/>
            <a:ext cx="5702476" cy="115214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7" name="Image 0" descr="Hình minh họa 26">    </p:cNvPr>
          <p:cNvPicPr>
            <a:picLocks noChangeAspect="1"/>
          </p:cNvPicPr>
          <p:nvPr/>
        </p:nvPicPr>
        <p:blipFill>
          <a:blip r:embed="rId1"/>
          <a:stretch>
            <a:fillRect/>
          </a:stretch>
        </p:blipFill>
        <p:spPr>
          <a:xfrm>
            <a:off x="2697480" y="1371600"/>
            <a:ext cx="5647612" cy="1097280"/>
          </a:xfrm>
          <a:prstGeom prst="rect">
            <a:avLst/>
          </a:prstGeom>
        </p:spPr>
      </p:pic>
      <p:sp>
        <p:nvSpPr>
          <p:cNvPr id="8" name="Text 5"/>
          <p:cNvSpPr/>
          <p:nvPr/>
        </p:nvSpPr>
        <p:spPr>
          <a:xfrm>
            <a:off x="548640" y="2852928"/>
            <a:ext cx="1920240" cy="548640"/>
          </a:xfrm>
          <a:prstGeom prst="roundRect">
            <a:avLst>
              <a:gd name="adj" fmla="val 10000"/>
            </a:avLst>
          </a:prstGeom>
          <a:solidFill>
            <a:srgbClr val="0F172A"/>
          </a:solidFill>
          <a:ln>
            <a:solidFill>
              <a:srgbClr val="16A34A"/>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Vision Master</a:t>
            </a:r>
            <a:endParaRPr lang="en-US" sz="1400" dirty="0"/>
          </a:p>
        </p:txBody>
      </p:sp>
      <p:sp>
        <p:nvSpPr>
          <p:cNvPr id="9" name="Shape 6"/>
          <p:cNvSpPr/>
          <p:nvPr/>
        </p:nvSpPr>
        <p:spPr>
          <a:xfrm>
            <a:off x="2670048" y="2551176"/>
            <a:ext cx="5667873" cy="115214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0" name="Image 1" descr="Hình minh họa 27">    </p:cNvPr>
          <p:cNvPicPr>
            <a:picLocks noChangeAspect="1"/>
          </p:cNvPicPr>
          <p:nvPr/>
        </p:nvPicPr>
        <p:blipFill>
          <a:blip r:embed="rId2"/>
          <a:stretch>
            <a:fillRect/>
          </a:stretch>
        </p:blipFill>
        <p:spPr>
          <a:xfrm>
            <a:off x="2697480" y="2578608"/>
            <a:ext cx="5613009" cy="1097280"/>
          </a:xfrm>
          <a:prstGeom prst="rect">
            <a:avLst/>
          </a:prstGeom>
        </p:spPr>
      </p:pic>
      <p:sp>
        <p:nvSpPr>
          <p:cNvPr id="11" name="Text 7"/>
          <p:cNvSpPr/>
          <p:nvPr/>
        </p:nvSpPr>
        <p:spPr>
          <a:xfrm>
            <a:off x="548640" y="4059936"/>
            <a:ext cx="1920240" cy="548640"/>
          </a:xfrm>
          <a:prstGeom prst="roundRect">
            <a:avLst>
              <a:gd name="adj" fmla="val 10000"/>
            </a:avLst>
          </a:prstGeom>
          <a:solidFill>
            <a:srgbClr val="16A34A"/>
          </a:solidFill>
          <a:ln>
            <a:solidFill>
              <a:srgbClr val="16A34A"/>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Camera hãng thứ ba</a:t>
            </a:r>
            <a:endParaRPr lang="en-US" sz="1400" dirty="0"/>
          </a:p>
        </p:txBody>
      </p:sp>
      <p:sp>
        <p:nvSpPr>
          <p:cNvPr id="12" name="Shape 8"/>
          <p:cNvSpPr/>
          <p:nvPr/>
        </p:nvSpPr>
        <p:spPr>
          <a:xfrm>
            <a:off x="2670048" y="3758184"/>
            <a:ext cx="6792935" cy="115214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3" name="Image 2" descr="Hình minh họa 28">    </p:cNvPr>
          <p:cNvPicPr>
            <a:picLocks noChangeAspect="1"/>
          </p:cNvPicPr>
          <p:nvPr/>
        </p:nvPicPr>
        <p:blipFill>
          <a:blip r:embed="rId3"/>
          <a:stretch>
            <a:fillRect/>
          </a:stretch>
        </p:blipFill>
        <p:spPr>
          <a:xfrm>
            <a:off x="2697480" y="3785616"/>
            <a:ext cx="6738071" cy="1097280"/>
          </a:xfrm>
          <a:prstGeom prst="rect">
            <a:avLst/>
          </a:prstGeom>
        </p:spPr>
      </p:pic>
      <p:sp>
        <p:nvSpPr>
          <p:cNvPr id="14" name="Shape 9"/>
          <p:cNvSpPr/>
          <p:nvPr/>
        </p:nvSpPr>
        <p:spPr>
          <a:xfrm>
            <a:off x="548640" y="5120640"/>
            <a:ext cx="11094415" cy="1051560"/>
          </a:xfrm>
          <a:prstGeom prst="rect">
            <a:avLst/>
          </a:prstGeom>
          <a:solidFill>
            <a:srgbClr val="ECFDF3"/>
          </a:solidFill>
          <a:ln w="9525">
            <a:solidFill>
              <a:srgbClr val="BBE5C8"/>
            </a:solidFill>
            <a:prstDash val="solid"/>
          </a:ln>
        </p:spPr>
      </p:sp>
      <p:sp>
        <p:nvSpPr>
          <p:cNvPr id="15" name="Shape 10"/>
          <p:cNvSpPr/>
          <p:nvPr/>
        </p:nvSpPr>
        <p:spPr>
          <a:xfrm>
            <a:off x="548640" y="5120640"/>
            <a:ext cx="64008" cy="1051560"/>
          </a:xfrm>
          <a:prstGeom prst="rect">
            <a:avLst/>
          </a:prstGeom>
          <a:solidFill>
            <a:srgbClr val="16A34A"/>
          </a:solidFill>
          <a:ln w="12700">
            <a:solidFill>
              <a:srgbClr val="16A34A"/>
            </a:solidFill>
            <a:prstDash val="solid"/>
          </a:ln>
        </p:spPr>
      </p:sp>
      <p:sp>
        <p:nvSpPr>
          <p:cNvPr id="16" name="Text 11"/>
          <p:cNvSpPr/>
          <p:nvPr/>
        </p:nvSpPr>
        <p:spPr>
          <a:xfrm>
            <a:off x="749808" y="5175504"/>
            <a:ext cx="10801807" cy="941832"/>
          </a:xfrm>
          <a:prstGeom prst="rect">
            <a:avLst/>
          </a:prstGeom>
          <a:noFill/>
          <a:ln/>
        </p:spPr>
        <p:txBody>
          <a:bodyPr wrap="square" lIns="0" tIns="0" rIns="0" bIns="0" rtlCol="0" anchor="ctr"/>
          <a:lstStyle/>
          <a:p>
            <a:pPr indent="0" marL="0">
              <a:spcAft>
                <a:spcPts val="200"/>
              </a:spcAft>
              <a:buNone/>
            </a:pPr>
            <a:r>
              <a:rPr lang="en-US" sz="1100" b="1" spc="100" kern="0" dirty="0">
                <a:solidFill>
                  <a:srgbClr val="16A34A"/>
                </a:solidFill>
                <a:latin typeface="Segoe UI" pitchFamily="34" charset="0"/>
                <a:ea typeface="Segoe UI" pitchFamily="34" charset="-122"/>
                <a:cs typeface="Segoe UI" pitchFamily="34" charset="-120"/>
              </a:rPr>
              <a:t>LƯU Ý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Có thể kết hợp: thu thập từ Vision Master → push sang UnitX xử lý → tổng hợp kết quả của cả 2 phương án test.
</a:t>
            </a:r>
            <a:pPr indent="0" marL="0">
              <a:spcAft>
                <a:spcPts val="200"/>
              </a:spcAft>
              <a:buNone/>
            </a:pPr>
            <a:r>
              <a:rPr lang="en-US" sz="1200" dirty="0">
                <a:solidFill>
                  <a:srgbClr val="64748B"/>
                </a:solidFill>
                <a:latin typeface="Segoe UI" pitchFamily="34" charset="0"/>
                <a:ea typeface="Segoe UI" pitchFamily="34" charset="-122"/>
                <a:cs typeface="Segoe UI" pitchFamily="34" charset="-120"/>
              </a:rPr>
              <a:t>Chi tiết cấu hình UnitX, viết tool VisionMaster và sử dụng camera yêu cầu kỹ sư nắm vững; không trình bày trong tài liệu này.</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Từ ảnh đến hồ sơ dự án trong 4 bước</a:t>
            </a:r>
            <a:endParaRPr lang="en-US" sz="2600" dirty="0"/>
          </a:p>
        </p:txBody>
      </p:sp>
      <p:sp>
        <p:nvSpPr>
          <p:cNvPr id="5" name="Shape 3"/>
          <p:cNvSpPr/>
          <p:nvPr/>
        </p:nvSpPr>
        <p:spPr>
          <a:xfrm>
            <a:off x="548640" y="1783080"/>
            <a:ext cx="2979344" cy="1463040"/>
          </a:xfrm>
          <a:prstGeom prst="homePlate">
            <a:avLst/>
          </a:prstGeom>
          <a:solidFill>
            <a:srgbClr val="16A34A">
              <a:alpha val="70000"/>
            </a:srgbClr>
          </a:solidFill>
          <a:ln w="25400">
            <a:solidFill>
              <a:srgbClr val="FFFFFF"/>
            </a:solidFill>
            <a:prstDash val="solid"/>
          </a:ln>
        </p:spPr>
      </p:sp>
      <p:sp>
        <p:nvSpPr>
          <p:cNvPr id="6" name="Text 4"/>
          <p:cNvSpPr/>
          <p:nvPr/>
        </p:nvSpPr>
        <p:spPr>
          <a:xfrm>
            <a:off x="822960" y="1783080"/>
            <a:ext cx="2110664" cy="1463040"/>
          </a:xfrm>
          <a:prstGeom prst="rect">
            <a:avLst/>
          </a:prstGeom>
          <a:noFill/>
          <a:ln/>
        </p:spPr>
        <p:txBody>
          <a:bodyPr wrap="square" lIns="0" tIns="0" rIns="0" bIns="0" rtlCol="0" anchor="ctr"/>
          <a:lstStyle/>
          <a:p>
            <a:pPr algn="ctr" indent="0" marL="0">
              <a:buNone/>
            </a:pPr>
            <a:r>
              <a:rPr lang="en-US" sz="1200" b="1" spc="100" kern="0" dirty="0">
                <a:solidFill>
                  <a:srgbClr val="DCFCE7"/>
                </a:solidFill>
                <a:latin typeface="Segoe UI" pitchFamily="34" charset="0"/>
                <a:ea typeface="Segoe UI" pitchFamily="34" charset="-122"/>
                <a:cs typeface="Segoe UI" pitchFamily="34" charset="-120"/>
              </a:rPr>
              <a:t>BƯỚC 1
</a:t>
            </a:r>
            <a:pPr algn="ctr" indent="0" marL="0">
              <a:buNone/>
            </a:pPr>
            <a:r>
              <a:rPr lang="en-US" sz="1900" b="1" dirty="0">
                <a:solidFill>
                  <a:srgbClr val="FFFFFF"/>
                </a:solidFill>
                <a:latin typeface="Segoe UI" pitchFamily="34" charset="0"/>
                <a:ea typeface="Segoe UI" pitchFamily="34" charset="-122"/>
                <a:cs typeface="Segoe UI" pitchFamily="34" charset="-120"/>
              </a:rPr>
              <a:t>Chuẩn bị dữ liệu</a:t>
            </a:r>
            <a:endParaRPr lang="en-US" sz="1200" dirty="0"/>
          </a:p>
        </p:txBody>
      </p:sp>
      <p:sp>
        <p:nvSpPr>
          <p:cNvPr id="7" name="Text 5"/>
          <p:cNvSpPr/>
          <p:nvPr/>
        </p:nvSpPr>
        <p:spPr>
          <a:xfrm>
            <a:off x="822960" y="3474720"/>
            <a:ext cx="2293544" cy="1280160"/>
          </a:xfrm>
          <a:prstGeom prst="rect">
            <a:avLst/>
          </a:prstGeom>
          <a:noFill/>
          <a:ln/>
        </p:spPr>
        <p:txBody>
          <a:bodyPr wrap="square" lIns="0" tIns="0" rIns="0" bIns="0" rtlCol="0" anchor="t"/>
          <a:lstStyle/>
          <a:p>
            <a:pPr algn="ctr" indent="0" marL="0">
              <a:buNone/>
            </a:pPr>
            <a:r>
              <a:rPr lang="en-US" sz="1500" dirty="0">
                <a:solidFill>
                  <a:srgbClr val="1E293B"/>
                </a:solidFill>
                <a:latin typeface="Segoe UI" pitchFamily="34" charset="0"/>
                <a:ea typeface="Segoe UI" pitchFamily="34" charset="-122"/>
                <a:cs typeface="Segoe UI" pitchFamily="34" charset="-120"/>
              </a:rPr>
              <a:t>Chạy lưu ảnh từ Capture &amp; Monitor, hoặc dùng thư mục ảnh có sẵn đúng quy tắc</a:t>
            </a:r>
            <a:endParaRPr lang="en-US" sz="1500" dirty="0"/>
          </a:p>
        </p:txBody>
      </p:sp>
      <p:sp>
        <p:nvSpPr>
          <p:cNvPr id="8" name="Shape 6"/>
          <p:cNvSpPr/>
          <p:nvPr/>
        </p:nvSpPr>
        <p:spPr>
          <a:xfrm>
            <a:off x="3253664" y="1783080"/>
            <a:ext cx="2979344" cy="1463040"/>
          </a:xfrm>
          <a:prstGeom prst="chevron">
            <a:avLst/>
          </a:prstGeom>
          <a:solidFill>
            <a:srgbClr val="16A34A">
              <a:alpha val="85000"/>
            </a:srgbClr>
          </a:solidFill>
          <a:ln w="25400">
            <a:solidFill>
              <a:srgbClr val="FFFFFF"/>
            </a:solidFill>
            <a:prstDash val="solid"/>
          </a:ln>
        </p:spPr>
      </p:sp>
      <p:sp>
        <p:nvSpPr>
          <p:cNvPr id="9" name="Text 7"/>
          <p:cNvSpPr/>
          <p:nvPr/>
        </p:nvSpPr>
        <p:spPr>
          <a:xfrm>
            <a:off x="3756584" y="1783080"/>
            <a:ext cx="2110664" cy="1463040"/>
          </a:xfrm>
          <a:prstGeom prst="rect">
            <a:avLst/>
          </a:prstGeom>
          <a:noFill/>
          <a:ln/>
        </p:spPr>
        <p:txBody>
          <a:bodyPr wrap="square" lIns="0" tIns="0" rIns="0" bIns="0" rtlCol="0" anchor="ctr"/>
          <a:lstStyle/>
          <a:p>
            <a:pPr algn="ctr" indent="0" marL="0">
              <a:buNone/>
            </a:pPr>
            <a:r>
              <a:rPr lang="en-US" sz="1200" b="1" spc="100" kern="0" dirty="0">
                <a:solidFill>
                  <a:srgbClr val="DCFCE7"/>
                </a:solidFill>
                <a:latin typeface="Segoe UI" pitchFamily="34" charset="0"/>
                <a:ea typeface="Segoe UI" pitchFamily="34" charset="-122"/>
                <a:cs typeface="Segoe UI" pitchFamily="34" charset="-120"/>
              </a:rPr>
              <a:t>BƯỚC 2
</a:t>
            </a:r>
            <a:pPr algn="ctr" indent="0" marL="0">
              <a:buNone/>
            </a:pPr>
            <a:r>
              <a:rPr lang="en-US" sz="1900" b="1" dirty="0">
                <a:solidFill>
                  <a:srgbClr val="FFFFFF"/>
                </a:solidFill>
                <a:latin typeface="Segoe UI" pitchFamily="34" charset="0"/>
                <a:ea typeface="Segoe UI" pitchFamily="34" charset="-122"/>
                <a:cs typeface="Segoe UI" pitchFamily="34" charset="-120"/>
              </a:rPr>
              <a:t>Nhập Schema</a:t>
            </a:r>
            <a:endParaRPr lang="en-US" sz="1200" dirty="0"/>
          </a:p>
        </p:txBody>
      </p:sp>
      <p:sp>
        <p:nvSpPr>
          <p:cNvPr id="10" name="Text 8"/>
          <p:cNvSpPr/>
          <p:nvPr/>
        </p:nvSpPr>
        <p:spPr>
          <a:xfrm>
            <a:off x="3527984" y="3474720"/>
            <a:ext cx="2293544" cy="1280160"/>
          </a:xfrm>
          <a:prstGeom prst="rect">
            <a:avLst/>
          </a:prstGeom>
          <a:noFill/>
          <a:ln/>
        </p:spPr>
        <p:txBody>
          <a:bodyPr wrap="square" lIns="0" tIns="0" rIns="0" bIns="0" rtlCol="0" anchor="t"/>
          <a:lstStyle/>
          <a:p>
            <a:pPr algn="ctr" indent="0" marL="0">
              <a:buNone/>
            </a:pPr>
            <a:r>
              <a:rPr lang="en-US" sz="1500" dirty="0">
                <a:solidFill>
                  <a:srgbClr val="1E293B"/>
                </a:solidFill>
                <a:latin typeface="Segoe UI" pitchFamily="34" charset="0"/>
                <a:ea typeface="Segoe UI" pitchFamily="34" charset="-122"/>
                <a:cs typeface="Segoe UI" pitchFamily="34" charset="-120"/>
              </a:rPr>
              <a:t>Khai báo cấu trúc tên file / thư mục trong tab Dataset Manager</a:t>
            </a:r>
            <a:endParaRPr lang="en-US" sz="1500" dirty="0"/>
          </a:p>
        </p:txBody>
      </p:sp>
      <p:sp>
        <p:nvSpPr>
          <p:cNvPr id="11" name="Shape 9"/>
          <p:cNvSpPr/>
          <p:nvPr/>
        </p:nvSpPr>
        <p:spPr>
          <a:xfrm>
            <a:off x="5958688" y="1783080"/>
            <a:ext cx="2979344" cy="1463040"/>
          </a:xfrm>
          <a:prstGeom prst="chevron">
            <a:avLst/>
          </a:prstGeom>
          <a:solidFill>
            <a:srgbClr val="16A34A"/>
          </a:solidFill>
          <a:ln w="25400">
            <a:solidFill>
              <a:srgbClr val="FFFFFF"/>
            </a:solidFill>
            <a:prstDash val="solid"/>
          </a:ln>
        </p:spPr>
      </p:sp>
      <p:sp>
        <p:nvSpPr>
          <p:cNvPr id="12" name="Text 10"/>
          <p:cNvSpPr/>
          <p:nvPr/>
        </p:nvSpPr>
        <p:spPr>
          <a:xfrm>
            <a:off x="6461608" y="1783080"/>
            <a:ext cx="2110664" cy="1463040"/>
          </a:xfrm>
          <a:prstGeom prst="rect">
            <a:avLst/>
          </a:prstGeom>
          <a:noFill/>
          <a:ln/>
        </p:spPr>
        <p:txBody>
          <a:bodyPr wrap="square" lIns="0" tIns="0" rIns="0" bIns="0" rtlCol="0" anchor="ctr"/>
          <a:lstStyle/>
          <a:p>
            <a:pPr algn="ctr" indent="0" marL="0">
              <a:buNone/>
            </a:pPr>
            <a:r>
              <a:rPr lang="en-US" sz="1200" b="1" spc="100" kern="0" dirty="0">
                <a:solidFill>
                  <a:srgbClr val="DCFCE7"/>
                </a:solidFill>
                <a:latin typeface="Segoe UI" pitchFamily="34" charset="0"/>
                <a:ea typeface="Segoe UI" pitchFamily="34" charset="-122"/>
                <a:cs typeface="Segoe UI" pitchFamily="34" charset="-120"/>
              </a:rPr>
              <a:t>BƯỚC 3
</a:t>
            </a:r>
            <a:pPr algn="ctr" indent="0" marL="0">
              <a:buNone/>
            </a:pPr>
            <a:r>
              <a:rPr lang="en-US" sz="1900" b="1" dirty="0">
                <a:solidFill>
                  <a:srgbClr val="FFFFFF"/>
                </a:solidFill>
                <a:latin typeface="Segoe UI" pitchFamily="34" charset="0"/>
                <a:ea typeface="Segoe UI" pitchFamily="34" charset="-122"/>
                <a:cs typeface="Segoe UI" pitchFamily="34" charset="-120"/>
              </a:rPr>
              <a:t>Xuất dữ liệu</a:t>
            </a:r>
            <a:endParaRPr lang="en-US" sz="1200" dirty="0"/>
          </a:p>
        </p:txBody>
      </p:sp>
      <p:sp>
        <p:nvSpPr>
          <p:cNvPr id="13" name="Text 11"/>
          <p:cNvSpPr/>
          <p:nvPr/>
        </p:nvSpPr>
        <p:spPr>
          <a:xfrm>
            <a:off x="6233008" y="3474720"/>
            <a:ext cx="2293544" cy="1280160"/>
          </a:xfrm>
          <a:prstGeom prst="rect">
            <a:avLst/>
          </a:prstGeom>
          <a:noFill/>
          <a:ln/>
        </p:spPr>
        <p:txBody>
          <a:bodyPr wrap="square" lIns="0" tIns="0" rIns="0" bIns="0" rtlCol="0" anchor="t"/>
          <a:lstStyle/>
          <a:p>
            <a:pPr algn="ctr" indent="0" marL="0">
              <a:buNone/>
            </a:pPr>
            <a:r>
              <a:rPr lang="en-US" sz="1500" dirty="0">
                <a:solidFill>
                  <a:srgbClr val="1E293B"/>
                </a:solidFill>
                <a:latin typeface="Segoe UI" pitchFamily="34" charset="0"/>
                <a:ea typeface="Segoe UI" pitchFamily="34" charset="-122"/>
                <a:cs typeface="Segoe UI" pitchFamily="34" charset="-120"/>
              </a:rPr>
              <a:t>Xác nhận cột, chọn Excel (.xlsx) hoặc JSON</a:t>
            </a:r>
            <a:endParaRPr lang="en-US" sz="1500" dirty="0"/>
          </a:p>
        </p:txBody>
      </p:sp>
      <p:sp>
        <p:nvSpPr>
          <p:cNvPr id="14" name="Shape 12"/>
          <p:cNvSpPr/>
          <p:nvPr/>
        </p:nvSpPr>
        <p:spPr>
          <a:xfrm>
            <a:off x="8663711" y="1783080"/>
            <a:ext cx="2979344" cy="1463040"/>
          </a:xfrm>
          <a:prstGeom prst="chevron">
            <a:avLst/>
          </a:prstGeom>
          <a:solidFill>
            <a:srgbClr val="0F172A"/>
          </a:solidFill>
          <a:ln w="25400">
            <a:solidFill>
              <a:srgbClr val="FFFFFF"/>
            </a:solidFill>
            <a:prstDash val="solid"/>
          </a:ln>
        </p:spPr>
      </p:sp>
      <p:sp>
        <p:nvSpPr>
          <p:cNvPr id="15" name="Text 13"/>
          <p:cNvSpPr/>
          <p:nvPr/>
        </p:nvSpPr>
        <p:spPr>
          <a:xfrm>
            <a:off x="9166631" y="1783080"/>
            <a:ext cx="2110664" cy="1463040"/>
          </a:xfrm>
          <a:prstGeom prst="rect">
            <a:avLst/>
          </a:prstGeom>
          <a:noFill/>
          <a:ln/>
        </p:spPr>
        <p:txBody>
          <a:bodyPr wrap="square" lIns="0" tIns="0" rIns="0" bIns="0" rtlCol="0" anchor="ctr"/>
          <a:lstStyle/>
          <a:p>
            <a:pPr algn="ctr" indent="0" marL="0">
              <a:buNone/>
            </a:pPr>
            <a:r>
              <a:rPr lang="en-US" sz="1200" b="1" spc="100" kern="0" dirty="0">
                <a:solidFill>
                  <a:srgbClr val="DCFCE7"/>
                </a:solidFill>
                <a:latin typeface="Segoe UI" pitchFamily="34" charset="0"/>
                <a:ea typeface="Segoe UI" pitchFamily="34" charset="-122"/>
                <a:cs typeface="Segoe UI" pitchFamily="34" charset="-120"/>
              </a:rPr>
              <a:t>BƯỚC 4
</a:t>
            </a:r>
            <a:pPr algn="ctr" indent="0" marL="0">
              <a:buNone/>
            </a:pPr>
            <a:r>
              <a:rPr lang="en-US" sz="1900" b="1" dirty="0">
                <a:solidFill>
                  <a:srgbClr val="FFFFFF"/>
                </a:solidFill>
                <a:latin typeface="Segoe UI" pitchFamily="34" charset="0"/>
                <a:ea typeface="Segoe UI" pitchFamily="34" charset="-122"/>
                <a:cs typeface="Segoe UI" pitchFamily="34" charset="-120"/>
              </a:rPr>
              <a:t>Nhập Q One Edu</a:t>
            </a:r>
            <a:endParaRPr lang="en-US" sz="1200" dirty="0"/>
          </a:p>
        </p:txBody>
      </p:sp>
      <p:sp>
        <p:nvSpPr>
          <p:cNvPr id="16" name="Text 14"/>
          <p:cNvSpPr/>
          <p:nvPr/>
        </p:nvSpPr>
        <p:spPr>
          <a:xfrm>
            <a:off x="8938031" y="3474720"/>
            <a:ext cx="2293544" cy="1280160"/>
          </a:xfrm>
          <a:prstGeom prst="rect">
            <a:avLst/>
          </a:prstGeom>
          <a:noFill/>
          <a:ln/>
        </p:spPr>
        <p:txBody>
          <a:bodyPr wrap="square" lIns="0" tIns="0" rIns="0" bIns="0" rtlCol="0" anchor="t"/>
          <a:lstStyle/>
          <a:p>
            <a:pPr algn="ctr" indent="0" marL="0">
              <a:buNone/>
            </a:pPr>
            <a:r>
              <a:rPr lang="en-US" sz="1500" dirty="0">
                <a:solidFill>
                  <a:srgbClr val="1E293B"/>
                </a:solidFill>
                <a:latin typeface="Segoe UI" pitchFamily="34" charset="0"/>
                <a:ea typeface="Segoe UI" pitchFamily="34" charset="-122"/>
                <a:cs typeface="Segoe UI" pitchFamily="34" charset="-120"/>
              </a:rPr>
              <a:t>Nhập file vào Nội dung 9 &amp; 10 của hồ sơ dự án</a:t>
            </a:r>
            <a:endParaRPr lang="en-US" sz="1500" dirty="0"/>
          </a:p>
        </p:txBody>
      </p:sp>
      <p:sp>
        <p:nvSpPr>
          <p:cNvPr id="17" name="Shape 15"/>
          <p:cNvSpPr/>
          <p:nvPr/>
        </p:nvSpPr>
        <p:spPr>
          <a:xfrm>
            <a:off x="548640" y="5074920"/>
            <a:ext cx="11094415" cy="868680"/>
          </a:xfrm>
          <a:prstGeom prst="rect">
            <a:avLst/>
          </a:prstGeom>
          <a:solidFill>
            <a:srgbClr val="ECFDF3"/>
          </a:solidFill>
          <a:ln w="9525">
            <a:solidFill>
              <a:srgbClr val="BBE5C8"/>
            </a:solidFill>
            <a:prstDash val="solid"/>
          </a:ln>
        </p:spPr>
      </p:sp>
      <p:sp>
        <p:nvSpPr>
          <p:cNvPr id="18" name="Shape 16"/>
          <p:cNvSpPr/>
          <p:nvPr/>
        </p:nvSpPr>
        <p:spPr>
          <a:xfrm>
            <a:off x="548640" y="5074920"/>
            <a:ext cx="64008" cy="868680"/>
          </a:xfrm>
          <a:prstGeom prst="rect">
            <a:avLst/>
          </a:prstGeom>
          <a:solidFill>
            <a:srgbClr val="16A34A"/>
          </a:solidFill>
          <a:ln w="12700">
            <a:solidFill>
              <a:srgbClr val="16A34A"/>
            </a:solidFill>
            <a:prstDash val="solid"/>
          </a:ln>
        </p:spPr>
      </p:sp>
      <p:sp>
        <p:nvSpPr>
          <p:cNvPr id="19" name="Text 17"/>
          <p:cNvSpPr/>
          <p:nvPr/>
        </p:nvSpPr>
        <p:spPr>
          <a:xfrm>
            <a:off x="749808" y="5129784"/>
            <a:ext cx="10801807" cy="758952"/>
          </a:xfrm>
          <a:prstGeom prst="rect">
            <a:avLst/>
          </a:prstGeom>
          <a:noFill/>
          <a:ln/>
        </p:spPr>
        <p:txBody>
          <a:bodyPr wrap="square" lIns="0" tIns="0" rIns="0" bIns="0" rtlCol="0" anchor="ctr"/>
          <a:lstStyle/>
          <a:p>
            <a:pPr indent="0" marL="0">
              <a:spcAft>
                <a:spcPts val="200"/>
              </a:spcAft>
              <a:buNone/>
            </a:pPr>
            <a:r>
              <a:rPr lang="en-US" sz="1100" b="1" spc="100" kern="0" dirty="0">
                <a:solidFill>
                  <a:srgbClr val="16A34A"/>
                </a:solidFill>
                <a:latin typeface="Segoe UI" pitchFamily="34" charset="0"/>
                <a:ea typeface="Segoe UI" pitchFamily="34" charset="-122"/>
                <a:cs typeface="Segoe UI" pitchFamily="34" charset="-120"/>
              </a:rPr>
              <a:t>LƯU Ý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File Excel / JSON xuất ở Bước 3 là đầu vào cho Nội dung 9 và 10 của hồ sơ dự án (Phần II).</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  </a:t>
            </a:r>
            <a:pPr algn="ctr" indent="0" marL="0">
              <a:buNone/>
            </a:pPr>
            <a:r>
              <a:rPr lang="en-US" sz="1000" dirty="0">
                <a:solidFill>
                  <a:srgbClr val="FFFFFF"/>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Bước 1 · 12 trường tiêu chuẩn để đặt tên ảnh</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77440"/>
                <a:gridCol w="6035040"/>
                <a:gridCol w="2681935"/>
              </a:tblGrid>
              <a:tr h="352044">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Trường</a:t>
                      </a:r>
                      <a:endParaRPr lang="en-US" sz="13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Ý nghĩa</a:t>
                      </a:r>
                      <a:endParaRPr lang="en-US" sz="13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Ví dụ</a:t>
                      </a:r>
                      <a:endParaRPr lang="en-US" sz="13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&lt;ĐK&gt;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Điều kiện chụp – mỗi ĐK một nhóm cột</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ĐK1, ĐK2</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&lt;No&gt;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Số thứ tự mẫu</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1 … 162</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&lt;Tên sản phẩm&gt;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Tên sản phẩm</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Lens</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&lt;Mã sheet-tray&gt;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Mã sheet / tray</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Sheet1</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&lt;Vị trí&gt;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Vị trí trên sheet</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A-1 … I-9</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&lt;Mặt&gt;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Mặt chụp</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Top</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&lt;Nội dung NG&gt;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Loại lỗi</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Xước, Bẩn, OK</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&lt;Đánh giá&gt;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Kết quả Vision</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OK / NG / LIMIT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&lt;Raw/Mask&gt;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Loại ảnh</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Raw / Mask</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&lt;Hậu tố&gt;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Phân biệt lần chụp – giống nhau trong cùng mẫu</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&lt;Lần chụp&gt;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Ngày giờ / số lần chụp – gộp nhiều lần chụp vào 1 hàng</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20261009_140512_123</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2044">
                <a:tc>
                  <a:txBody>
                    <a:bodyPr/>
                    <a:lstStyle/>
                    <a:p>
                      <a:pPr indent="0" marL="0">
                        <a:buNone/>
                      </a:pPr>
                      <a:r>
                        <a:rPr lang="en-US" sz="1400" b="1" dirty="0">
                          <a:solidFill>
                            <a:srgbClr val="16A34A"/>
                          </a:solidFill>
                          <a:latin typeface="Consolas" pitchFamily="34" charset="0"/>
                          <a:ea typeface="Consolas" pitchFamily="34" charset="-122"/>
                          <a:cs typeface="Consolas" pitchFamily="34" charset="-120"/>
                        </a:rPr>
                        <a:t>&lt;Extension&gt;</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Đuôi ảnh – tự nhận</a:t>
                      </a:r>
                      <a:endParaRPr lang="en-US" sz="1400" dirty="0">
                        <a:latin typeface="Segoe UI" charset="0"/>
                        <a:ea typeface="Segoe UI" charset="0"/>
                        <a:cs typeface="Segoe UI"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latin typeface="Consolas" pitchFamily="34" charset="0"/>
                          <a:ea typeface="Consolas" pitchFamily="34" charset="-122"/>
                          <a:cs typeface="Consolas" pitchFamily="34" charset="-120"/>
                        </a:rPr>
                        <a:t>.jpg .png .bmp</a:t>
                      </a:r>
                      <a:endParaRPr lang="en-US" sz="1400" dirty="0">
                        <a:latin typeface="Consolas" charset="0"/>
                        <a:ea typeface="Consolas" charset="0"/>
                        <a:cs typeface="Consolas"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  </a:t>
            </a:r>
            <a:pPr algn="ctr" indent="0" marL="0">
              <a:buNone/>
            </a:pPr>
            <a:r>
              <a:rPr lang="en-US" sz="1000" dirty="0">
                <a:solidFill>
                  <a:srgbClr val="FFFFFF"/>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Bước 1 · Ba kiểu cấu trúc và schema tương ứng</a:t>
            </a:r>
            <a:endParaRPr lang="en-US" sz="2600" dirty="0"/>
          </a:p>
        </p:txBody>
      </p:sp>
      <p:sp>
        <p:nvSpPr>
          <p:cNvPr id="9" name="Text 7"/>
          <p:cNvSpPr/>
          <p:nvPr/>
        </p:nvSpPr>
        <p:spPr>
          <a:xfrm>
            <a:off x="3474720" y="1280160"/>
            <a:ext cx="3931920" cy="228600"/>
          </a:xfrm>
          <a:prstGeom prst="rect">
            <a:avLst/>
          </a:prstGeom>
          <a:noFill/>
          <a:ln/>
        </p:spPr>
        <p:txBody>
          <a:bodyPr wrap="square" lIns="0" tIns="0" rIns="0" bIns="0" rtlCol="0" anchor="ctr"/>
          <a:lstStyle/>
          <a:p>
            <a:pPr indent="0" marL="0">
              <a:buNone/>
            </a:pPr>
            <a:r>
              <a:rPr lang="en-US" sz="1000" b="1" spc="100" kern="0" dirty="0">
                <a:solidFill>
                  <a:srgbClr val="64748B"/>
                </a:solidFill>
                <a:latin typeface="Segoe UI" pitchFamily="34" charset="0"/>
                <a:ea typeface="Segoe UI" pitchFamily="34" charset="-122"/>
                <a:cs typeface="Segoe UI" pitchFamily="34" charset="-120"/>
              </a:rPr>
              <a:t>SCHEMA</a:t>
            </a:r>
            <a:endParaRPr lang="en-US" sz="1000" dirty="0"/>
          </a:p>
        </p:txBody>
      </p:sp>
      <p:sp>
        <p:nvSpPr>
          <p:cNvPr id="10" name="Text 8"/>
          <p:cNvSpPr/>
          <p:nvPr/>
        </p:nvSpPr>
        <p:spPr>
          <a:xfrm>
            <a:off x="7589520" y="1280160"/>
            <a:ext cx="4053535" cy="228600"/>
          </a:xfrm>
          <a:prstGeom prst="rect">
            <a:avLst/>
          </a:prstGeom>
          <a:noFill/>
          <a:ln/>
        </p:spPr>
        <p:txBody>
          <a:bodyPr wrap="square" lIns="0" tIns="0" rIns="0" bIns="0" rtlCol="0" anchor="ctr"/>
          <a:lstStyle/>
          <a:p>
            <a:pPr indent="0" marL="0">
              <a:buNone/>
            </a:pPr>
            <a:r>
              <a:rPr lang="en-US" sz="1000" b="1" spc="100" kern="0" dirty="0">
                <a:solidFill>
                  <a:srgbClr val="64748B"/>
                </a:solidFill>
                <a:latin typeface="Segoe UI" pitchFamily="34" charset="0"/>
                <a:ea typeface="Segoe UI" pitchFamily="34" charset="-122"/>
                <a:cs typeface="Segoe UI" pitchFamily="34" charset="-120"/>
              </a:rPr>
              <a:t>VÍ DỤ THƯ MỤC</a:t>
            </a:r>
            <a:endParaRPr lang="en-US" sz="1000" dirty="0"/>
          </a:p>
        </p:txBody>
      </p:sp>
      <p:sp>
        <p:nvSpPr>
          <p:cNvPr id="11" name="Shape 9"/>
          <p:cNvSpPr/>
          <p:nvPr/>
        </p:nvSpPr>
        <p:spPr>
          <a:xfrm>
            <a:off x="548640" y="1554480"/>
            <a:ext cx="11094415" cy="1325880"/>
          </a:xfrm>
          <a:prstGeom prst="roundRect">
            <a:avLst>
              <a:gd name="adj" fmla="val 5517"/>
            </a:avLst>
          </a:prstGeom>
          <a:solidFill>
            <a:srgbClr val="FFFFFF"/>
          </a:solidFill>
          <a:ln w="9525">
            <a:solidFill>
              <a:srgbClr val="E2E8F0"/>
            </a:solidFill>
            <a:prstDash val="solid"/>
          </a:ln>
        </p:spPr>
      </p:sp>
      <p:sp>
        <p:nvSpPr>
          <p:cNvPr id="12" name="Text 10"/>
          <p:cNvSpPr/>
          <p:nvPr/>
        </p:nvSpPr>
        <p:spPr>
          <a:xfrm>
            <a:off x="685800" y="1691640"/>
            <a:ext cx="411480" cy="411480"/>
          </a:xfrm>
          <a:prstGeom prst="roundRect">
            <a:avLst>
              <a:gd name="adj" fmla="val 13333"/>
            </a:avLst>
          </a:prstGeom>
          <a:solidFill>
            <a:srgbClr val="16A34A"/>
          </a:solidFill>
          <a:ln>
            <a:solidFill>
              <a:srgbClr val="16A34A"/>
            </a:solid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a:t>
            </a:r>
            <a:endParaRPr lang="en-US" sz="1800" dirty="0"/>
          </a:p>
        </p:txBody>
      </p:sp>
      <p:sp>
        <p:nvSpPr>
          <p:cNvPr id="13" name="Text 11"/>
          <p:cNvSpPr/>
          <p:nvPr/>
        </p:nvSpPr>
        <p:spPr>
          <a:xfrm>
            <a:off x="1207008" y="1645920"/>
            <a:ext cx="2011680" cy="502920"/>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Mọi thông tin trong tên file</a:t>
            </a:r>
            <a:endParaRPr lang="en-US" sz="1400" dirty="0"/>
          </a:p>
        </p:txBody>
      </p:sp>
      <p:sp>
        <p:nvSpPr>
          <p:cNvPr id="14" name="Text 12"/>
          <p:cNvSpPr/>
          <p:nvPr/>
        </p:nvSpPr>
        <p:spPr>
          <a:xfrm>
            <a:off x="685800" y="2212848"/>
            <a:ext cx="2514600" cy="594360"/>
          </a:xfrm>
          <a:prstGeom prst="rect">
            <a:avLst/>
          </a:prstGeom>
          <a:noFill/>
          <a:ln/>
        </p:spPr>
        <p:txBody>
          <a:bodyPr wrap="square" lIns="0" tIns="0" rIns="0" bIns="0" rtlCol="0" anchor="t"/>
          <a:lstStyle/>
          <a:p>
            <a:pPr indent="0" marL="0">
              <a:buNone/>
            </a:pPr>
            <a:r>
              <a:rPr lang="en-US" sz="1150" i="1" dirty="0">
                <a:solidFill>
                  <a:srgbClr val="64748B"/>
                </a:solidFill>
                <a:latin typeface="Segoe UI" pitchFamily="34" charset="0"/>
                <a:ea typeface="Segoe UI" pitchFamily="34" charset="-122"/>
                <a:cs typeface="Segoe UI" pitchFamily="34" charset="-120"/>
              </a:rPr>
              <a:t>Các trường nối bằng dấu _ trong một file.</a:t>
            </a:r>
            <a:endParaRPr lang="en-US" sz="1150" dirty="0"/>
          </a:p>
        </p:txBody>
      </p:sp>
      <p:sp>
        <p:nvSpPr>
          <p:cNvPr id="15" name="Text 13"/>
          <p:cNvSpPr/>
          <p:nvPr/>
        </p:nvSpPr>
        <p:spPr>
          <a:xfrm>
            <a:off x="3474720" y="1645920"/>
            <a:ext cx="3931920" cy="1143000"/>
          </a:xfrm>
          <a:prstGeom prst="rect">
            <a:avLst/>
          </a:prstGeom>
          <a:solidFill>
            <a:srgbClr val="ECFDF3"/>
          </a:solidFill>
          <a:ln/>
        </p:spPr>
        <p:txBody>
          <a:bodyPr wrap="square" lIns="1016" tIns="1016" rIns="1016" bIns="1016" rtlCol="0" anchor="ctr"/>
          <a:lstStyle/>
          <a:p>
            <a:pPr indent="0" marL="0">
              <a:buNone/>
            </a:pPr>
            <a:r>
              <a:rPr lang="en-US" sz="1200" b="1" dirty="0">
                <a:solidFill>
                  <a:srgbClr val="16A34A"/>
                </a:solidFill>
                <a:latin typeface="Consolas" pitchFamily="34" charset="0"/>
                <a:ea typeface="Consolas" pitchFamily="34" charset="-122"/>
                <a:cs typeface="Consolas" pitchFamily="34" charset="-120"/>
              </a:rPr>
              <a:t>&lt;ĐK&gt;_&lt;No&gt;_&lt;Tên sản phẩm&gt;_&lt;Mã sheet-tray&gt;_&lt;Vị trí&gt;_&lt;Mặt&gt;_&lt;Nội dung NG&gt;_&lt;Đánh giá&gt;_&lt;Raw/Mask&gt;_&lt;Hậu tố&gt;.&lt;Extension&gt;</a:t>
            </a:r>
            <a:endParaRPr lang="en-US" sz="1200" dirty="0"/>
          </a:p>
        </p:txBody>
      </p:sp>
      <p:sp>
        <p:nvSpPr>
          <p:cNvPr id="16" name="Text 14"/>
          <p:cNvSpPr/>
          <p:nvPr/>
        </p:nvSpPr>
        <p:spPr>
          <a:xfrm>
            <a:off x="7589520" y="1645920"/>
            <a:ext cx="3962095" cy="1143000"/>
          </a:xfrm>
          <a:prstGeom prst="rect">
            <a:avLst/>
          </a:prstGeom>
          <a:solidFill>
            <a:srgbClr val="F8FAFC"/>
          </a:solidFill>
          <a:ln w="9525">
            <a:solidFill>
              <a:srgbClr val="E2E8F0"/>
            </a:solidFill>
          </a:ln>
        </p:spPr>
        <p:txBody>
          <a:bodyPr wrap="square" lIns="1524" tIns="1524" rIns="1524" bIns="1524" rtlCol="0" anchor="t"/>
          <a:lstStyle/>
          <a:p>
            <a:pPr indent="0" marL="0">
              <a:buNone/>
            </a:pPr>
            <a:r>
              <a:rPr lang="en-US" sz="1050" dirty="0">
                <a:solidFill>
                  <a:srgbClr val="1E293B"/>
                </a:solidFill>
                <a:latin typeface="Consolas" pitchFamily="34" charset="0"/>
                <a:ea typeface="Consolas" pitchFamily="34" charset="-122"/>
                <a:cs typeface="Consolas" pitchFamily="34" charset="-120"/>
              </a:rPr>
              <a:t>Lens3\</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ĐK1_1_Lens_Sheet1_A-1_Top_Xước_NG_Raw_1.jpg</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ĐK1_1_Lens_Sheet1_A-1_Top_Xước_NG_Mask_1.jpg</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ĐK2_1_Lens_Sheet1_A-1_Top_Xước_NG_Raw_1.jpg …</a:t>
            </a:r>
            <a:endParaRPr lang="en-US" sz="1050" dirty="0"/>
          </a:p>
        </p:txBody>
      </p:sp>
      <p:sp>
        <p:nvSpPr>
          <p:cNvPr id="17" name="Shape 15"/>
          <p:cNvSpPr/>
          <p:nvPr/>
        </p:nvSpPr>
        <p:spPr>
          <a:xfrm>
            <a:off x="548640" y="2990088"/>
            <a:ext cx="11094415" cy="1783080"/>
          </a:xfrm>
          <a:prstGeom prst="roundRect">
            <a:avLst>
              <a:gd name="adj" fmla="val 4103"/>
            </a:avLst>
          </a:prstGeom>
          <a:solidFill>
            <a:srgbClr val="FFFFFF"/>
          </a:solidFill>
          <a:ln w="9525">
            <a:solidFill>
              <a:srgbClr val="E2E8F0"/>
            </a:solidFill>
            <a:prstDash val="solid"/>
          </a:ln>
        </p:spPr>
      </p:sp>
      <p:sp>
        <p:nvSpPr>
          <p:cNvPr id="18" name="Text 16"/>
          <p:cNvSpPr/>
          <p:nvPr/>
        </p:nvSpPr>
        <p:spPr>
          <a:xfrm>
            <a:off x="685800" y="3127248"/>
            <a:ext cx="411480" cy="411480"/>
          </a:xfrm>
          <a:prstGeom prst="roundRect">
            <a:avLst>
              <a:gd name="adj" fmla="val 13333"/>
            </a:avLst>
          </a:prstGeom>
          <a:solidFill>
            <a:srgbClr val="16A34A"/>
          </a:solidFill>
          <a:ln>
            <a:solidFill>
              <a:srgbClr val="16A34A"/>
            </a:solid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B</a:t>
            </a:r>
            <a:endParaRPr lang="en-US" sz="1800" dirty="0"/>
          </a:p>
        </p:txBody>
      </p:sp>
      <p:sp>
        <p:nvSpPr>
          <p:cNvPr id="19" name="Text 17"/>
          <p:cNvSpPr/>
          <p:nvPr/>
        </p:nvSpPr>
        <p:spPr>
          <a:xfrm>
            <a:off x="1207008" y="3081528"/>
            <a:ext cx="2011680" cy="502920"/>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Mỗi cấp thư mục là một trường</a:t>
            </a:r>
            <a:endParaRPr lang="en-US" sz="1400" dirty="0"/>
          </a:p>
        </p:txBody>
      </p:sp>
      <p:sp>
        <p:nvSpPr>
          <p:cNvPr id="20" name="Text 18"/>
          <p:cNvSpPr/>
          <p:nvPr/>
        </p:nvSpPr>
        <p:spPr>
          <a:xfrm>
            <a:off x="685800" y="3648456"/>
            <a:ext cx="2514600" cy="1051560"/>
          </a:xfrm>
          <a:prstGeom prst="rect">
            <a:avLst/>
          </a:prstGeom>
          <a:noFill/>
          <a:ln/>
        </p:spPr>
        <p:txBody>
          <a:bodyPr wrap="square" lIns="0" tIns="0" rIns="0" bIns="0" rtlCol="0" anchor="t"/>
          <a:lstStyle/>
          <a:p>
            <a:pPr indent="0" marL="0">
              <a:buNone/>
            </a:pPr>
            <a:r>
              <a:rPr lang="en-US" sz="1150" i="1" dirty="0">
                <a:solidFill>
                  <a:srgbClr val="B45309"/>
                </a:solidFill>
                <a:latin typeface="Segoe UI" pitchFamily="34" charset="0"/>
                <a:ea typeface="Segoe UI" pitchFamily="34" charset="-122"/>
                <a:cs typeface="Segoe UI" pitchFamily="34" charset="-120"/>
              </a:rPr>
              <a:t>Không đặt &lt;Đánh giá&gt; làm cấp thư mục khi có nhiều ĐK – mẫu bị tách hàng.</a:t>
            </a:r>
            <a:endParaRPr lang="en-US" sz="1150" dirty="0"/>
          </a:p>
        </p:txBody>
      </p:sp>
      <p:sp>
        <p:nvSpPr>
          <p:cNvPr id="21" name="Text 19"/>
          <p:cNvSpPr/>
          <p:nvPr/>
        </p:nvSpPr>
        <p:spPr>
          <a:xfrm>
            <a:off x="3474720" y="3081528"/>
            <a:ext cx="3931920" cy="1600200"/>
          </a:xfrm>
          <a:prstGeom prst="rect">
            <a:avLst/>
          </a:prstGeom>
          <a:solidFill>
            <a:srgbClr val="ECFDF3"/>
          </a:solidFill>
          <a:ln/>
        </p:spPr>
        <p:txBody>
          <a:bodyPr wrap="square" lIns="1016" tIns="1016" rIns="1016" bIns="1016" rtlCol="0" anchor="ctr"/>
          <a:lstStyle/>
          <a:p>
            <a:pPr indent="0" marL="0">
              <a:buNone/>
            </a:pPr>
            <a:r>
              <a:rPr lang="en-US" sz="1200" b="1" dirty="0">
                <a:solidFill>
                  <a:srgbClr val="16A34A"/>
                </a:solidFill>
                <a:latin typeface="Consolas" pitchFamily="34" charset="0"/>
                <a:ea typeface="Consolas" pitchFamily="34" charset="-122"/>
                <a:cs typeface="Consolas" pitchFamily="34" charset="-120"/>
              </a:rPr>
              <a:t>&lt;ĐK&gt;\&lt;Mã sheet-tray&gt;\&lt;Vị trí&gt;\&lt;Raw/Mask&gt;\&lt;Đánh giá&gt;_&lt;Hậu tố&gt;.&lt;Extension&gt;</a:t>
            </a:r>
            <a:endParaRPr lang="en-US" sz="1200" dirty="0"/>
          </a:p>
        </p:txBody>
      </p:sp>
      <p:sp>
        <p:nvSpPr>
          <p:cNvPr id="22" name="Text 20"/>
          <p:cNvSpPr/>
          <p:nvPr/>
        </p:nvSpPr>
        <p:spPr>
          <a:xfrm>
            <a:off x="7589520" y="3081528"/>
            <a:ext cx="3962095" cy="1600200"/>
          </a:xfrm>
          <a:prstGeom prst="rect">
            <a:avLst/>
          </a:prstGeom>
          <a:solidFill>
            <a:srgbClr val="F8FAFC"/>
          </a:solidFill>
          <a:ln w="9525">
            <a:solidFill>
              <a:srgbClr val="E2E8F0"/>
            </a:solidFill>
          </a:ln>
        </p:spPr>
        <p:txBody>
          <a:bodyPr wrap="square" lIns="1524" tIns="1524" rIns="1524" bIns="1524" rtlCol="0" anchor="t"/>
          <a:lstStyle/>
          <a:p>
            <a:pPr indent="0" marL="0">
              <a:buNone/>
            </a:pPr>
            <a:r>
              <a:rPr lang="en-US" sz="1050" dirty="0">
                <a:solidFill>
                  <a:srgbClr val="1E293B"/>
                </a:solidFill>
                <a:latin typeface="Consolas" pitchFamily="34" charset="0"/>
                <a:ea typeface="Consolas" pitchFamily="34" charset="-122"/>
                <a:cs typeface="Consolas" pitchFamily="34" charset="-120"/>
              </a:rPr>
              <a:t>Lens_TM\</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DK1\          cấp 1 &lt;ĐK&gt;</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 Sheet1\     cấp 2 &lt;Mã sheet-tray&gt;</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 A-1\      cấp 3 &lt;Vị trí&gt;</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 Raw\    cấp 4 &lt;Raw/Mask&gt;</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 └ NG_1.jpg</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 Mask\</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 NG_1.jpg</a:t>
            </a:r>
            <a:endParaRPr lang="en-US" sz="1050" dirty="0"/>
          </a:p>
        </p:txBody>
      </p:sp>
      <p:sp>
        <p:nvSpPr>
          <p:cNvPr id="23" name="Shape 21"/>
          <p:cNvSpPr/>
          <p:nvPr/>
        </p:nvSpPr>
        <p:spPr>
          <a:xfrm>
            <a:off x="548640" y="4882896"/>
            <a:ext cx="11094415" cy="1417320"/>
          </a:xfrm>
          <a:prstGeom prst="roundRect">
            <a:avLst>
              <a:gd name="adj" fmla="val 5161"/>
            </a:avLst>
          </a:prstGeom>
          <a:solidFill>
            <a:srgbClr val="FFFFFF"/>
          </a:solidFill>
          <a:ln w="9525">
            <a:solidFill>
              <a:srgbClr val="E2E8F0"/>
            </a:solidFill>
            <a:prstDash val="solid"/>
          </a:ln>
        </p:spPr>
      </p:sp>
      <p:sp>
        <p:nvSpPr>
          <p:cNvPr id="24" name="Text 22"/>
          <p:cNvSpPr/>
          <p:nvPr/>
        </p:nvSpPr>
        <p:spPr>
          <a:xfrm>
            <a:off x="685800" y="5020056"/>
            <a:ext cx="411480" cy="411480"/>
          </a:xfrm>
          <a:prstGeom prst="roundRect">
            <a:avLst>
              <a:gd name="adj" fmla="val 13333"/>
            </a:avLst>
          </a:prstGeom>
          <a:solidFill>
            <a:srgbClr val="16A34A"/>
          </a:solidFill>
          <a:ln>
            <a:solidFill>
              <a:srgbClr val="16A34A"/>
            </a:solid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C</a:t>
            </a:r>
            <a:endParaRPr lang="en-US" sz="1800" dirty="0"/>
          </a:p>
        </p:txBody>
      </p:sp>
      <p:sp>
        <p:nvSpPr>
          <p:cNvPr id="25" name="Text 23"/>
          <p:cNvSpPr/>
          <p:nvPr/>
        </p:nvSpPr>
        <p:spPr>
          <a:xfrm>
            <a:off x="1207008" y="4974336"/>
            <a:ext cx="2011680" cy="502920"/>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2 cấp thư mục (ĐK \ Sheet) + tên file</a:t>
            </a:r>
            <a:endParaRPr lang="en-US" sz="1400" dirty="0"/>
          </a:p>
        </p:txBody>
      </p:sp>
      <p:sp>
        <p:nvSpPr>
          <p:cNvPr id="26" name="Text 24"/>
          <p:cNvSpPr/>
          <p:nvPr/>
        </p:nvSpPr>
        <p:spPr>
          <a:xfrm>
            <a:off x="685800" y="5541264"/>
            <a:ext cx="2514600" cy="685800"/>
          </a:xfrm>
          <a:prstGeom prst="rect">
            <a:avLst/>
          </a:prstGeom>
          <a:noFill/>
          <a:ln/>
        </p:spPr>
        <p:txBody>
          <a:bodyPr wrap="square" lIns="0" tIns="0" rIns="0" bIns="0" rtlCol="0" anchor="t"/>
          <a:lstStyle/>
          <a:p>
            <a:pPr indent="0" marL="0">
              <a:buNone/>
            </a:pPr>
            <a:r>
              <a:rPr lang="en-US" sz="1150" i="1" dirty="0">
                <a:solidFill>
                  <a:srgbClr val="64748B"/>
                </a:solidFill>
                <a:latin typeface="Segoe UI" pitchFamily="34" charset="0"/>
                <a:ea typeface="Segoe UI" pitchFamily="34" charset="-122"/>
                <a:cs typeface="Segoe UI" pitchFamily="34" charset="-120"/>
              </a:rPr>
              <a:t>Trường đã đưa lên thư mục thì bỏ khỏi tên file.</a:t>
            </a:r>
            <a:endParaRPr lang="en-US" sz="1150" dirty="0"/>
          </a:p>
        </p:txBody>
      </p:sp>
      <p:sp>
        <p:nvSpPr>
          <p:cNvPr id="27" name="Text 25"/>
          <p:cNvSpPr/>
          <p:nvPr/>
        </p:nvSpPr>
        <p:spPr>
          <a:xfrm>
            <a:off x="3474720" y="4974336"/>
            <a:ext cx="3931920" cy="1234440"/>
          </a:xfrm>
          <a:prstGeom prst="rect">
            <a:avLst/>
          </a:prstGeom>
          <a:solidFill>
            <a:srgbClr val="ECFDF3"/>
          </a:solidFill>
          <a:ln/>
        </p:spPr>
        <p:txBody>
          <a:bodyPr wrap="square" lIns="1016" tIns="1016" rIns="1016" bIns="1016" rtlCol="0" anchor="ctr"/>
          <a:lstStyle/>
          <a:p>
            <a:pPr indent="0" marL="0">
              <a:buNone/>
            </a:pPr>
            <a:r>
              <a:rPr lang="en-US" sz="1200" b="1" dirty="0">
                <a:solidFill>
                  <a:srgbClr val="16A34A"/>
                </a:solidFill>
                <a:latin typeface="Consolas" pitchFamily="34" charset="0"/>
                <a:ea typeface="Consolas" pitchFamily="34" charset="-122"/>
                <a:cs typeface="Consolas" pitchFamily="34" charset="-120"/>
              </a:rPr>
              <a:t>&lt;ĐK&gt;\&lt;Mã sheet-tray&gt;\&lt;No&gt;_&lt;Tên sản phẩm&gt;_&lt;Vị trí&gt;_&lt;Mặt&gt;_&lt;Nội dung NG&gt;_&lt;Đánh giá&gt;_&lt;Raw/Mask&gt;_&lt;Hậu tố&gt;.&lt;Extension&gt;</a:t>
            </a:r>
            <a:endParaRPr lang="en-US" sz="1200" dirty="0"/>
          </a:p>
        </p:txBody>
      </p:sp>
      <p:sp>
        <p:nvSpPr>
          <p:cNvPr id="28" name="Text 26"/>
          <p:cNvSpPr/>
          <p:nvPr/>
        </p:nvSpPr>
        <p:spPr>
          <a:xfrm>
            <a:off x="7589520" y="4974336"/>
            <a:ext cx="3962095" cy="1234440"/>
          </a:xfrm>
          <a:prstGeom prst="rect">
            <a:avLst/>
          </a:prstGeom>
          <a:solidFill>
            <a:srgbClr val="F8FAFC"/>
          </a:solidFill>
          <a:ln w="9525">
            <a:solidFill>
              <a:srgbClr val="E2E8F0"/>
            </a:solidFill>
          </a:ln>
        </p:spPr>
        <p:txBody>
          <a:bodyPr wrap="square" lIns="1524" tIns="1524" rIns="1524" bIns="1524" rtlCol="0" anchor="t"/>
          <a:lstStyle/>
          <a:p>
            <a:pPr indent="0" marL="0">
              <a:buNone/>
            </a:pPr>
            <a:r>
              <a:rPr lang="en-US" sz="1050" dirty="0">
                <a:solidFill>
                  <a:srgbClr val="1E293B"/>
                </a:solidFill>
                <a:latin typeface="Consolas" pitchFamily="34" charset="0"/>
                <a:ea typeface="Consolas" pitchFamily="34" charset="-122"/>
                <a:cs typeface="Consolas" pitchFamily="34" charset="-120"/>
              </a:rPr>
              <a:t>Lens4\</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DK1\</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 Sheet1\</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 1_Lens_A-1_Top_Xước_NG_Raw_1.jpg</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    └ 1_Lens_A-1_Top_Xước_NG_Mask_1.jpg</a:t>
            </a:r>
            <a:endParaRPr lang="en-US" sz="105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  </a:t>
            </a:r>
            <a:pPr algn="ctr" indent="0" marL="0">
              <a:buNone/>
            </a:pPr>
            <a:r>
              <a:rPr lang="en-US" sz="1000" dirty="0">
                <a:solidFill>
                  <a:srgbClr val="FFFFFF"/>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Cách 1 · Đặt trước 5 mục trên tab Capture &amp; Monitor</a:t>
            </a:r>
            <a:endParaRPr lang="en-US" sz="2600" dirty="0"/>
          </a:p>
        </p:txBody>
      </p:sp>
      <p:sp>
        <p:nvSpPr>
          <p:cNvPr id="9" name="Shape 7"/>
          <p:cNvSpPr/>
          <p:nvPr/>
        </p:nvSpPr>
        <p:spPr>
          <a:xfrm>
            <a:off x="521208" y="1344168"/>
            <a:ext cx="6821424" cy="428396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0" name="Image 0" descr="Hình minh họa 30">    </p:cNvPr>
          <p:cNvPicPr>
            <a:picLocks noChangeAspect="1"/>
          </p:cNvPicPr>
          <p:nvPr/>
        </p:nvPicPr>
        <p:blipFill>
          <a:blip r:embed="rId1"/>
          <a:stretch>
            <a:fillRect/>
          </a:stretch>
        </p:blipFill>
        <p:spPr>
          <a:xfrm>
            <a:off x="548640" y="1371600"/>
            <a:ext cx="6766560" cy="4229100"/>
          </a:xfrm>
          <a:prstGeom prst="rect">
            <a:avLst/>
          </a:prstGeom>
        </p:spPr>
      </p:pic>
      <p:sp>
        <p:nvSpPr>
          <p:cNvPr id="11" name="Text 8"/>
          <p:cNvSpPr/>
          <p:nvPr/>
        </p:nvSpPr>
        <p:spPr>
          <a:xfrm>
            <a:off x="7635240" y="1426464"/>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2" name="Text 9"/>
          <p:cNvSpPr/>
          <p:nvPr/>
        </p:nvSpPr>
        <p:spPr>
          <a:xfrm>
            <a:off x="8101584" y="1417320"/>
            <a:ext cx="3541471" cy="329184"/>
          </a:xfrm>
          <a:prstGeom prst="rect">
            <a:avLst/>
          </a:prstGeom>
          <a:noFill/>
          <a:ln/>
        </p:spPr>
        <p:txBody>
          <a:bodyPr wrap="square" lIns="0" tIns="0" rIns="0" bIns="0" rtlCol="0" anchor="t"/>
          <a:lstStyle/>
          <a:p>
            <a:pPr indent="0" marL="0">
              <a:buNone/>
            </a:pPr>
            <a:r>
              <a:rPr lang="en-US" sz="1400" b="1" dirty="0">
                <a:solidFill>
                  <a:srgbClr val="1E293B"/>
                </a:solidFill>
                <a:latin typeface="Segoe UI" pitchFamily="34" charset="0"/>
                <a:ea typeface="Segoe UI" pitchFamily="34" charset="-122"/>
                <a:cs typeface="Segoe UI" pitchFamily="34" charset="-120"/>
              </a:rPr>
              <a:t>Thư mục lưu: </a:t>
            </a:r>
            <a:pPr indent="0" marL="0">
              <a:buNone/>
            </a:pPr>
            <a:r>
              <a:rPr lang="en-US" sz="1400" dirty="0">
                <a:solidFill>
                  <a:srgbClr val="1E293B"/>
                </a:solidFill>
                <a:latin typeface="Segoe UI" pitchFamily="34" charset="0"/>
                <a:ea typeface="Segoe UI" pitchFamily="34" charset="-122"/>
                <a:cs typeface="Segoe UI" pitchFamily="34" charset="-120"/>
              </a:rPr>
              <a:t>nơi lưu ảnh</a:t>
            </a:r>
            <a:endParaRPr lang="en-US" sz="1400" dirty="0"/>
          </a:p>
        </p:txBody>
      </p:sp>
      <p:sp>
        <p:nvSpPr>
          <p:cNvPr id="13" name="Text 10"/>
          <p:cNvSpPr/>
          <p:nvPr/>
        </p:nvSpPr>
        <p:spPr>
          <a:xfrm>
            <a:off x="7635240" y="1938528"/>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4" name="Text 11"/>
          <p:cNvSpPr/>
          <p:nvPr/>
        </p:nvSpPr>
        <p:spPr>
          <a:xfrm>
            <a:off x="8101584" y="1929384"/>
            <a:ext cx="3541471" cy="748284"/>
          </a:xfrm>
          <a:prstGeom prst="rect">
            <a:avLst/>
          </a:prstGeom>
          <a:noFill/>
          <a:ln/>
        </p:spPr>
        <p:txBody>
          <a:bodyPr wrap="square" lIns="0" tIns="0" rIns="0" bIns="0" rtlCol="0" anchor="t"/>
          <a:lstStyle/>
          <a:p>
            <a:pPr indent="0" marL="0">
              <a:buNone/>
            </a:pPr>
            <a:r>
              <a:rPr lang="en-US" sz="1400" b="1" dirty="0">
                <a:solidFill>
                  <a:srgbClr val="1E293B"/>
                </a:solidFill>
                <a:latin typeface="Segoe UI" pitchFamily="34" charset="0"/>
                <a:ea typeface="Segoe UI" pitchFamily="34" charset="-122"/>
                <a:cs typeface="Segoe UI" pitchFamily="34" charset="-120"/>
              </a:rPr>
              <a:t>Mẫu tên: </a:t>
            </a:r>
            <a:pPr indent="0" marL="0">
              <a:buNone/>
            </a:pPr>
            <a:r>
              <a:rPr lang="en-US" sz="1400" dirty="0">
                <a:solidFill>
                  <a:srgbClr val="1E293B"/>
                </a:solidFill>
                <a:latin typeface="Segoe UI" pitchFamily="34" charset="0"/>
                <a:ea typeface="Segoe UI" pitchFamily="34" charset="-122"/>
                <a:cs typeface="Segoe UI" pitchFamily="34" charset="-120"/>
              </a:rPr>
              <a:t>thông tin mẫu đang chụp, nối bằng _; đổi trước khi chụp mẫu mới
</a:t>
            </a:r>
            <a:pPr indent="0" marL="0">
              <a:buNone/>
            </a:pPr>
            <a:r>
              <a:rPr lang="en-US" sz="1200" dirty="0">
                <a:solidFill>
                  <a:srgbClr val="16A34A"/>
                </a:solidFill>
                <a:latin typeface="Consolas" pitchFamily="34" charset="0"/>
                <a:ea typeface="Consolas" pitchFamily="34" charset="-122"/>
                <a:cs typeface="Consolas" pitchFamily="34" charset="-120"/>
              </a:rPr>
              <a:t>ĐK1_1_Lens_Sheet1_A-1_Top_Xước</a:t>
            </a:r>
            <a:endParaRPr lang="en-US" sz="1400" dirty="0"/>
          </a:p>
        </p:txBody>
      </p:sp>
      <p:sp>
        <p:nvSpPr>
          <p:cNvPr id="15" name="Text 12"/>
          <p:cNvSpPr/>
          <p:nvPr/>
        </p:nvSpPr>
        <p:spPr>
          <a:xfrm>
            <a:off x="7635240" y="2869692"/>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6" name="Text 13"/>
          <p:cNvSpPr/>
          <p:nvPr/>
        </p:nvSpPr>
        <p:spPr>
          <a:xfrm>
            <a:off x="8101584" y="2860548"/>
            <a:ext cx="3541471" cy="748284"/>
          </a:xfrm>
          <a:prstGeom prst="rect">
            <a:avLst/>
          </a:prstGeom>
          <a:noFill/>
          <a:ln/>
        </p:spPr>
        <p:txBody>
          <a:bodyPr wrap="square" lIns="0" tIns="0" rIns="0" bIns="0" rtlCol="0" anchor="t"/>
          <a:lstStyle/>
          <a:p>
            <a:pPr indent="0" marL="0">
              <a:buNone/>
            </a:pPr>
            <a:r>
              <a:rPr lang="en-US" sz="1400" b="1" dirty="0">
                <a:solidFill>
                  <a:srgbClr val="1E293B"/>
                </a:solidFill>
                <a:latin typeface="Segoe UI" pitchFamily="34" charset="0"/>
                <a:ea typeface="Segoe UI" pitchFamily="34" charset="-122"/>
                <a:cs typeface="Segoe UI" pitchFamily="34" charset="-120"/>
              </a:rPr>
              <a:t>Hậu tố: </a:t>
            </a:r>
            <a:pPr indent="0" marL="0">
              <a:buNone/>
            </a:pPr>
            <a:r>
              <a:rPr lang="en-US" sz="1400" dirty="0">
                <a:solidFill>
                  <a:srgbClr val="1E293B"/>
                </a:solidFill>
                <a:latin typeface="Segoe UI" pitchFamily="34" charset="0"/>
                <a:ea typeface="Segoe UI" pitchFamily="34" charset="-122"/>
                <a:cs typeface="Segoe UI" pitchFamily="34" charset="-120"/>
              </a:rPr>
              <a:t>Timestamp / Số thứ tự – tự thêm ngày giờ / lần chụp để ảnh không ghi đè</a:t>
            </a:r>
            <a:endParaRPr lang="en-US" sz="1400" dirty="0"/>
          </a:p>
        </p:txBody>
      </p:sp>
      <p:sp>
        <p:nvSpPr>
          <p:cNvPr id="17" name="Text 14"/>
          <p:cNvSpPr/>
          <p:nvPr/>
        </p:nvSpPr>
        <p:spPr>
          <a:xfrm>
            <a:off x="7635240" y="3800856"/>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18" name="Text 15"/>
          <p:cNvSpPr/>
          <p:nvPr/>
        </p:nvSpPr>
        <p:spPr>
          <a:xfrm>
            <a:off x="8101584" y="3791712"/>
            <a:ext cx="3541471" cy="517144"/>
          </a:xfrm>
          <a:prstGeom prst="rect">
            <a:avLst/>
          </a:prstGeom>
          <a:noFill/>
          <a:ln/>
        </p:spPr>
        <p:txBody>
          <a:bodyPr wrap="square" lIns="0" tIns="0" rIns="0" bIns="0" rtlCol="0" anchor="t"/>
          <a:lstStyle/>
          <a:p>
            <a:pPr indent="0" marL="0">
              <a:buNone/>
            </a:pPr>
            <a:r>
              <a:rPr lang="en-US" sz="1400" b="1" dirty="0">
                <a:solidFill>
                  <a:srgbClr val="1E293B"/>
                </a:solidFill>
                <a:latin typeface="Segoe UI" pitchFamily="34" charset="0"/>
                <a:ea typeface="Segoe UI" pitchFamily="34" charset="-122"/>
                <a:cs typeface="Segoe UI" pitchFamily="34" charset="-120"/>
              </a:rPr>
              <a:t>Tick Lưu Raw và Lưu Mask </a:t>
            </a:r>
            <a:pPr indent="0" marL="0">
              <a:buNone/>
            </a:pPr>
            <a:r>
              <a:rPr lang="en-US" sz="1400" dirty="0">
                <a:solidFill>
                  <a:srgbClr val="1E293B"/>
                </a:solidFill>
                <a:latin typeface="Segoe UI" pitchFamily="34" charset="0"/>
                <a:ea typeface="Segoe UI" pitchFamily="34" charset="-122"/>
                <a:cs typeface="Segoe UI" pitchFamily="34" charset="-120"/>
              </a:rPr>
              <a:t>– tự tạo thư mục con \raw và \mask</a:t>
            </a:r>
            <a:endParaRPr lang="en-US" sz="1400" dirty="0"/>
          </a:p>
        </p:txBody>
      </p:sp>
      <p:sp>
        <p:nvSpPr>
          <p:cNvPr id="19" name="Text 16"/>
          <p:cNvSpPr/>
          <p:nvPr/>
        </p:nvSpPr>
        <p:spPr>
          <a:xfrm>
            <a:off x="7635240" y="4500880"/>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5</a:t>
            </a:r>
            <a:endParaRPr lang="en-US" sz="1300" dirty="0"/>
          </a:p>
        </p:txBody>
      </p:sp>
      <p:sp>
        <p:nvSpPr>
          <p:cNvPr id="20" name="Text 17"/>
          <p:cNvSpPr/>
          <p:nvPr/>
        </p:nvSpPr>
        <p:spPr>
          <a:xfrm>
            <a:off x="8101584" y="4491736"/>
            <a:ext cx="3541471" cy="329184"/>
          </a:xfrm>
          <a:prstGeom prst="rect">
            <a:avLst/>
          </a:prstGeom>
          <a:noFill/>
          <a:ln/>
        </p:spPr>
        <p:txBody>
          <a:bodyPr wrap="square" lIns="0" tIns="0" rIns="0" bIns="0" rtlCol="0" anchor="t"/>
          <a:lstStyle/>
          <a:p>
            <a:pPr indent="0" marL="0">
              <a:buNone/>
            </a:pPr>
            <a:r>
              <a:rPr lang="en-US" sz="1400" b="1" dirty="0">
                <a:solidFill>
                  <a:srgbClr val="1E293B"/>
                </a:solidFill>
                <a:latin typeface="Segoe UI" pitchFamily="34" charset="0"/>
                <a:ea typeface="Segoe UI" pitchFamily="34" charset="-122"/>
                <a:cs typeface="Segoe UI" pitchFamily="34" charset="-120"/>
              </a:rPr>
              <a:t>Chụp ảnh</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  </a:t>
            </a:r>
            <a:pPr algn="ctr" indent="0" marL="0">
              <a:buNone/>
            </a:pPr>
            <a:r>
              <a:rPr lang="en-US" sz="1000" dirty="0">
                <a:solidFill>
                  <a:srgbClr val="FFFFFF"/>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Mỗi lần trigger: 1 ảnh Raw + 1 ảnh Mask, tự phân thư mục</a:t>
            </a:r>
            <a:endParaRPr lang="en-US" sz="2600" dirty="0"/>
          </a:p>
        </p:txBody>
      </p:sp>
      <p:sp>
        <p:nvSpPr>
          <p:cNvPr id="9" name="Shape 7"/>
          <p:cNvSpPr/>
          <p:nvPr/>
        </p:nvSpPr>
        <p:spPr>
          <a:xfrm>
            <a:off x="521208" y="1344168"/>
            <a:ext cx="5780197" cy="366674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0" name="Image 0" descr="Hình minh họa 31">    </p:cNvPr>
          <p:cNvPicPr>
            <a:picLocks noChangeAspect="1"/>
          </p:cNvPicPr>
          <p:nvPr/>
        </p:nvPicPr>
        <p:blipFill>
          <a:blip r:embed="rId1"/>
          <a:stretch>
            <a:fillRect/>
          </a:stretch>
        </p:blipFill>
        <p:spPr>
          <a:xfrm>
            <a:off x="548640" y="1371600"/>
            <a:ext cx="5725333" cy="3611880"/>
          </a:xfrm>
          <a:prstGeom prst="rect">
            <a:avLst/>
          </a:prstGeom>
        </p:spPr>
      </p:pic>
      <p:sp>
        <p:nvSpPr>
          <p:cNvPr id="11" name="Text 8"/>
          <p:cNvSpPr/>
          <p:nvPr/>
        </p:nvSpPr>
        <p:spPr>
          <a:xfrm>
            <a:off x="548640" y="5056632"/>
            <a:ext cx="5725333"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Màu chữ trong tên file trùng với trường trong schema</a:t>
            </a:r>
            <a:endParaRPr lang="en-US" sz="1100" dirty="0"/>
          </a:p>
        </p:txBody>
      </p:sp>
      <p:sp>
        <p:nvSpPr>
          <p:cNvPr id="12" name="Text 9"/>
          <p:cNvSpPr/>
          <p:nvPr/>
        </p:nvSpPr>
        <p:spPr>
          <a:xfrm>
            <a:off x="7223760" y="1371600"/>
            <a:ext cx="4419295" cy="292608"/>
          </a:xfrm>
          <a:prstGeom prst="rect">
            <a:avLst/>
          </a:prstGeom>
          <a:noFill/>
          <a:ln/>
        </p:spPr>
        <p:txBody>
          <a:bodyPr wrap="square" lIns="0" tIns="0" rIns="0" bIns="0" rtlCol="0" anchor="ctr"/>
          <a:lstStyle/>
          <a:p>
            <a:pPr indent="0" marL="0">
              <a:buNone/>
            </a:pPr>
            <a:r>
              <a:rPr lang="en-US" sz="1500" b="1" dirty="0">
                <a:solidFill>
                  <a:srgbClr val="0F172A"/>
                </a:solidFill>
                <a:latin typeface="Segoe UI" pitchFamily="34" charset="0"/>
                <a:ea typeface="Segoe UI" pitchFamily="34" charset="-122"/>
                <a:cs typeface="Segoe UI" pitchFamily="34" charset="-120"/>
              </a:rPr>
              <a:t>Điều gì xảy ra khi trigger?</a:t>
            </a:r>
            <a:endParaRPr lang="en-US" sz="1500" dirty="0"/>
          </a:p>
        </p:txBody>
      </p:sp>
      <p:sp>
        <p:nvSpPr>
          <p:cNvPr id="13" name="Text 10"/>
          <p:cNvSpPr/>
          <p:nvPr/>
        </p:nvSpPr>
        <p:spPr>
          <a:xfrm>
            <a:off x="7223760" y="1737360"/>
            <a:ext cx="4419295" cy="173736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Ảnh tự động lưu với tên theo cấu trúc đã nhập</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Tự động phân thư mục Raw | Mask</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Raw và Mask của cùng một lần chụp có cùng ngày giờ → tự ghép cặp</a:t>
            </a:r>
            <a:endParaRPr lang="en-US" sz="1500" dirty="0"/>
          </a:p>
        </p:txBody>
      </p:sp>
      <p:sp>
        <p:nvSpPr>
          <p:cNvPr id="14" name="Text 11"/>
          <p:cNvSpPr/>
          <p:nvPr/>
        </p:nvSpPr>
        <p:spPr>
          <a:xfrm>
            <a:off x="7223760" y="3566160"/>
            <a:ext cx="4419295" cy="292608"/>
          </a:xfrm>
          <a:prstGeom prst="rect">
            <a:avLst/>
          </a:prstGeom>
          <a:noFill/>
          <a:ln/>
        </p:spPr>
        <p:txBody>
          <a:bodyPr wrap="square" lIns="0" tIns="0" rIns="0" bIns="0" rtlCol="0" anchor="ctr"/>
          <a:lstStyle/>
          <a:p>
            <a:pPr indent="0" marL="0">
              <a:buNone/>
            </a:pPr>
            <a:r>
              <a:rPr lang="en-US" sz="1500" b="1" dirty="0">
                <a:solidFill>
                  <a:srgbClr val="0F172A"/>
                </a:solidFill>
                <a:latin typeface="Segoe UI" pitchFamily="34" charset="0"/>
                <a:ea typeface="Segoe UI" pitchFamily="34" charset="-122"/>
                <a:cs typeface="Segoe UI" pitchFamily="34" charset="-120"/>
              </a:rPr>
              <a:t>Dữ liệu sẽ thế nào?</a:t>
            </a:r>
            <a:endParaRPr lang="en-US" sz="1500" dirty="0"/>
          </a:p>
        </p:txBody>
      </p:sp>
      <p:sp>
        <p:nvSpPr>
          <p:cNvPr id="15" name="Text 12"/>
          <p:cNvSpPr/>
          <p:nvPr/>
        </p:nvSpPr>
        <p:spPr>
          <a:xfrm>
            <a:off x="7223760" y="3931920"/>
            <a:ext cx="4419295" cy="128016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Mở thư mục lưu ở tab Dataset Manager: mỗi mẫu là một hàng</a:t>
            </a:r>
            <a:endParaRPr lang="en-US" sz="1500" dirty="0"/>
          </a:p>
          <a:p>
            <a:pPr marL="228600" indent="-228600">
              <a:lnSpc>
                <a:spcPct val="105000"/>
              </a:lnSpc>
              <a:spcAft>
                <a:spcPts val="800"/>
              </a:spcAft>
              <a:buSzPct val="100000"/>
              <a:buChar char="■"/>
            </a:pPr>
            <a:r>
              <a:rPr lang="en-US" sz="1500" dirty="0">
                <a:solidFill>
                  <a:srgbClr val="1E293B"/>
                </a:solidFill>
                <a:latin typeface="Segoe UI" pitchFamily="34" charset="0"/>
                <a:ea typeface="Segoe UI" pitchFamily="34" charset="-122"/>
                <a:cs typeface="Segoe UI" pitchFamily="34" charset="-120"/>
              </a:rPr>
              <a:t>Nhiều điều kiện: các block ĐK1 / ĐK2 nằm cạnh nhau</a:t>
            </a:r>
            <a:endParaRPr lang="en-US" sz="1500" dirty="0"/>
          </a:p>
        </p:txBody>
      </p:sp>
      <p:sp>
        <p:nvSpPr>
          <p:cNvPr id="16" name="Shape 13"/>
          <p:cNvSpPr/>
          <p:nvPr/>
        </p:nvSpPr>
        <p:spPr>
          <a:xfrm>
            <a:off x="3364605" y="5413248"/>
            <a:ext cx="5462485" cy="621792"/>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7" name="Image 1" descr="Hình minh họa 32">    </p:cNvPr>
          <p:cNvPicPr>
            <a:picLocks noChangeAspect="1"/>
          </p:cNvPicPr>
          <p:nvPr/>
        </p:nvPicPr>
        <p:blipFill>
          <a:blip r:embed="rId2"/>
          <a:stretch>
            <a:fillRect/>
          </a:stretch>
        </p:blipFill>
        <p:spPr>
          <a:xfrm>
            <a:off x="3392037" y="5440680"/>
            <a:ext cx="5407621" cy="566928"/>
          </a:xfrm>
          <a:prstGeom prst="rect">
            <a:avLst/>
          </a:prstGeom>
        </p:spPr>
      </p:pic>
      <p:sp>
        <p:nvSpPr>
          <p:cNvPr id="18" name="Text 14"/>
          <p:cNvSpPr/>
          <p:nvPr/>
        </p:nvSpPr>
        <p:spPr>
          <a:xfrm>
            <a:off x="548640" y="6035040"/>
            <a:ext cx="11094415" cy="22860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Bảng kết quả – mẫu No 1 ở ĐK1 chụp 2 lần, gộp vào 1 hàng</a:t>
            </a:r>
            <a:endParaRPr lang="en-US" sz="11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  </a:t>
            </a:r>
            <a:pPr algn="ctr" indent="0" marL="0">
              <a:buNone/>
            </a:pPr>
            <a:r>
              <a:rPr lang="en-US" sz="1000" dirty="0">
                <a:solidFill>
                  <a:srgbClr val="FFFFFF"/>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Cách 2 · Thư mục ảnh có sẵn phải theo một quy tắc thống nhất</a:t>
            </a:r>
            <a:endParaRPr lang="en-US" sz="2600" dirty="0"/>
          </a:p>
        </p:txBody>
      </p:sp>
      <p:sp>
        <p:nvSpPr>
          <p:cNvPr id="9" name="Text 7"/>
          <p:cNvSpPr/>
          <p:nvPr/>
        </p:nvSpPr>
        <p:spPr>
          <a:xfrm>
            <a:off x="548640" y="1371600"/>
            <a:ext cx="11094415" cy="320040"/>
          </a:xfrm>
          <a:prstGeom prst="rect">
            <a:avLst/>
          </a:prstGeom>
          <a:noFill/>
          <a:ln/>
        </p:spPr>
        <p:txBody>
          <a:bodyPr wrap="square" lIns="0" tIns="0" rIns="0" bIns="0" rtlCol="0" anchor="ctr"/>
          <a:lstStyle/>
          <a:p>
            <a:pPr indent="0" marL="0">
              <a:buNone/>
            </a:pPr>
            <a:r>
              <a:rPr lang="en-US" sz="1600" dirty="0">
                <a:solidFill>
                  <a:srgbClr val="64748B"/>
                </a:solidFill>
                <a:latin typeface="Segoe UI" pitchFamily="34" charset="0"/>
                <a:ea typeface="Segoe UI" pitchFamily="34" charset="-122"/>
                <a:cs typeface="Segoe UI" pitchFamily="34" charset="-120"/>
              </a:rPr>
              <a:t>Để phần mềm đọc được và ghép đúng Raw – Mask – ĐK.</a:t>
            </a:r>
            <a:endParaRPr lang="en-US" sz="1600" dirty="0"/>
          </a:p>
        </p:txBody>
      </p:sp>
      <p:sp>
        <p:nvSpPr>
          <p:cNvPr id="10" name="Shape 8"/>
          <p:cNvSpPr/>
          <p:nvPr/>
        </p:nvSpPr>
        <p:spPr>
          <a:xfrm>
            <a:off x="548640" y="1874520"/>
            <a:ext cx="5364328" cy="4206240"/>
          </a:xfrm>
          <a:prstGeom prst="roundRect">
            <a:avLst>
              <a:gd name="adj" fmla="val 1739"/>
            </a:avLst>
          </a:prstGeom>
          <a:solidFill>
            <a:srgbClr val="ECFDF3"/>
          </a:solidFill>
          <a:ln w="9525">
            <a:solidFill>
              <a:srgbClr val="BBE5C8"/>
            </a:solidFill>
            <a:prstDash val="solid"/>
          </a:ln>
        </p:spPr>
      </p:sp>
      <p:sp>
        <p:nvSpPr>
          <p:cNvPr id="11" name="Text 9"/>
          <p:cNvSpPr/>
          <p:nvPr/>
        </p:nvSpPr>
        <p:spPr>
          <a:xfrm>
            <a:off x="822960" y="2103120"/>
            <a:ext cx="4815688" cy="411480"/>
          </a:xfrm>
          <a:prstGeom prst="rect">
            <a:avLst/>
          </a:prstGeom>
          <a:noFill/>
          <a:ln/>
        </p:spPr>
        <p:txBody>
          <a:bodyPr wrap="square" lIns="0" tIns="0" rIns="0" bIns="0" rtlCol="0" anchor="ctr"/>
          <a:lstStyle/>
          <a:p>
            <a:pPr indent="0" marL="0">
              <a:buNone/>
            </a:pPr>
            <a:r>
              <a:rPr lang="en-US" sz="1900" b="1" dirty="0">
                <a:solidFill>
                  <a:srgbClr val="16A34A"/>
                </a:solidFill>
                <a:latin typeface="Segoe UI" pitchFamily="34" charset="0"/>
                <a:ea typeface="Segoe UI" pitchFamily="34" charset="-122"/>
                <a:cs typeface="Segoe UI" pitchFamily="34" charset="-120"/>
              </a:rPr>
              <a:t>Quy tắc đặt tên file</a:t>
            </a:r>
            <a:endParaRPr lang="en-US" sz="1900" dirty="0"/>
          </a:p>
        </p:txBody>
      </p:sp>
      <p:sp>
        <p:nvSpPr>
          <p:cNvPr id="12" name="Text 10"/>
          <p:cNvSpPr/>
          <p:nvPr/>
        </p:nvSpPr>
        <p:spPr>
          <a:xfrm>
            <a:off x="822960" y="2743200"/>
            <a:ext cx="4815688" cy="3200400"/>
          </a:xfrm>
          <a:prstGeom prst="rect">
            <a:avLst/>
          </a:prstGeom>
          <a:noFill/>
          <a:ln/>
        </p:spPr>
        <p:txBody>
          <a:bodyPr wrap="square" lIns="0" tIns="0" rIns="0" bIns="0" rtlCol="0" anchor="t"/>
          <a:lstStyle/>
          <a:p>
            <a:pPr marL="228600" indent="-228600">
              <a:lnSpc>
                <a:spcPct val="105000"/>
              </a:lnSpc>
              <a:spcAft>
                <a:spcPts val="1400"/>
              </a:spcAft>
              <a:buSzPct val="100000"/>
              <a:buChar char="■"/>
            </a:pPr>
            <a:r>
              <a:rPr lang="en-US" sz="1600" dirty="0">
                <a:solidFill>
                  <a:srgbClr val="1E293B"/>
                </a:solidFill>
                <a:latin typeface="Segoe UI" pitchFamily="34" charset="0"/>
                <a:ea typeface="Segoe UI" pitchFamily="34" charset="-122"/>
                <a:cs typeface="Segoe UI" pitchFamily="34" charset="-120"/>
              </a:rPr>
              <a:t>Các trường nối bằng dấu _; thứ tự trường giống nhau ở mọi file</a:t>
            </a:r>
            <a:endParaRPr lang="en-US" sz="1600" dirty="0"/>
          </a:p>
          <a:p>
            <a:pPr marL="228600" indent="-228600">
              <a:lnSpc>
                <a:spcPct val="105000"/>
              </a:lnSpc>
              <a:spcAft>
                <a:spcPts val="1400"/>
              </a:spcAft>
              <a:buSzPct val="100000"/>
              <a:buChar char="■"/>
            </a:pPr>
            <a:r>
              <a:rPr lang="en-US" sz="1600" dirty="0">
                <a:solidFill>
                  <a:srgbClr val="1E293B"/>
                </a:solidFill>
                <a:latin typeface="Segoe UI" pitchFamily="34" charset="0"/>
                <a:ea typeface="Segoe UI" pitchFamily="34" charset="-122"/>
                <a:cs typeface="Segoe UI" pitchFamily="34" charset="-120"/>
              </a:rPr>
              <a:t>Raw và Mask của cùng mẫu: tên giống hệt, chỉ khác chữ Raw / Mask</a:t>
            </a:r>
            <a:endParaRPr lang="en-US" sz="1600" dirty="0"/>
          </a:p>
          <a:p>
            <a:pPr marL="228600" indent="-228600">
              <a:lnSpc>
                <a:spcPct val="105000"/>
              </a:lnSpc>
              <a:spcAft>
                <a:spcPts val="1400"/>
              </a:spcAft>
              <a:buSzPct val="100000"/>
              <a:buChar char="■"/>
            </a:pPr>
            <a:r>
              <a:rPr lang="en-US" sz="1600" dirty="0">
                <a:solidFill>
                  <a:srgbClr val="1E293B"/>
                </a:solidFill>
                <a:latin typeface="Segoe UI" pitchFamily="34" charset="0"/>
                <a:ea typeface="Segoe UI" pitchFamily="34" charset="-122"/>
                <a:cs typeface="Segoe UI" pitchFamily="34" charset="-120"/>
              </a:rPr>
              <a:t>Các ĐK của cùng mẫu: giống nhau, chỉ khác &lt;ĐK&gt; và &lt;Đánh giá&gt;</a:t>
            </a:r>
            <a:endParaRPr lang="en-US" sz="1600" dirty="0"/>
          </a:p>
          <a:p>
            <a:pPr marL="228600" indent="-228600">
              <a:lnSpc>
                <a:spcPct val="105000"/>
              </a:lnSpc>
              <a:spcAft>
                <a:spcPts val="1400"/>
              </a:spcAft>
              <a:buSzPct val="100000"/>
              <a:buChar char="■"/>
            </a:pPr>
            <a:r>
              <a:rPr lang="en-US" sz="1600" dirty="0">
                <a:solidFill>
                  <a:srgbClr val="1E293B"/>
                </a:solidFill>
                <a:latin typeface="Segoe UI" pitchFamily="34" charset="0"/>
                <a:ea typeface="Segoe UI" pitchFamily="34" charset="-122"/>
                <a:cs typeface="Segoe UI" pitchFamily="34" charset="-120"/>
              </a:rPr>
              <a:t>Không dùng ký tự đặc biệt  \ / : * ? " &lt; &gt; |</a:t>
            </a:r>
            <a:endParaRPr lang="en-US" sz="1600" dirty="0"/>
          </a:p>
        </p:txBody>
      </p:sp>
      <p:sp>
        <p:nvSpPr>
          <p:cNvPr id="13" name="Shape 11"/>
          <p:cNvSpPr/>
          <p:nvPr/>
        </p:nvSpPr>
        <p:spPr>
          <a:xfrm>
            <a:off x="6278728" y="1874520"/>
            <a:ext cx="5364328" cy="4206240"/>
          </a:xfrm>
          <a:prstGeom prst="roundRect">
            <a:avLst>
              <a:gd name="adj" fmla="val 1739"/>
            </a:avLst>
          </a:prstGeom>
          <a:solidFill>
            <a:srgbClr val="FFFFFF"/>
          </a:solidFill>
          <a:ln w="9525">
            <a:solidFill>
              <a:srgbClr val="E2E8F0"/>
            </a:solidFill>
            <a:prstDash val="solid"/>
          </a:ln>
        </p:spPr>
      </p:sp>
      <p:sp>
        <p:nvSpPr>
          <p:cNvPr id="14" name="Text 12"/>
          <p:cNvSpPr/>
          <p:nvPr/>
        </p:nvSpPr>
        <p:spPr>
          <a:xfrm>
            <a:off x="6553048" y="2103120"/>
            <a:ext cx="4815688" cy="411480"/>
          </a:xfrm>
          <a:prstGeom prst="rect">
            <a:avLst/>
          </a:prstGeom>
          <a:noFill/>
          <a:ln/>
        </p:spPr>
        <p:txBody>
          <a:bodyPr wrap="square" lIns="0" tIns="0" rIns="0" bIns="0"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Quy tắc quản lý bằng thư mục</a:t>
            </a:r>
            <a:endParaRPr lang="en-US" sz="1900" dirty="0"/>
          </a:p>
        </p:txBody>
      </p:sp>
      <p:sp>
        <p:nvSpPr>
          <p:cNvPr id="15" name="Text 13"/>
          <p:cNvSpPr/>
          <p:nvPr/>
        </p:nvSpPr>
        <p:spPr>
          <a:xfrm>
            <a:off x="6553048" y="2743200"/>
            <a:ext cx="4815688" cy="3200400"/>
          </a:xfrm>
          <a:prstGeom prst="rect">
            <a:avLst/>
          </a:prstGeom>
          <a:noFill/>
          <a:ln/>
        </p:spPr>
        <p:txBody>
          <a:bodyPr wrap="square" lIns="0" tIns="0" rIns="0" bIns="0" rtlCol="0" anchor="t"/>
          <a:lstStyle/>
          <a:p>
            <a:pPr marL="228600" indent="-228600">
              <a:lnSpc>
                <a:spcPct val="105000"/>
              </a:lnSpc>
              <a:spcAft>
                <a:spcPts val="1400"/>
              </a:spcAft>
              <a:buSzPct val="100000"/>
              <a:buChar char="■"/>
            </a:pPr>
            <a:r>
              <a:rPr lang="en-US" sz="1600" dirty="0">
                <a:solidFill>
                  <a:srgbClr val="1E293B"/>
                </a:solidFill>
                <a:latin typeface="Segoe UI" pitchFamily="34" charset="0"/>
                <a:ea typeface="Segoe UI" pitchFamily="34" charset="-122"/>
                <a:cs typeface="Segoe UI" pitchFamily="34" charset="-120"/>
              </a:rPr>
              <a:t>Mỗi cấp thư mục là một trường</a:t>
            </a:r>
            <a:endParaRPr lang="en-US" sz="1600" dirty="0"/>
          </a:p>
          <a:p>
            <a:pPr marL="228600" indent="-228600">
              <a:lnSpc>
                <a:spcPct val="105000"/>
              </a:lnSpc>
              <a:spcAft>
                <a:spcPts val="1400"/>
              </a:spcAft>
              <a:buSzPct val="100000"/>
              <a:buChar char="■"/>
            </a:pPr>
            <a:r>
              <a:rPr lang="en-US" sz="1600" dirty="0">
                <a:solidFill>
                  <a:srgbClr val="1E293B"/>
                </a:solidFill>
                <a:latin typeface="Segoe UI" pitchFamily="34" charset="0"/>
                <a:ea typeface="Segoe UI" pitchFamily="34" charset="-122"/>
                <a:cs typeface="Segoe UI" pitchFamily="34" charset="-120"/>
              </a:rPr>
              <a:t>Thứ tự các cấp giống nhau ở mọi nhánh; ảnh chỉ nằm ở cấp cuối</a:t>
            </a:r>
            <a:endParaRPr lang="en-US" sz="1600" dirty="0"/>
          </a:p>
          <a:p>
            <a:pPr marL="228600" indent="-228600">
              <a:lnSpc>
                <a:spcPct val="105000"/>
              </a:lnSpc>
              <a:spcAft>
                <a:spcPts val="1400"/>
              </a:spcAft>
              <a:buSzPct val="100000"/>
              <a:buChar char="■"/>
            </a:pPr>
            <a:r>
              <a:rPr lang="en-US" sz="1600" dirty="0">
                <a:solidFill>
                  <a:srgbClr val="1E293B"/>
                </a:solidFill>
                <a:latin typeface="Segoe UI" pitchFamily="34" charset="0"/>
                <a:ea typeface="Segoe UI" pitchFamily="34" charset="-122"/>
                <a:cs typeface="Segoe UI" pitchFamily="34" charset="-120"/>
              </a:rPr>
              <a:t>Trường đã đưa lên thư mục thì bỏ khỏi tên file</a:t>
            </a:r>
            <a:endParaRPr lang="en-US" sz="1600" dirty="0"/>
          </a:p>
          <a:p>
            <a:pPr marL="228600" indent="-228600">
              <a:lnSpc>
                <a:spcPct val="105000"/>
              </a:lnSpc>
              <a:spcAft>
                <a:spcPts val="1400"/>
              </a:spcAft>
              <a:buSzPct val="100000"/>
              <a:buChar char="■"/>
            </a:pPr>
            <a:r>
              <a:rPr lang="en-US" sz="1600" dirty="0">
                <a:solidFill>
                  <a:srgbClr val="1E293B"/>
                </a:solidFill>
                <a:latin typeface="Segoe UI" pitchFamily="34" charset="0"/>
                <a:ea typeface="Segoe UI" pitchFamily="34" charset="-122"/>
                <a:cs typeface="Segoe UI" pitchFamily="34" charset="-120"/>
              </a:rPr>
              <a:t>Trong schema, giữa các cấp dùng dấu \ (chi tiết ở Bước 2)</a:t>
            </a:r>
            <a:endParaRPr lang="en-US" sz="16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  </a:t>
            </a:r>
            <a:pPr algn="ctr" indent="0" marL="0">
              <a:buNone/>
            </a:pPr>
            <a:r>
              <a:rPr lang="en-US" sz="1000" dirty="0">
                <a:solidFill>
                  <a:srgbClr val="FFFFFF"/>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Cách 2 · Các lỗi đặt tên thường gặp</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749040"/>
                <a:gridCol w="4023360"/>
                <a:gridCol w="3322015"/>
              </a:tblGrid>
              <a:tr h="502920">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  Nên</a:t>
                      </a:r>
                      <a:endParaRPr lang="en-US" sz="1500" dirty="0">
                        <a:latin typeface="Segoe UI" charset="0"/>
                        <a:ea typeface="Segoe UI" charset="0"/>
                        <a:cs typeface="Segoe UI"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6A34A"/>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  Không nên</a:t>
                      </a:r>
                      <a:endParaRPr lang="en-US" sz="1500" dirty="0">
                        <a:latin typeface="Segoe UI" charset="0"/>
                        <a:ea typeface="Segoe UI" charset="0"/>
                        <a:cs typeface="Segoe UI"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B91C1C"/>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Lý do</a:t>
                      </a:r>
                      <a:endParaRPr lang="en-US" sz="1500" dirty="0">
                        <a:latin typeface="Segoe UI" charset="0"/>
                        <a:ea typeface="Segoe UI" charset="0"/>
                        <a:cs typeface="Segoe UI"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822960">
                <a:tc>
                  <a:txBody>
                    <a:bodyPr/>
                    <a:lstStyle/>
                    <a:p>
                      <a:pPr indent="0" marL="0">
                        <a:buNone/>
                      </a:pPr>
                      <a:r>
                        <a:rPr lang="en-US" sz="1400" dirty="0">
                          <a:solidFill>
                            <a:srgbClr val="166534"/>
                          </a:solidFill>
                          <a:latin typeface="Consolas" pitchFamily="34" charset="0"/>
                          <a:ea typeface="Consolas" pitchFamily="34" charset="-122"/>
                          <a:cs typeface="Consolas" pitchFamily="34" charset="-120"/>
                        </a:rPr>
                        <a:t>…_Sheet1_A-1_Top_</a:t>
                      </a:r>
                      <a:endParaRPr lang="en-US" sz="1400" dirty="0">
                        <a:latin typeface="Consolas" charset="0"/>
                        <a:ea typeface="Consolas" charset="0"/>
                        <a:cs typeface="Consolas"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991B1B"/>
                          </a:solidFill>
                          <a:latin typeface="Consolas" pitchFamily="34" charset="0"/>
                          <a:ea typeface="Consolas" pitchFamily="34" charset="-122"/>
                          <a:cs typeface="Consolas" pitchFamily="34" charset="-120"/>
                        </a:rPr>
                        <a:t>…_Sheet1_A_1_Top_</a:t>
                      </a:r>
                      <a:endParaRPr lang="en-US" sz="1400" dirty="0">
                        <a:latin typeface="Consolas" charset="0"/>
                        <a:ea typeface="Consolas" charset="0"/>
                        <a:cs typeface="Consolas"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rgbClr val="1E293B"/>
                          </a:solidFill>
                          <a:latin typeface="Segoe UI" pitchFamily="34" charset="0"/>
                          <a:ea typeface="Segoe UI" pitchFamily="34" charset="-122"/>
                          <a:cs typeface="Segoe UI" pitchFamily="34" charset="-120"/>
                        </a:rPr>
                        <a:t>Thừa dấu _ trong tên</a:t>
                      </a:r>
                      <a:endParaRPr lang="en-US" sz="1600" dirty="0">
                        <a:latin typeface="Segoe UI" charset="0"/>
                        <a:ea typeface="Segoe UI" charset="0"/>
                        <a:cs typeface="Segoe UI"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1097280">
                <a:tc>
                  <a:txBody>
                    <a:bodyPr/>
                    <a:lstStyle/>
                    <a:p>
                      <a:pPr indent="0" marL="0">
                        <a:buNone/>
                      </a:pPr>
                      <a:r>
                        <a:rPr lang="en-US" sz="1400" dirty="0">
                          <a:solidFill>
                            <a:srgbClr val="166534"/>
                          </a:solidFill>
                          <a:latin typeface="Consolas" pitchFamily="34" charset="0"/>
                          <a:ea typeface="Consolas" pitchFamily="34" charset="-122"/>
                          <a:cs typeface="Consolas" pitchFamily="34" charset="-120"/>
                        </a:rPr>
                        <a:t>…_Xước_NG_Raw_1.jpg</a:t>
                      </a:r>
                      <a:endParaRPr lang="en-US" sz="1400" dirty="0">
                        <a:latin typeface="Consolas" charset="0"/>
                        <a:ea typeface="Consolas" charset="0"/>
                        <a:cs typeface="Consolas" charset="0"/>
                      </a:endParaRPr>
                    </a:p>
                    <a:p>
                      <a:pPr indent="0" marL="0">
                        <a:buNone/>
                      </a:pPr>
                      <a:r>
                        <a:rPr lang="en-US" sz="1400" dirty="0">
                          <a:solidFill>
                            <a:srgbClr val="166534"/>
                          </a:solidFill>
                          <a:latin typeface="Consolas" pitchFamily="34" charset="0"/>
                          <a:ea typeface="Consolas" pitchFamily="34" charset="-122"/>
                          <a:cs typeface="Consolas" pitchFamily="34" charset="-120"/>
                        </a:rPr>
                        <a:t>…_Xước_NG_Mask_1.jpg</a:t>
                      </a:r>
                      <a:endParaRPr lang="en-US" sz="1400" dirty="0">
                        <a:latin typeface="Consolas" charset="0"/>
                        <a:ea typeface="Consolas" charset="0"/>
                        <a:cs typeface="Consolas"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991B1B"/>
                          </a:solidFill>
                          <a:latin typeface="Consolas" pitchFamily="34" charset="0"/>
                          <a:ea typeface="Consolas" pitchFamily="34" charset="-122"/>
                          <a:cs typeface="Consolas" pitchFamily="34" charset="-120"/>
                        </a:rPr>
                        <a:t>…_Xước_NG_Raw_1</a:t>
                      </a:r>
                      <a:endParaRPr lang="en-US" sz="1400" dirty="0">
                        <a:latin typeface="Consolas" charset="0"/>
                        <a:ea typeface="Consolas" charset="0"/>
                        <a:cs typeface="Consolas" charset="0"/>
                      </a:endParaRPr>
                    </a:p>
                    <a:p>
                      <a:pPr indent="0" marL="0">
                        <a:buNone/>
                      </a:pPr>
                      <a:r>
                        <a:rPr lang="en-US" sz="1400" dirty="0">
                          <a:solidFill>
                            <a:srgbClr val="991B1B"/>
                          </a:solidFill>
                          <a:latin typeface="Consolas" pitchFamily="34" charset="0"/>
                          <a:ea typeface="Consolas" pitchFamily="34" charset="-122"/>
                          <a:cs typeface="Consolas" pitchFamily="34" charset="-120"/>
                        </a:rPr>
                        <a:t>…_Xuoc_NG_Mask_1</a:t>
                      </a:r>
                      <a:endParaRPr lang="en-US" sz="1400" dirty="0">
                        <a:latin typeface="Consolas" charset="0"/>
                        <a:ea typeface="Consolas" charset="0"/>
                        <a:cs typeface="Consolas"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rgbClr val="1E293B"/>
                          </a:solidFill>
                          <a:latin typeface="Segoe UI" pitchFamily="34" charset="0"/>
                          <a:ea typeface="Segoe UI" pitchFamily="34" charset="-122"/>
                          <a:cs typeface="Segoe UI" pitchFamily="34" charset="-120"/>
                        </a:rPr>
                        <a:t>Tên lỗi của 1 cặp ảnh Raw | Mask khác nhau</a:t>
                      </a:r>
                      <a:endParaRPr lang="en-US" sz="1600" dirty="0">
                        <a:latin typeface="Segoe UI" charset="0"/>
                        <a:ea typeface="Segoe UI" charset="0"/>
                        <a:cs typeface="Segoe UI"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1097280">
                <a:tc>
                  <a:txBody>
                    <a:bodyPr/>
                    <a:lstStyle/>
                    <a:p>
                      <a:pPr indent="0" marL="0">
                        <a:buNone/>
                      </a:pPr>
                      <a:r>
                        <a:rPr lang="en-US" sz="1400" dirty="0">
                          <a:solidFill>
                            <a:srgbClr val="166534"/>
                          </a:solidFill>
                          <a:latin typeface="Consolas" pitchFamily="34" charset="0"/>
                          <a:ea typeface="Consolas" pitchFamily="34" charset="-122"/>
                          <a:cs typeface="Consolas" pitchFamily="34" charset="-120"/>
                        </a:rPr>
                        <a:t>…_NG_Raw_…</a:t>
                      </a:r>
                      <a:endParaRPr lang="en-US" sz="1400" dirty="0">
                        <a:latin typeface="Consolas" charset="0"/>
                        <a:ea typeface="Consolas" charset="0"/>
                        <a:cs typeface="Consolas" charset="0"/>
                      </a:endParaRPr>
                    </a:p>
                    <a:p>
                      <a:pPr indent="0" marL="0">
                        <a:buNone/>
                      </a:pPr>
                      <a:r>
                        <a:rPr lang="en-US" sz="1400" dirty="0">
                          <a:solidFill>
                            <a:srgbClr val="166534"/>
                          </a:solidFill>
                          <a:latin typeface="Consolas" pitchFamily="34" charset="0"/>
                          <a:ea typeface="Consolas" pitchFamily="34" charset="-122"/>
                          <a:cs typeface="Consolas" pitchFamily="34" charset="-120"/>
                        </a:rPr>
                        <a:t>…_OK_Mask_…</a:t>
                      </a:r>
                      <a:endParaRPr lang="en-US" sz="1400" dirty="0">
                        <a:latin typeface="Consolas" charset="0"/>
                        <a:ea typeface="Consolas" charset="0"/>
                        <a:cs typeface="Consolas"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991B1B"/>
                          </a:solidFill>
                          <a:latin typeface="Consolas" pitchFamily="34" charset="0"/>
                          <a:ea typeface="Consolas" pitchFamily="34" charset="-122"/>
                          <a:cs typeface="Consolas" pitchFamily="34" charset="-120"/>
                        </a:rPr>
                        <a:t>…_KhongDat_AnhGoc_…</a:t>
                      </a:r>
                      <a:endParaRPr lang="en-US" sz="1400" dirty="0">
                        <a:latin typeface="Consolas" charset="0"/>
                        <a:ea typeface="Consolas" charset="0"/>
                        <a:cs typeface="Consolas" charset="0"/>
                      </a:endParaRPr>
                    </a:p>
                    <a:p>
                      <a:pPr indent="0" marL="0">
                        <a:buNone/>
                      </a:pPr>
                      <a:r>
                        <a:rPr lang="en-US" sz="1400" dirty="0">
                          <a:solidFill>
                            <a:srgbClr val="991B1B"/>
                          </a:solidFill>
                          <a:latin typeface="Consolas" pitchFamily="34" charset="0"/>
                          <a:ea typeface="Consolas" pitchFamily="34" charset="-122"/>
                          <a:cs typeface="Consolas" pitchFamily="34" charset="-120"/>
                        </a:rPr>
                        <a:t>…_OK_Mask_…</a:t>
                      </a:r>
                      <a:endParaRPr lang="en-US" sz="1400" dirty="0">
                        <a:latin typeface="Consolas" charset="0"/>
                        <a:ea typeface="Consolas" charset="0"/>
                        <a:cs typeface="Consolas"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rgbClr val="1E293B"/>
                          </a:solidFill>
                          <a:latin typeface="Segoe UI" pitchFamily="34" charset="0"/>
                          <a:ea typeface="Segoe UI" pitchFamily="34" charset="-122"/>
                          <a:cs typeface="Segoe UI" pitchFamily="34" charset="-120"/>
                        </a:rPr>
                        <a:t>Sai từ khoá</a:t>
                      </a:r>
                      <a:endParaRPr lang="en-US" sz="1600" dirty="0">
                        <a:latin typeface="Segoe UI" charset="0"/>
                        <a:ea typeface="Segoe UI" charset="0"/>
                        <a:cs typeface="Segoe UI" charset="0"/>
                      </a:endParaRPr>
                    </a:p>
                  </a:txBody>
                  <a:tcPr marL="152400" marR="1524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Shape 7"/>
          <p:cNvSpPr/>
          <p:nvPr/>
        </p:nvSpPr>
        <p:spPr>
          <a:xfrm>
            <a:off x="548640" y="5257800"/>
            <a:ext cx="11094415" cy="868680"/>
          </a:xfrm>
          <a:prstGeom prst="rect">
            <a:avLst/>
          </a:prstGeom>
          <a:solidFill>
            <a:srgbClr val="ECFDF3"/>
          </a:solidFill>
          <a:ln w="9525">
            <a:solidFill>
              <a:srgbClr val="BBE5C8"/>
            </a:solidFill>
            <a:prstDash val="solid"/>
          </a:ln>
        </p:spPr>
      </p:sp>
      <p:sp>
        <p:nvSpPr>
          <p:cNvPr id="11" name="Shape 8"/>
          <p:cNvSpPr/>
          <p:nvPr/>
        </p:nvSpPr>
        <p:spPr>
          <a:xfrm>
            <a:off x="548640" y="5257800"/>
            <a:ext cx="64008" cy="868680"/>
          </a:xfrm>
          <a:prstGeom prst="rect">
            <a:avLst/>
          </a:prstGeom>
          <a:solidFill>
            <a:srgbClr val="16A34A"/>
          </a:solidFill>
          <a:ln w="12700">
            <a:solidFill>
              <a:srgbClr val="16A34A"/>
            </a:solidFill>
            <a:prstDash val="solid"/>
          </a:ln>
        </p:spPr>
      </p:sp>
      <p:sp>
        <p:nvSpPr>
          <p:cNvPr id="12" name="Text 9"/>
          <p:cNvSpPr/>
          <p:nvPr/>
        </p:nvSpPr>
        <p:spPr>
          <a:xfrm>
            <a:off x="749808" y="5312664"/>
            <a:ext cx="10801807" cy="758952"/>
          </a:xfrm>
          <a:prstGeom prst="rect">
            <a:avLst/>
          </a:prstGeom>
          <a:noFill/>
          <a:ln/>
        </p:spPr>
        <p:txBody>
          <a:bodyPr wrap="square" lIns="0" tIns="0" rIns="0" bIns="0" rtlCol="0" anchor="ctr"/>
          <a:lstStyle/>
          <a:p>
            <a:pPr indent="0" marL="0">
              <a:spcAft>
                <a:spcPts val="200"/>
              </a:spcAft>
              <a:buNone/>
            </a:pPr>
            <a:r>
              <a:rPr lang="en-US" sz="1100" b="1" spc="100" kern="0" dirty="0">
                <a:solidFill>
                  <a:srgbClr val="16A34A"/>
                </a:solidFill>
                <a:latin typeface="Segoe UI" pitchFamily="34" charset="0"/>
                <a:ea typeface="Segoe UI" pitchFamily="34" charset="-122"/>
                <a:cs typeface="Segoe UI" pitchFamily="34" charset="-120"/>
              </a:rPr>
              <a:t>LƯU Ý
</a:t>
            </a:r>
            <a:pPr indent="0" marL="0">
              <a:spcAft>
                <a:spcPts val="200"/>
              </a:spcAft>
              <a:buNone/>
            </a:pPr>
            <a:r>
              <a:rPr lang="en-US" sz="1400" dirty="0">
                <a:solidFill>
                  <a:srgbClr val="1E293B"/>
                </a:solidFill>
                <a:latin typeface="Segoe UI" pitchFamily="34" charset="0"/>
                <a:ea typeface="Segoe UI" pitchFamily="34" charset="-122"/>
                <a:cs typeface="Segoe UI" pitchFamily="34" charset="-120"/>
              </a:rPr>
              <a:t>Ảnh đặt tên sai quy tắc sẽ bị báo “Sai schema” – xem phần Kiểm tra trước khi xuất.</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1  </a:t>
            </a:r>
            <a:pPr algn="ctr" indent="0" marL="0">
              <a:buNone/>
            </a:pPr>
            <a:r>
              <a:rPr lang="en-US" sz="1000" dirty="0">
                <a:solidFill>
                  <a:srgbClr val="64748B"/>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2  </a:t>
            </a:r>
            <a:pPr algn="ctr" indent="0" marL="0">
              <a:buNone/>
            </a:pPr>
            <a:r>
              <a:rPr lang="en-US" sz="1000" dirty="0">
                <a:solidFill>
                  <a:srgbClr val="FFFFFF"/>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Bước 2 · Nạp thư mục ảnh và áp dụng Schema</a:t>
            </a:r>
            <a:endParaRPr lang="en-US" sz="2600" dirty="0"/>
          </a:p>
        </p:txBody>
      </p:sp>
      <p:sp>
        <p:nvSpPr>
          <p:cNvPr id="9" name="Shape 7"/>
          <p:cNvSpPr/>
          <p:nvPr/>
        </p:nvSpPr>
        <p:spPr>
          <a:xfrm>
            <a:off x="521208" y="1344168"/>
            <a:ext cx="6821424" cy="428396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0" name="Image 0" descr="Hình minh họa 33">    </p:cNvPr>
          <p:cNvPicPr>
            <a:picLocks noChangeAspect="1"/>
          </p:cNvPicPr>
          <p:nvPr/>
        </p:nvPicPr>
        <p:blipFill>
          <a:blip r:embed="rId1"/>
          <a:stretch>
            <a:fillRect/>
          </a:stretch>
        </p:blipFill>
        <p:spPr>
          <a:xfrm>
            <a:off x="548640" y="1371600"/>
            <a:ext cx="6766560" cy="4229100"/>
          </a:xfrm>
          <a:prstGeom prst="rect">
            <a:avLst/>
          </a:prstGeom>
        </p:spPr>
      </p:pic>
      <p:sp>
        <p:nvSpPr>
          <p:cNvPr id="11" name="Text 8"/>
          <p:cNvSpPr/>
          <p:nvPr/>
        </p:nvSpPr>
        <p:spPr>
          <a:xfrm>
            <a:off x="7635240" y="1517904"/>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2" name="Text 9"/>
          <p:cNvSpPr/>
          <p:nvPr/>
        </p:nvSpPr>
        <p:spPr>
          <a:xfrm>
            <a:off x="8101584" y="1508760"/>
            <a:ext cx="3541471" cy="329184"/>
          </a:xfrm>
          <a:prstGeom prst="rect">
            <a:avLst/>
          </a:prstGeom>
          <a:noFill/>
          <a:ln/>
        </p:spPr>
        <p:txBody>
          <a:bodyPr wrap="square" lIns="0" tIns="0" rIns="0" bIns="0" rtlCol="0" anchor="t"/>
          <a:lstStyle/>
          <a:p>
            <a:pPr indent="0" marL="0">
              <a:buNone/>
            </a:pPr>
            <a:r>
              <a:rPr lang="en-US" sz="1600" dirty="0">
                <a:solidFill>
                  <a:srgbClr val="1E293B"/>
                </a:solidFill>
                <a:latin typeface="Segoe UI" pitchFamily="34" charset="0"/>
                <a:ea typeface="Segoe UI" pitchFamily="34" charset="-122"/>
                <a:cs typeface="Segoe UI" pitchFamily="34" charset="-120"/>
              </a:rPr>
              <a:t>Mở tab </a:t>
            </a:r>
            <a:pPr indent="0" marL="0">
              <a:buNone/>
            </a:pPr>
            <a:r>
              <a:rPr lang="en-US" sz="1600" b="1" dirty="0">
                <a:solidFill>
                  <a:srgbClr val="1E293B"/>
                </a:solidFill>
                <a:latin typeface="Segoe UI" pitchFamily="34" charset="0"/>
                <a:ea typeface="Segoe UI" pitchFamily="34" charset="-122"/>
                <a:cs typeface="Segoe UI" pitchFamily="34" charset="-120"/>
              </a:rPr>
              <a:t>Dataset Manager</a:t>
            </a:r>
            <a:endParaRPr lang="en-US" sz="1600" dirty="0"/>
          </a:p>
        </p:txBody>
      </p:sp>
      <p:sp>
        <p:nvSpPr>
          <p:cNvPr id="13" name="Text 10"/>
          <p:cNvSpPr/>
          <p:nvPr/>
        </p:nvSpPr>
        <p:spPr>
          <a:xfrm>
            <a:off x="7635240" y="2167128"/>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4" name="Text 11"/>
          <p:cNvSpPr/>
          <p:nvPr/>
        </p:nvSpPr>
        <p:spPr>
          <a:xfrm>
            <a:off x="8101584" y="2157984"/>
            <a:ext cx="3541471" cy="583184"/>
          </a:xfrm>
          <a:prstGeom prst="rect">
            <a:avLst/>
          </a:prstGeom>
          <a:noFill/>
          <a:ln/>
        </p:spPr>
        <p:txBody>
          <a:bodyPr wrap="square" lIns="0" tIns="0" rIns="0" bIns="0" rtlCol="0" anchor="t"/>
          <a:lstStyle/>
          <a:p>
            <a:pPr indent="0" marL="0">
              <a:buNone/>
            </a:pPr>
            <a:r>
              <a:rPr lang="en-US" sz="1600" dirty="0">
                <a:solidFill>
                  <a:srgbClr val="1E293B"/>
                </a:solidFill>
                <a:latin typeface="Segoe UI" pitchFamily="34" charset="0"/>
                <a:ea typeface="Segoe UI" pitchFamily="34" charset="-122"/>
                <a:cs typeface="Segoe UI" pitchFamily="34" charset="-120"/>
              </a:rPr>
              <a:t>Thư mục ảnh: bấm </a:t>
            </a:r>
            <a:pPr indent="0" marL="0">
              <a:buNone/>
            </a:pPr>
            <a:r>
              <a:rPr lang="en-US" sz="1600" b="1" dirty="0">
                <a:solidFill>
                  <a:srgbClr val="1E293B"/>
                </a:solidFill>
                <a:latin typeface="Segoe UI" pitchFamily="34" charset="0"/>
                <a:ea typeface="Segoe UI" pitchFamily="34" charset="-122"/>
                <a:cs typeface="Segoe UI" pitchFamily="34" charset="-120"/>
              </a:rPr>
              <a:t>Duyệt…</a:t>
            </a:r>
            <a:pPr indent="0" marL="0">
              <a:buNone/>
            </a:pPr>
            <a:r>
              <a:rPr lang="en-US" sz="1600" dirty="0">
                <a:solidFill>
                  <a:srgbClr val="1E293B"/>
                </a:solidFill>
                <a:latin typeface="Segoe UI" pitchFamily="34" charset="0"/>
                <a:ea typeface="Segoe UI" pitchFamily="34" charset="-122"/>
                <a:cs typeface="Segoe UI" pitchFamily="34" charset="-120"/>
              </a:rPr>
              <a:t> chọn thư mục → </a:t>
            </a:r>
            <a:pPr indent="0" marL="0">
              <a:buNone/>
            </a:pPr>
            <a:r>
              <a:rPr lang="en-US" sz="1600" b="1" dirty="0">
                <a:solidFill>
                  <a:srgbClr val="1E293B"/>
                </a:solidFill>
                <a:latin typeface="Segoe UI" pitchFamily="34" charset="0"/>
                <a:ea typeface="Segoe UI" pitchFamily="34" charset="-122"/>
                <a:cs typeface="Segoe UI" pitchFamily="34" charset="-120"/>
              </a:rPr>
              <a:t>Tải ảnh</a:t>
            </a:r>
            <a:endParaRPr lang="en-US" sz="1600" dirty="0"/>
          </a:p>
        </p:txBody>
      </p:sp>
      <p:sp>
        <p:nvSpPr>
          <p:cNvPr id="15" name="Text 12"/>
          <p:cNvSpPr/>
          <p:nvPr/>
        </p:nvSpPr>
        <p:spPr>
          <a:xfrm>
            <a:off x="7635240" y="3070352"/>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6" name="Text 13"/>
          <p:cNvSpPr/>
          <p:nvPr/>
        </p:nvSpPr>
        <p:spPr>
          <a:xfrm>
            <a:off x="8101584" y="3061208"/>
            <a:ext cx="3541471" cy="583184"/>
          </a:xfrm>
          <a:prstGeom prst="rect">
            <a:avLst/>
          </a:prstGeom>
          <a:noFill/>
          <a:ln/>
        </p:spPr>
        <p:txBody>
          <a:bodyPr wrap="square" lIns="0" tIns="0" rIns="0" bIns="0" rtlCol="0" anchor="t"/>
          <a:lstStyle/>
          <a:p>
            <a:pPr indent="0" marL="0">
              <a:buNone/>
            </a:pPr>
            <a:r>
              <a:rPr lang="en-US" sz="1600" dirty="0">
                <a:solidFill>
                  <a:srgbClr val="1E293B"/>
                </a:solidFill>
                <a:latin typeface="Segoe UI" pitchFamily="34" charset="0"/>
                <a:ea typeface="Segoe UI" pitchFamily="34" charset="-122"/>
                <a:cs typeface="Segoe UI" pitchFamily="34" charset="-120"/>
              </a:rPr>
              <a:t>Nhập Schema → </a:t>
            </a:r>
            <a:pPr indent="0" marL="0">
              <a:buNone/>
            </a:pPr>
            <a:r>
              <a:rPr lang="en-US" sz="1600" b="1" dirty="0">
                <a:solidFill>
                  <a:srgbClr val="1E293B"/>
                </a:solidFill>
                <a:latin typeface="Segoe UI" pitchFamily="34" charset="0"/>
                <a:ea typeface="Segoe UI" pitchFamily="34" charset="-122"/>
                <a:cs typeface="Segoe UI" pitchFamily="34" charset="-120"/>
              </a:rPr>
              <a:t>Áp dụng Schema</a:t>
            </a:r>
            <a:pPr indent="0" marL="0">
              <a:buNone/>
            </a:pPr>
            <a:r>
              <a:rPr lang="en-US" sz="1600" dirty="0">
                <a:solidFill>
                  <a:srgbClr val="1E293B"/>
                </a:solidFill>
                <a:latin typeface="Segoe UI" pitchFamily="34" charset="0"/>
                <a:ea typeface="Segoe UI" pitchFamily="34" charset="-122"/>
                <a:cs typeface="Segoe UI" pitchFamily="34" charset="-120"/>
              </a:rPr>
              <a:t> (hoặc Enter)</a:t>
            </a:r>
            <a:endParaRPr lang="en-US" sz="1600" dirty="0"/>
          </a:p>
        </p:txBody>
      </p:sp>
      <p:sp>
        <p:nvSpPr>
          <p:cNvPr id="17" name="Text 14"/>
          <p:cNvSpPr/>
          <p:nvPr/>
        </p:nvSpPr>
        <p:spPr>
          <a:xfrm>
            <a:off x="7635240" y="3973576"/>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18" name="Text 15"/>
          <p:cNvSpPr/>
          <p:nvPr/>
        </p:nvSpPr>
        <p:spPr>
          <a:xfrm>
            <a:off x="8101584" y="3964432"/>
            <a:ext cx="3541471" cy="329184"/>
          </a:xfrm>
          <a:prstGeom prst="rect">
            <a:avLst/>
          </a:prstGeom>
          <a:noFill/>
          <a:ln/>
        </p:spPr>
        <p:txBody>
          <a:bodyPr wrap="square" lIns="0" tIns="0" rIns="0" bIns="0" rtlCol="0" anchor="t"/>
          <a:lstStyle/>
          <a:p>
            <a:pPr indent="0" marL="0">
              <a:buNone/>
            </a:pPr>
            <a:r>
              <a:rPr lang="en-US" sz="1600" dirty="0">
                <a:solidFill>
                  <a:srgbClr val="1E293B"/>
                </a:solidFill>
                <a:latin typeface="Segoe UI" pitchFamily="34" charset="0"/>
                <a:ea typeface="Segoe UI" pitchFamily="34" charset="-122"/>
                <a:cs typeface="Segoe UI" pitchFamily="34" charset="-120"/>
              </a:rPr>
              <a:t>Nút </a:t>
            </a:r>
            <a:pPr indent="0" marL="0">
              <a:buNone/>
            </a:pPr>
            <a:r>
              <a:rPr lang="en-US" sz="1600" b="1" dirty="0">
                <a:solidFill>
                  <a:srgbClr val="1E293B"/>
                </a:solidFill>
                <a:latin typeface="Segoe UI" pitchFamily="34" charset="0"/>
                <a:ea typeface="Segoe UI" pitchFamily="34" charset="-122"/>
                <a:cs typeface="Segoe UI" pitchFamily="34" charset="-120"/>
              </a:rPr>
              <a:t>Xuất</a:t>
            </a:r>
            <a:pPr indent="0" marL="0">
              <a:buNone/>
            </a:pPr>
            <a:r>
              <a:rPr lang="en-US" sz="1600" dirty="0">
                <a:solidFill>
                  <a:srgbClr val="1E293B"/>
                </a:solidFill>
                <a:latin typeface="Segoe UI" pitchFamily="34" charset="0"/>
                <a:ea typeface="Segoe UI" pitchFamily="34" charset="-122"/>
                <a:cs typeface="Segoe UI" pitchFamily="34" charset="-120"/>
              </a:rPr>
              <a:t> – dùng ở Bước 3</a:t>
            </a:r>
            <a:endParaRPr lang="en-US" sz="16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1  </a:t>
            </a:r>
            <a:pPr algn="ctr" indent="0" marL="0">
              <a:buNone/>
            </a:pPr>
            <a:r>
              <a:rPr lang="en-US" sz="1000" dirty="0">
                <a:solidFill>
                  <a:srgbClr val="64748B"/>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2  </a:t>
            </a:r>
            <a:pPr algn="ctr" indent="0" marL="0">
              <a:buNone/>
            </a:pPr>
            <a:r>
              <a:rPr lang="en-US" sz="1000" dirty="0">
                <a:solidFill>
                  <a:srgbClr val="FFFFFF"/>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Bước 2 · Schema viết bằng 3 ký hiệu</a:t>
            </a:r>
            <a:endParaRPr lang="en-US" sz="2600" dirty="0"/>
          </a:p>
        </p:txBody>
      </p:sp>
      <p:sp>
        <p:nvSpPr>
          <p:cNvPr id="9" name="Shape 7"/>
          <p:cNvSpPr/>
          <p:nvPr/>
        </p:nvSpPr>
        <p:spPr>
          <a:xfrm>
            <a:off x="548640" y="1371600"/>
            <a:ext cx="3545738" cy="1188720"/>
          </a:xfrm>
          <a:prstGeom prst="roundRect">
            <a:avLst>
              <a:gd name="adj" fmla="val 6154"/>
            </a:avLst>
          </a:prstGeom>
          <a:solidFill>
            <a:srgbClr val="FFFFFF"/>
          </a:solidFill>
          <a:ln w="9525">
            <a:solidFill>
              <a:srgbClr val="E2E8F0"/>
            </a:solidFill>
            <a:prstDash val="solid"/>
          </a:ln>
        </p:spPr>
      </p:sp>
      <p:sp>
        <p:nvSpPr>
          <p:cNvPr id="10" name="Text 8"/>
          <p:cNvSpPr/>
          <p:nvPr/>
        </p:nvSpPr>
        <p:spPr>
          <a:xfrm>
            <a:off x="731520" y="1371600"/>
            <a:ext cx="1188720" cy="1188720"/>
          </a:xfrm>
          <a:prstGeom prst="rect">
            <a:avLst/>
          </a:prstGeom>
          <a:noFill/>
          <a:ln/>
        </p:spPr>
        <p:txBody>
          <a:bodyPr wrap="square" lIns="0" tIns="0" rIns="0" bIns="0" rtlCol="0" anchor="ctr"/>
          <a:lstStyle/>
          <a:p>
            <a:pPr algn="ctr" indent="0" marL="0">
              <a:buNone/>
            </a:pPr>
            <a:r>
              <a:rPr lang="en-US" sz="3600" b="1" dirty="0">
                <a:solidFill>
                  <a:srgbClr val="16A34A"/>
                </a:solidFill>
                <a:latin typeface="Consolas" pitchFamily="34" charset="0"/>
                <a:ea typeface="Consolas" pitchFamily="34" charset="-122"/>
                <a:cs typeface="Consolas" pitchFamily="34" charset="-120"/>
              </a:rPr>
              <a:t>&lt; &gt;</a:t>
            </a:r>
            <a:endParaRPr lang="en-US" sz="3600" dirty="0"/>
          </a:p>
        </p:txBody>
      </p:sp>
      <p:sp>
        <p:nvSpPr>
          <p:cNvPr id="11" name="Text 9"/>
          <p:cNvSpPr/>
          <p:nvPr/>
        </p:nvSpPr>
        <p:spPr>
          <a:xfrm>
            <a:off x="1965960" y="1371600"/>
            <a:ext cx="1991258" cy="118872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Mỗi trường đặt trong &lt; &gt;</a:t>
            </a:r>
            <a:endParaRPr lang="en-US" sz="1600" dirty="0"/>
          </a:p>
        </p:txBody>
      </p:sp>
      <p:sp>
        <p:nvSpPr>
          <p:cNvPr id="12" name="Shape 10"/>
          <p:cNvSpPr/>
          <p:nvPr/>
        </p:nvSpPr>
        <p:spPr>
          <a:xfrm>
            <a:off x="4322978" y="1371600"/>
            <a:ext cx="3545738" cy="1188720"/>
          </a:xfrm>
          <a:prstGeom prst="roundRect">
            <a:avLst>
              <a:gd name="adj" fmla="val 6154"/>
            </a:avLst>
          </a:prstGeom>
          <a:solidFill>
            <a:srgbClr val="FFFFFF"/>
          </a:solidFill>
          <a:ln w="9525">
            <a:solidFill>
              <a:srgbClr val="E2E8F0"/>
            </a:solidFill>
            <a:prstDash val="solid"/>
          </a:ln>
        </p:spPr>
      </p:sp>
      <p:sp>
        <p:nvSpPr>
          <p:cNvPr id="13" name="Text 11"/>
          <p:cNvSpPr/>
          <p:nvPr/>
        </p:nvSpPr>
        <p:spPr>
          <a:xfrm>
            <a:off x="4505858" y="1371600"/>
            <a:ext cx="1188720" cy="1188720"/>
          </a:xfrm>
          <a:prstGeom prst="rect">
            <a:avLst/>
          </a:prstGeom>
          <a:noFill/>
          <a:ln/>
        </p:spPr>
        <p:txBody>
          <a:bodyPr wrap="square" lIns="0" tIns="0" rIns="0" bIns="0" rtlCol="0" anchor="ctr"/>
          <a:lstStyle/>
          <a:p>
            <a:pPr algn="ctr" indent="0" marL="0">
              <a:buNone/>
            </a:pPr>
            <a:r>
              <a:rPr lang="en-US" sz="3600" b="1" dirty="0">
                <a:solidFill>
                  <a:srgbClr val="16A34A"/>
                </a:solidFill>
                <a:latin typeface="Consolas" pitchFamily="34" charset="0"/>
                <a:ea typeface="Consolas" pitchFamily="34" charset="-122"/>
                <a:cs typeface="Consolas" pitchFamily="34" charset="-120"/>
              </a:rPr>
              <a:t>\</a:t>
            </a:r>
            <a:endParaRPr lang="en-US" sz="3600" dirty="0"/>
          </a:p>
        </p:txBody>
      </p:sp>
      <p:sp>
        <p:nvSpPr>
          <p:cNvPr id="14" name="Text 12"/>
          <p:cNvSpPr/>
          <p:nvPr/>
        </p:nvSpPr>
        <p:spPr>
          <a:xfrm>
            <a:off x="5740298" y="1371600"/>
            <a:ext cx="1991258" cy="118872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Phân loại theo cấp thư mục</a:t>
            </a:r>
            <a:endParaRPr lang="en-US" sz="1600" dirty="0"/>
          </a:p>
        </p:txBody>
      </p:sp>
      <p:sp>
        <p:nvSpPr>
          <p:cNvPr id="15" name="Shape 13"/>
          <p:cNvSpPr/>
          <p:nvPr/>
        </p:nvSpPr>
        <p:spPr>
          <a:xfrm>
            <a:off x="8097317" y="1371600"/>
            <a:ext cx="3545738" cy="1188720"/>
          </a:xfrm>
          <a:prstGeom prst="roundRect">
            <a:avLst>
              <a:gd name="adj" fmla="val 6154"/>
            </a:avLst>
          </a:prstGeom>
          <a:solidFill>
            <a:srgbClr val="FFFFFF"/>
          </a:solidFill>
          <a:ln w="9525">
            <a:solidFill>
              <a:srgbClr val="E2E8F0"/>
            </a:solidFill>
            <a:prstDash val="solid"/>
          </a:ln>
        </p:spPr>
      </p:sp>
      <p:sp>
        <p:nvSpPr>
          <p:cNvPr id="16" name="Text 14"/>
          <p:cNvSpPr/>
          <p:nvPr/>
        </p:nvSpPr>
        <p:spPr>
          <a:xfrm>
            <a:off x="8280197" y="1371600"/>
            <a:ext cx="1188720" cy="1188720"/>
          </a:xfrm>
          <a:prstGeom prst="rect">
            <a:avLst/>
          </a:prstGeom>
          <a:noFill/>
          <a:ln/>
        </p:spPr>
        <p:txBody>
          <a:bodyPr wrap="square" lIns="0" tIns="0" rIns="0" bIns="0" rtlCol="0" anchor="ctr"/>
          <a:lstStyle/>
          <a:p>
            <a:pPr algn="ctr" indent="0" marL="0">
              <a:buNone/>
            </a:pPr>
            <a:r>
              <a:rPr lang="en-US" sz="3600" b="1" dirty="0">
                <a:solidFill>
                  <a:srgbClr val="16A34A"/>
                </a:solidFill>
                <a:latin typeface="Consolas" pitchFamily="34" charset="0"/>
                <a:ea typeface="Consolas" pitchFamily="34" charset="-122"/>
                <a:cs typeface="Consolas" pitchFamily="34" charset="-120"/>
              </a:rPr>
              <a:t>_</a:t>
            </a:r>
            <a:endParaRPr lang="en-US" sz="3600" dirty="0"/>
          </a:p>
        </p:txBody>
      </p:sp>
      <p:sp>
        <p:nvSpPr>
          <p:cNvPr id="17" name="Text 15"/>
          <p:cNvSpPr/>
          <p:nvPr/>
        </p:nvSpPr>
        <p:spPr>
          <a:xfrm>
            <a:off x="9514637" y="1371600"/>
            <a:ext cx="1991258" cy="118872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Phân loại theo tên file</a:t>
            </a:r>
            <a:endParaRPr lang="en-US" sz="1600" dirty="0"/>
          </a:p>
        </p:txBody>
      </p:sp>
      <p:sp>
        <p:nvSpPr>
          <p:cNvPr id="18" name="Text 16"/>
          <p:cNvSpPr/>
          <p:nvPr/>
        </p:nvSpPr>
        <p:spPr>
          <a:xfrm>
            <a:off x="548640" y="2743200"/>
            <a:ext cx="3657600" cy="292608"/>
          </a:xfrm>
          <a:prstGeom prst="rect">
            <a:avLst/>
          </a:prstGeom>
          <a:noFill/>
          <a:ln/>
        </p:spPr>
        <p:txBody>
          <a:bodyPr wrap="square" lIns="0" tIns="0" rIns="0" bIns="0"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Ví dụ kiểu C</a:t>
            </a:r>
            <a:endParaRPr lang="en-US" sz="1300" dirty="0"/>
          </a:p>
        </p:txBody>
      </p:sp>
      <p:sp>
        <p:nvSpPr>
          <p:cNvPr id="19" name="Text 17"/>
          <p:cNvSpPr/>
          <p:nvPr/>
        </p:nvSpPr>
        <p:spPr>
          <a:xfrm>
            <a:off x="548640" y="3063240"/>
            <a:ext cx="11094415" cy="457200"/>
          </a:xfrm>
          <a:prstGeom prst="rect">
            <a:avLst/>
          </a:prstGeom>
          <a:solidFill>
            <a:srgbClr val="ECFDF3"/>
          </a:solidFill>
          <a:ln/>
        </p:spPr>
        <p:txBody>
          <a:bodyPr wrap="square" lIns="1270" tIns="1270" rIns="1270" bIns="1270" rtlCol="0" anchor="ctr"/>
          <a:lstStyle/>
          <a:p>
            <a:pPr indent="0" marL="0">
              <a:buNone/>
            </a:pPr>
            <a:r>
              <a:rPr lang="en-US" sz="1400" b="1" dirty="0">
                <a:solidFill>
                  <a:srgbClr val="16A34A"/>
                </a:solidFill>
                <a:latin typeface="Consolas" pitchFamily="34" charset="0"/>
                <a:ea typeface="Consolas" pitchFamily="34" charset="-122"/>
                <a:cs typeface="Consolas" pitchFamily="34" charset="-120"/>
              </a:rPr>
              <a:t>&lt;ĐK&gt;\&lt;Mã sheet-tray&gt;\&lt;No&gt;_&lt;Tên sản phẩm&gt;_&lt;Vị trí&gt;_&lt;Mặt&gt;_&lt;Nội dung NG&gt;_&lt;Đánh giá&gt;_&lt;Raw/Mask&gt;_&lt;Hậu tố&gt;.&lt;Extension&gt;</a:t>
            </a:r>
            <a:endParaRPr lang="en-US" sz="1400" dirty="0"/>
          </a:p>
        </p:txBody>
      </p:sp>
      <p:sp>
        <p:nvSpPr>
          <p:cNvPr id="20" name="Shape 18"/>
          <p:cNvSpPr/>
          <p:nvPr/>
        </p:nvSpPr>
        <p:spPr>
          <a:xfrm>
            <a:off x="521208" y="3721608"/>
            <a:ext cx="7370064" cy="1379811"/>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1" name="Image 0" descr="Hình minh họa 34">    </p:cNvPr>
          <p:cNvPicPr>
            <a:picLocks noChangeAspect="1"/>
          </p:cNvPicPr>
          <p:nvPr/>
        </p:nvPicPr>
        <p:blipFill>
          <a:blip r:embed="rId1"/>
          <a:stretch>
            <a:fillRect/>
          </a:stretch>
        </p:blipFill>
        <p:spPr>
          <a:xfrm>
            <a:off x="548640" y="3749040"/>
            <a:ext cx="7315200" cy="1324947"/>
          </a:xfrm>
          <a:prstGeom prst="rect">
            <a:avLst/>
          </a:prstGeom>
        </p:spPr>
      </p:pic>
      <p:sp>
        <p:nvSpPr>
          <p:cNvPr id="22" name="Text 19"/>
          <p:cNvSpPr/>
          <p:nvPr/>
        </p:nvSpPr>
        <p:spPr>
          <a:xfrm>
            <a:off x="8183880" y="3712464"/>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23" name="Text 20"/>
          <p:cNvSpPr/>
          <p:nvPr/>
        </p:nvSpPr>
        <p:spPr>
          <a:xfrm>
            <a:off x="8650224" y="3703320"/>
            <a:ext cx="2992831" cy="517144"/>
          </a:xfrm>
          <a:prstGeom prst="rect">
            <a:avLst/>
          </a:prstGeom>
          <a:noFill/>
          <a:ln/>
        </p:spPr>
        <p:txBody>
          <a:bodyPr wrap="square" lIns="0" tIns="0" rIns="0" bIns="0" rtlCol="0" anchor="t"/>
          <a:lstStyle/>
          <a:p>
            <a:pPr indent="0" marL="0">
              <a:buNone/>
            </a:pPr>
            <a:r>
              <a:rPr lang="en-US" sz="1400" b="1" dirty="0">
                <a:solidFill>
                  <a:srgbClr val="1E293B"/>
                </a:solidFill>
                <a:latin typeface="Segoe UI" pitchFamily="34" charset="0"/>
                <a:ea typeface="Segoe UI" pitchFamily="34" charset="-122"/>
                <a:cs typeface="Segoe UI" pitchFamily="34" charset="-120"/>
              </a:rPr>
              <a:t>Nhập ô schema</a:t>
            </a:r>
            <a:pPr indent="0" marL="0">
              <a:buNone/>
            </a:pPr>
            <a:r>
              <a:rPr lang="en-US" sz="1400" dirty="0">
                <a:solidFill>
                  <a:srgbClr val="1E293B"/>
                </a:solidFill>
                <a:latin typeface="Segoe UI" pitchFamily="34" charset="0"/>
                <a:ea typeface="Segoe UI" pitchFamily="34" charset="-122"/>
                <a:cs typeface="Segoe UI" pitchFamily="34" charset="-120"/>
              </a:rPr>
              <a:t> (nút 🕘 mở lại các schema đã dùng)</a:t>
            </a:r>
            <a:endParaRPr lang="en-US" sz="1400" dirty="0"/>
          </a:p>
        </p:txBody>
      </p:sp>
      <p:sp>
        <p:nvSpPr>
          <p:cNvPr id="24" name="Text 21"/>
          <p:cNvSpPr/>
          <p:nvPr/>
        </p:nvSpPr>
        <p:spPr>
          <a:xfrm>
            <a:off x="8183880" y="4357624"/>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25" name="Text 22"/>
          <p:cNvSpPr/>
          <p:nvPr/>
        </p:nvSpPr>
        <p:spPr>
          <a:xfrm>
            <a:off x="8650224" y="4348480"/>
            <a:ext cx="2992831" cy="329184"/>
          </a:xfrm>
          <a:prstGeom prst="rect">
            <a:avLst/>
          </a:prstGeom>
          <a:noFill/>
          <a:ln/>
        </p:spPr>
        <p:txBody>
          <a:bodyPr wrap="square" lIns="0" tIns="0" rIns="0" bIns="0" rtlCol="0" anchor="t"/>
          <a:lstStyle/>
          <a:p>
            <a:pPr indent="0" marL="0">
              <a:buNone/>
            </a:pPr>
            <a:r>
              <a:rPr lang="en-US" sz="1400" b="1" dirty="0">
                <a:solidFill>
                  <a:srgbClr val="1E293B"/>
                </a:solidFill>
                <a:latin typeface="Segoe UI" pitchFamily="34" charset="0"/>
                <a:ea typeface="Segoe UI" pitchFamily="34" charset="-122"/>
                <a:cs typeface="Segoe UI" pitchFamily="34" charset="-120"/>
              </a:rPr>
              <a:t>Áp dụng Schema</a:t>
            </a:r>
            <a:endParaRPr lang="en-US" sz="1400" dirty="0"/>
          </a:p>
        </p:txBody>
      </p:sp>
      <p:sp>
        <p:nvSpPr>
          <p:cNvPr id="26" name="Text 23"/>
          <p:cNvSpPr/>
          <p:nvPr/>
        </p:nvSpPr>
        <p:spPr>
          <a:xfrm>
            <a:off x="8183880" y="4814824"/>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7" name="Text 24"/>
          <p:cNvSpPr/>
          <p:nvPr/>
        </p:nvSpPr>
        <p:spPr>
          <a:xfrm>
            <a:off x="8650224" y="4805680"/>
            <a:ext cx="2992831" cy="748284"/>
          </a:xfrm>
          <a:prstGeom prst="rect">
            <a:avLst/>
          </a:prstGeom>
          <a:noFill/>
          <a:ln/>
        </p:spPr>
        <p:txBody>
          <a:bodyPr wrap="square" lIns="0" tIns="0" rIns="0" bIns="0" rtlCol="0" anchor="t"/>
          <a:lstStyle/>
          <a:p>
            <a:pPr indent="0" marL="0">
              <a:buNone/>
            </a:pPr>
            <a:r>
              <a:rPr lang="en-US" sz="1400" b="1" dirty="0">
                <a:solidFill>
                  <a:srgbClr val="1E293B"/>
                </a:solidFill>
                <a:latin typeface="Segoe UI" pitchFamily="34" charset="0"/>
                <a:ea typeface="Segoe UI" pitchFamily="34" charset="-122"/>
                <a:cs typeface="Segoe UI" pitchFamily="34" charset="-120"/>
              </a:rPr>
              <a:t>Thành phần schema: </a:t>
            </a:r>
            <a:pPr indent="0" marL="0">
              <a:buNone/>
            </a:pPr>
            <a:r>
              <a:rPr lang="en-US" sz="1400" dirty="0">
                <a:solidFill>
                  <a:srgbClr val="1E293B"/>
                </a:solidFill>
                <a:latin typeface="Segoe UI" pitchFamily="34" charset="0"/>
                <a:ea typeface="Segoe UI" pitchFamily="34" charset="-122"/>
                <a:cs typeface="Segoe UI" pitchFamily="34" charset="-120"/>
              </a:rPr>
              <a:t>cấu trúc schema hiện thời, thêm nhanh thành phần</a:t>
            </a:r>
            <a:endParaRPr lang="en-US" sz="14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1  </a:t>
            </a:r>
            <a:pPr algn="ctr" indent="0" marL="0">
              <a:buNone/>
            </a:pPr>
            <a:r>
              <a:rPr lang="en-US" sz="1000" dirty="0">
                <a:solidFill>
                  <a:srgbClr val="64748B"/>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2  </a:t>
            </a:r>
            <a:pPr algn="ctr" indent="0" marL="0">
              <a:buNone/>
            </a:pPr>
            <a:r>
              <a:rPr lang="en-US" sz="1000" dirty="0">
                <a:solidFill>
                  <a:srgbClr val="FFFFFF"/>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Kiểm tra dữ liệu trước khi xuất</a:t>
            </a:r>
            <a:endParaRPr lang="en-US" sz="2600" dirty="0"/>
          </a:p>
        </p:txBody>
      </p:sp>
      <p:sp>
        <p:nvSpPr>
          <p:cNvPr id="9" name="Shape 7"/>
          <p:cNvSpPr/>
          <p:nvPr/>
        </p:nvSpPr>
        <p:spPr>
          <a:xfrm>
            <a:off x="548640" y="1371600"/>
            <a:ext cx="11094415" cy="1965960"/>
          </a:xfrm>
          <a:prstGeom prst="roundRect">
            <a:avLst>
              <a:gd name="adj" fmla="val 3721"/>
            </a:avLst>
          </a:prstGeom>
          <a:solidFill>
            <a:srgbClr val="ECFDF3"/>
          </a:solidFill>
          <a:ln w="9525">
            <a:solidFill>
              <a:srgbClr val="BBE5C8"/>
            </a:solidFill>
            <a:prstDash val="solid"/>
          </a:ln>
        </p:spPr>
      </p:sp>
      <p:sp>
        <p:nvSpPr>
          <p:cNvPr id="10" name="Text 8"/>
          <p:cNvSpPr/>
          <p:nvPr/>
        </p:nvSpPr>
        <p:spPr>
          <a:xfrm>
            <a:off x="822960" y="1481328"/>
            <a:ext cx="10545775" cy="685800"/>
          </a:xfrm>
          <a:prstGeom prst="rect">
            <a:avLst/>
          </a:prstGeom>
          <a:noFill/>
          <a:ln/>
        </p:spPr>
        <p:txBody>
          <a:bodyPr wrap="square" lIns="0" tIns="0" rIns="0" bIns="0" rtlCol="0" anchor="ctr"/>
          <a:lstStyle/>
          <a:p>
            <a:pPr indent="0" marL="0">
              <a:buNone/>
            </a:pPr>
            <a:r>
              <a:rPr lang="en-US" sz="1700" b="1" dirty="0">
                <a:solidFill>
                  <a:srgbClr val="16A34A"/>
                </a:solidFill>
                <a:latin typeface="Segoe UI" pitchFamily="34" charset="0"/>
                <a:ea typeface="Segoe UI" pitchFamily="34" charset="-122"/>
                <a:cs typeface="Segoe UI" pitchFamily="34" charset="-120"/>
              </a:rPr>
              <a:t>✓  Dữ liệu chuẩn – sẵn sàng xuất
</a:t>
            </a:r>
            <a:pPr indent="0" marL="0">
              <a:buNone/>
            </a:pPr>
            <a:r>
              <a:rPr lang="en-US" sz="1400" dirty="0">
                <a:solidFill>
                  <a:srgbClr val="1E293B"/>
                </a:solidFill>
                <a:latin typeface="Segoe UI" pitchFamily="34" charset="0"/>
                <a:ea typeface="Segoe UI" pitchFamily="34" charset="-122"/>
                <a:cs typeface="Segoe UI" pitchFamily="34" charset="-120"/>
              </a:rPr>
              <a:t>Lỗi schema: 0  ·  Raw = Mask  ·  Không có vấn đề dữ liệu</a:t>
            </a:r>
            <a:endParaRPr lang="en-US" sz="1700" dirty="0"/>
          </a:p>
        </p:txBody>
      </p:sp>
      <p:sp>
        <p:nvSpPr>
          <p:cNvPr id="11" name="Shape 9"/>
          <p:cNvSpPr/>
          <p:nvPr/>
        </p:nvSpPr>
        <p:spPr>
          <a:xfrm>
            <a:off x="1866479" y="2212848"/>
            <a:ext cx="8458738" cy="101498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2" name="Image 0" descr="Hình minh họa 35">    </p:cNvPr>
          <p:cNvPicPr>
            <a:picLocks noChangeAspect="1"/>
          </p:cNvPicPr>
          <p:nvPr/>
        </p:nvPicPr>
        <p:blipFill>
          <a:blip r:embed="rId1"/>
          <a:stretch>
            <a:fillRect/>
          </a:stretch>
        </p:blipFill>
        <p:spPr>
          <a:xfrm>
            <a:off x="1893911" y="2240280"/>
            <a:ext cx="8403874" cy="960120"/>
          </a:xfrm>
          <a:prstGeom prst="rect">
            <a:avLst/>
          </a:prstGeom>
        </p:spPr>
      </p:pic>
      <p:sp>
        <p:nvSpPr>
          <p:cNvPr id="13" name="Shape 10"/>
          <p:cNvSpPr/>
          <p:nvPr/>
        </p:nvSpPr>
        <p:spPr>
          <a:xfrm>
            <a:off x="548640" y="3520440"/>
            <a:ext cx="11094415" cy="2697480"/>
          </a:xfrm>
          <a:prstGeom prst="roundRect">
            <a:avLst>
              <a:gd name="adj" fmla="val 2712"/>
            </a:avLst>
          </a:prstGeom>
          <a:solidFill>
            <a:srgbClr val="FFF7E6"/>
          </a:solidFill>
          <a:ln w="9525">
            <a:solidFill>
              <a:srgbClr val="F5D08A"/>
            </a:solidFill>
            <a:prstDash val="solid"/>
          </a:ln>
        </p:spPr>
      </p:sp>
      <p:sp>
        <p:nvSpPr>
          <p:cNvPr id="14" name="Text 11"/>
          <p:cNvSpPr/>
          <p:nvPr/>
        </p:nvSpPr>
        <p:spPr>
          <a:xfrm>
            <a:off x="822960" y="3630168"/>
            <a:ext cx="10545775" cy="685800"/>
          </a:xfrm>
          <a:prstGeom prst="rect">
            <a:avLst/>
          </a:prstGeom>
          <a:noFill/>
          <a:ln/>
        </p:spPr>
        <p:txBody>
          <a:bodyPr wrap="square" lIns="0" tIns="0" rIns="0" bIns="0" rtlCol="0" anchor="ctr"/>
          <a:lstStyle/>
          <a:p>
            <a:pPr indent="0" marL="0">
              <a:buNone/>
            </a:pPr>
            <a:r>
              <a:rPr lang="en-US" sz="1700" b="1" dirty="0">
                <a:solidFill>
                  <a:srgbClr val="B45309"/>
                </a:solidFill>
                <a:latin typeface="Segoe UI" pitchFamily="34" charset="0"/>
                <a:ea typeface="Segoe UI" pitchFamily="34" charset="-122"/>
                <a:cs typeface="Segoe UI" pitchFamily="34" charset="-120"/>
              </a:rPr>
              <a:t>⚠  Có lỗi – thanh trạng thái báo đỏ
</a:t>
            </a:r>
            <a:pPr indent="0" marL="0">
              <a:buNone/>
            </a:pPr>
            <a:r>
              <a:rPr lang="en-US" sz="1400" dirty="0">
                <a:solidFill>
                  <a:srgbClr val="1E293B"/>
                </a:solidFill>
                <a:latin typeface="Segoe UI" pitchFamily="34" charset="0"/>
                <a:ea typeface="Segoe UI" pitchFamily="34" charset="-122"/>
                <a:cs typeface="Segoe UI" pitchFamily="34" charset="-120"/>
              </a:rPr>
              <a:t>Khung Vấn đề dữ liệu liệt kê từng file; double-click để tới ảnh đang bị sai.</a:t>
            </a:r>
            <a:endParaRPr lang="en-US" sz="1700" dirty="0"/>
          </a:p>
        </p:txBody>
      </p:sp>
      <p:sp>
        <p:nvSpPr>
          <p:cNvPr id="15" name="Shape 12"/>
          <p:cNvSpPr/>
          <p:nvPr/>
        </p:nvSpPr>
        <p:spPr>
          <a:xfrm>
            <a:off x="1883947" y="4361688"/>
            <a:ext cx="8423801" cy="147218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6" name="Image 1" descr="Hình minh họa 36">    </p:cNvPr>
          <p:cNvPicPr>
            <a:picLocks noChangeAspect="1"/>
          </p:cNvPicPr>
          <p:nvPr/>
        </p:nvPicPr>
        <p:blipFill>
          <a:blip r:embed="rId2"/>
          <a:stretch>
            <a:fillRect/>
          </a:stretch>
        </p:blipFill>
        <p:spPr>
          <a:xfrm>
            <a:off x="1911379" y="4389120"/>
            <a:ext cx="8368937" cy="1417320"/>
          </a:xfrm>
          <a:prstGeom prst="rect">
            <a:avLst/>
          </a:prstGeom>
        </p:spPr>
      </p:pic>
      <p:sp>
        <p:nvSpPr>
          <p:cNvPr id="17" name="Text 13"/>
          <p:cNvSpPr/>
          <p:nvPr/>
        </p:nvSpPr>
        <p:spPr>
          <a:xfrm>
            <a:off x="822960" y="5852160"/>
            <a:ext cx="10545775" cy="274320"/>
          </a:xfrm>
          <a:prstGeom prst="rect">
            <a:avLst/>
          </a:prstGeom>
          <a:noFill/>
          <a:ln/>
        </p:spPr>
        <p:txBody>
          <a:bodyPr wrap="square" lIns="0" tIns="0" rIns="0" bIns="0" rtlCol="0" anchor="ctr"/>
          <a:lstStyle/>
          <a:p>
            <a:pPr algn="ctr" indent="0" marL="0">
              <a:buNone/>
            </a:pPr>
            <a:r>
              <a:rPr lang="en-US" sz="1200" i="1" dirty="0">
                <a:solidFill>
                  <a:srgbClr val="64748B"/>
                </a:solidFill>
                <a:latin typeface="Segoe UI" pitchFamily="34" charset="0"/>
                <a:ea typeface="Segoe UI" pitchFamily="34" charset="-122"/>
                <a:cs typeface="Segoe UI" pitchFamily="34" charset="-120"/>
              </a:rPr>
              <a:t>Ví dụ: 2 ảnh sai tên (sai schema) + 1 ảnh thiếu Mask → sửa tên / bổ sung ảnh rồi Tải ảnh lại</a:t>
            </a:r>
            <a:endParaRPr lang="en-US" sz="12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1  </a:t>
            </a:r>
            <a:pPr algn="ctr" indent="0" marL="0">
              <a:buNone/>
            </a:pPr>
            <a:r>
              <a:rPr lang="en-US" sz="1000" dirty="0">
                <a:solidFill>
                  <a:srgbClr val="64748B"/>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  </a:t>
            </a:r>
            <a:pPr algn="ctr" indent="0" marL="0">
              <a:buNone/>
            </a:pPr>
            <a:r>
              <a:rPr lang="en-US" sz="1000" dirty="0">
                <a:solidFill>
                  <a:srgbClr val="FFFFFF"/>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Bước 3 · Bấm ⬇ Xuất và xác nhận cột trước khi xuất</a:t>
            </a:r>
            <a:endParaRPr lang="en-US" sz="2600" dirty="0"/>
          </a:p>
        </p:txBody>
      </p:sp>
      <p:sp>
        <p:nvSpPr>
          <p:cNvPr id="9" name="Shape 7"/>
          <p:cNvSpPr/>
          <p:nvPr/>
        </p:nvSpPr>
        <p:spPr>
          <a:xfrm>
            <a:off x="521208" y="1344168"/>
            <a:ext cx="6638544" cy="2881632"/>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0" name="Image 0" descr="Hình minh họa 37">    </p:cNvPr>
          <p:cNvPicPr>
            <a:picLocks noChangeAspect="1"/>
          </p:cNvPicPr>
          <p:nvPr/>
        </p:nvPicPr>
        <p:blipFill>
          <a:blip r:embed="rId1"/>
          <a:stretch>
            <a:fillRect/>
          </a:stretch>
        </p:blipFill>
        <p:spPr>
          <a:xfrm>
            <a:off x="548640" y="1371600"/>
            <a:ext cx="6583680" cy="2826768"/>
          </a:xfrm>
          <a:prstGeom prst="rect">
            <a:avLst/>
          </a:prstGeom>
        </p:spPr>
      </p:pic>
      <p:sp>
        <p:nvSpPr>
          <p:cNvPr id="11" name="Text 8"/>
          <p:cNvSpPr/>
          <p:nvPr/>
        </p:nvSpPr>
        <p:spPr>
          <a:xfrm>
            <a:off x="548640" y="4271520"/>
            <a:ext cx="658368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Hộp thoại Xuất dữ liệu – xác nhận schema</a:t>
            </a:r>
            <a:endParaRPr lang="en-US" sz="1100" dirty="0"/>
          </a:p>
        </p:txBody>
      </p:sp>
      <p:sp>
        <p:nvSpPr>
          <p:cNvPr id="12" name="Text 9"/>
          <p:cNvSpPr/>
          <p:nvPr/>
        </p:nvSpPr>
        <p:spPr>
          <a:xfrm>
            <a:off x="7498080" y="1517904"/>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3" name="Text 10"/>
          <p:cNvSpPr/>
          <p:nvPr/>
        </p:nvSpPr>
        <p:spPr>
          <a:xfrm>
            <a:off x="7964424" y="1508760"/>
            <a:ext cx="3678631" cy="583184"/>
          </a:xfrm>
          <a:prstGeom prst="rect">
            <a:avLst/>
          </a:prstGeom>
          <a:noFill/>
          <a:ln/>
        </p:spPr>
        <p:txBody>
          <a:bodyPr wrap="square" lIns="0" tIns="0" rIns="0" bIns="0" rtlCol="0" anchor="t"/>
          <a:lstStyle/>
          <a:p>
            <a:pPr indent="0" marL="0">
              <a:buNone/>
            </a:pPr>
            <a:r>
              <a:rPr lang="en-US" sz="1600" b="1" dirty="0">
                <a:solidFill>
                  <a:srgbClr val="1E293B"/>
                </a:solidFill>
                <a:latin typeface="Segoe UI" pitchFamily="34" charset="0"/>
                <a:ea typeface="Segoe UI" pitchFamily="34" charset="-122"/>
                <a:cs typeface="Segoe UI" pitchFamily="34" charset="-120"/>
              </a:rPr>
              <a:t>Kéo thả</a:t>
            </a:r>
            <a:pPr indent="0" marL="0">
              <a:buNone/>
            </a:pPr>
            <a:r>
              <a:rPr lang="en-US" sz="1600" dirty="0">
                <a:solidFill>
                  <a:srgbClr val="1E293B"/>
                </a:solidFill>
                <a:latin typeface="Segoe UI" pitchFamily="34" charset="0"/>
                <a:ea typeface="Segoe UI" pitchFamily="34" charset="-122"/>
                <a:cs typeface="Segoe UI" pitchFamily="34" charset="-120"/>
              </a:rPr>
              <a:t> thẻ để đổi thứ tự cột; </a:t>
            </a:r>
            <a:pPr indent="0" marL="0">
              <a:buNone/>
            </a:pPr>
            <a:r>
              <a:rPr lang="en-US" sz="1600" b="1" dirty="0">
                <a:solidFill>
                  <a:srgbClr val="1E293B"/>
                </a:solidFill>
                <a:latin typeface="Segoe UI" pitchFamily="34" charset="0"/>
                <a:ea typeface="Segoe UI" pitchFamily="34" charset="-122"/>
                <a:cs typeface="Segoe UI" pitchFamily="34" charset="-120"/>
              </a:rPr>
              <a:t>↺ Theo schema</a:t>
            </a:r>
            <a:pPr indent="0" marL="0">
              <a:buNone/>
            </a:pPr>
            <a:r>
              <a:rPr lang="en-US" sz="1600" dirty="0">
                <a:solidFill>
                  <a:srgbClr val="1E293B"/>
                </a:solidFill>
                <a:latin typeface="Segoe UI" pitchFamily="34" charset="0"/>
                <a:ea typeface="Segoe UI" pitchFamily="34" charset="-122"/>
                <a:cs typeface="Segoe UI" pitchFamily="34" charset="-120"/>
              </a:rPr>
              <a:t> trả về thứ tự gốc</a:t>
            </a:r>
            <a:endParaRPr lang="en-US" sz="1600" dirty="0"/>
          </a:p>
        </p:txBody>
      </p:sp>
      <p:sp>
        <p:nvSpPr>
          <p:cNvPr id="14" name="Text 11"/>
          <p:cNvSpPr/>
          <p:nvPr/>
        </p:nvSpPr>
        <p:spPr>
          <a:xfrm>
            <a:off x="7498080" y="2421128"/>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5" name="Text 12"/>
          <p:cNvSpPr/>
          <p:nvPr/>
        </p:nvSpPr>
        <p:spPr>
          <a:xfrm>
            <a:off x="7964424" y="2411984"/>
            <a:ext cx="3678631" cy="847344"/>
          </a:xfrm>
          <a:prstGeom prst="rect">
            <a:avLst/>
          </a:prstGeom>
          <a:noFill/>
          <a:ln/>
        </p:spPr>
        <p:txBody>
          <a:bodyPr wrap="square" lIns="0" tIns="0" rIns="0" bIns="0" rtlCol="0" anchor="t"/>
          <a:lstStyle/>
          <a:p>
            <a:pPr indent="0" marL="0">
              <a:buNone/>
            </a:pPr>
            <a:r>
              <a:rPr lang="en-US" sz="1600" b="1" dirty="0">
                <a:solidFill>
                  <a:srgbClr val="1E293B"/>
                </a:solidFill>
                <a:latin typeface="Segoe UI" pitchFamily="34" charset="0"/>
                <a:ea typeface="Segoe UI" pitchFamily="34" charset="-122"/>
                <a:cs typeface="Segoe UI" pitchFamily="34" charset="-120"/>
              </a:rPr>
              <a:t>✕ bỏ cột</a:t>
            </a:r>
            <a:pPr indent="0" marL="0">
              <a:buNone/>
            </a:pPr>
            <a:r>
              <a:rPr lang="en-US" sz="1600" dirty="0">
                <a:solidFill>
                  <a:srgbClr val="1E293B"/>
                </a:solidFill>
                <a:latin typeface="Segoe UI" pitchFamily="34" charset="0"/>
                <a:ea typeface="Segoe UI" pitchFamily="34" charset="-122"/>
                <a:cs typeface="Segoe UI" pitchFamily="34" charset="-120"/>
              </a:rPr>
              <a:t> không cần (bấm lại để lấy lại); thẻ có khoá là trường bắt buộc</a:t>
            </a:r>
            <a:endParaRPr lang="en-US" sz="1600" dirty="0"/>
          </a:p>
        </p:txBody>
      </p:sp>
      <p:sp>
        <p:nvSpPr>
          <p:cNvPr id="16" name="Text 13"/>
          <p:cNvSpPr/>
          <p:nvPr/>
        </p:nvSpPr>
        <p:spPr>
          <a:xfrm>
            <a:off x="7498080" y="3588512"/>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7" name="Text 14"/>
          <p:cNvSpPr/>
          <p:nvPr/>
        </p:nvSpPr>
        <p:spPr>
          <a:xfrm>
            <a:off x="7964424" y="3579368"/>
            <a:ext cx="3678631" cy="329184"/>
          </a:xfrm>
          <a:prstGeom prst="rect">
            <a:avLst/>
          </a:prstGeom>
          <a:noFill/>
          <a:ln/>
        </p:spPr>
        <p:txBody>
          <a:bodyPr wrap="square" lIns="0" tIns="0" rIns="0" bIns="0" rtlCol="0" anchor="t"/>
          <a:lstStyle/>
          <a:p>
            <a:pPr indent="0" marL="0">
              <a:buNone/>
            </a:pPr>
            <a:r>
              <a:rPr lang="en-US" sz="1600" b="1" dirty="0">
                <a:solidFill>
                  <a:srgbClr val="1E293B"/>
                </a:solidFill>
                <a:latin typeface="Segoe UI" pitchFamily="34" charset="0"/>
                <a:ea typeface="Segoe UI" pitchFamily="34" charset="-122"/>
                <a:cs typeface="Segoe UI" pitchFamily="34" charset="-120"/>
              </a:rPr>
              <a:t>Xem trước</a:t>
            </a:r>
            <a:pPr indent="0" marL="0">
              <a:buNone/>
            </a:pPr>
            <a:r>
              <a:rPr lang="en-US" sz="1600" dirty="0">
                <a:solidFill>
                  <a:srgbClr val="1E293B"/>
                </a:solidFill>
                <a:latin typeface="Segoe UI" pitchFamily="34" charset="0"/>
                <a:ea typeface="Segoe UI" pitchFamily="34" charset="-122"/>
                <a:cs typeface="Segoe UI" pitchFamily="34" charset="-120"/>
              </a:rPr>
              <a:t> các cột sẽ xuất</a:t>
            </a:r>
            <a:endParaRPr lang="en-US" sz="1600" dirty="0"/>
          </a:p>
        </p:txBody>
      </p:sp>
      <p:sp>
        <p:nvSpPr>
          <p:cNvPr id="18" name="Text 15"/>
          <p:cNvSpPr/>
          <p:nvPr/>
        </p:nvSpPr>
        <p:spPr>
          <a:xfrm>
            <a:off x="7498080" y="4237736"/>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19" name="Text 16"/>
          <p:cNvSpPr/>
          <p:nvPr/>
        </p:nvSpPr>
        <p:spPr>
          <a:xfrm>
            <a:off x="7964424" y="4228592"/>
            <a:ext cx="3678631" cy="583184"/>
          </a:xfrm>
          <a:prstGeom prst="rect">
            <a:avLst/>
          </a:prstGeom>
          <a:noFill/>
          <a:ln/>
        </p:spPr>
        <p:txBody>
          <a:bodyPr wrap="square" lIns="0" tIns="0" rIns="0" bIns="0" rtlCol="0" anchor="t"/>
          <a:lstStyle/>
          <a:p>
            <a:pPr indent="0" marL="0">
              <a:buNone/>
            </a:pPr>
            <a:r>
              <a:rPr lang="en-US" sz="1600" dirty="0">
                <a:solidFill>
                  <a:srgbClr val="1E293B"/>
                </a:solidFill>
                <a:latin typeface="Segoe UI" pitchFamily="34" charset="0"/>
                <a:ea typeface="Segoe UI" pitchFamily="34" charset="-122"/>
                <a:cs typeface="Segoe UI" pitchFamily="34" charset="-120"/>
              </a:rPr>
              <a:t>Chọn </a:t>
            </a:r>
            <a:pPr indent="0" marL="0">
              <a:buNone/>
            </a:pPr>
            <a:r>
              <a:rPr lang="en-US" sz="1600" b="1" dirty="0">
                <a:solidFill>
                  <a:srgbClr val="1E293B"/>
                </a:solidFill>
                <a:latin typeface="Segoe UI" pitchFamily="34" charset="0"/>
                <a:ea typeface="Segoe UI" pitchFamily="34" charset="-122"/>
                <a:cs typeface="Segoe UI" pitchFamily="34" charset="-120"/>
              </a:rPr>
              <a:t>Xuất Excel (.xlsx)</a:t>
            </a:r>
            <a:pPr indent="0" marL="0">
              <a:buNone/>
            </a:pPr>
            <a:r>
              <a:rPr lang="en-US" sz="1600" dirty="0">
                <a:solidFill>
                  <a:srgbClr val="1E293B"/>
                </a:solidFill>
                <a:latin typeface="Segoe UI" pitchFamily="34" charset="0"/>
                <a:ea typeface="Segoe UI" pitchFamily="34" charset="-122"/>
                <a:cs typeface="Segoe UI" pitchFamily="34" charset="-120"/>
              </a:rPr>
              <a:t> hoặc </a:t>
            </a:r>
            <a:pPr indent="0" marL="0">
              <a:buNone/>
            </a:pPr>
            <a:r>
              <a:rPr lang="en-US" sz="1600" b="1" dirty="0">
                <a:solidFill>
                  <a:srgbClr val="1E293B"/>
                </a:solidFill>
                <a:latin typeface="Segoe UI" pitchFamily="34" charset="0"/>
                <a:ea typeface="Segoe UI" pitchFamily="34" charset="-122"/>
                <a:cs typeface="Segoe UI" pitchFamily="34" charset="-120"/>
              </a:rPr>
              <a:t>Xuất JSON</a:t>
            </a:r>
            <a:endParaRPr lang="en-US" sz="16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1  </a:t>
            </a:r>
            <a:pPr algn="ctr" indent="0" marL="0">
              <a:buNone/>
            </a:pPr>
            <a:r>
              <a:rPr lang="en-US" sz="1000" dirty="0">
                <a:solidFill>
                  <a:srgbClr val="64748B"/>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  </a:t>
            </a:r>
            <a:pPr algn="ctr" indent="0" marL="0">
              <a:buNone/>
            </a:pPr>
            <a:r>
              <a:rPr lang="en-US" sz="1000" dirty="0">
                <a:solidFill>
                  <a:srgbClr val="FFFFFF"/>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Bước 3 · Tuỳ chọn xuất Excel</a:t>
            </a:r>
            <a:endParaRPr lang="en-US" sz="2600" dirty="0"/>
          </a:p>
        </p:txBody>
      </p:sp>
      <p:sp>
        <p:nvSpPr>
          <p:cNvPr id="9" name="Shape 7"/>
          <p:cNvSpPr/>
          <p:nvPr/>
        </p:nvSpPr>
        <p:spPr>
          <a:xfrm>
            <a:off x="521208" y="1344168"/>
            <a:ext cx="5175504" cy="480974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0" name="Image 0" descr="Hình minh họa 38">    </p:cNvPr>
          <p:cNvPicPr>
            <a:picLocks noChangeAspect="1"/>
          </p:cNvPicPr>
          <p:nvPr/>
        </p:nvPicPr>
        <p:blipFill>
          <a:blip r:embed="rId1"/>
          <a:stretch>
            <a:fillRect/>
          </a:stretch>
        </p:blipFill>
        <p:spPr>
          <a:xfrm>
            <a:off x="548640" y="1371600"/>
            <a:ext cx="5120640" cy="4754880"/>
          </a:xfrm>
          <a:prstGeom prst="rect">
            <a:avLst/>
          </a:prstGeom>
        </p:spPr>
      </p:pic>
      <p:sp>
        <p:nvSpPr>
          <p:cNvPr id="11" name="Text 8"/>
          <p:cNvSpPr/>
          <p:nvPr/>
        </p:nvSpPr>
        <p:spPr>
          <a:xfrm>
            <a:off x="548640" y="6199632"/>
            <a:ext cx="512064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Hộp thoại Tuỳ chọn xuất Excel</a:t>
            </a:r>
            <a:endParaRPr lang="en-US" sz="1100" dirty="0"/>
          </a:p>
        </p:txBody>
      </p:sp>
      <p:sp>
        <p:nvSpPr>
          <p:cNvPr id="12" name="Text 9"/>
          <p:cNvSpPr/>
          <p:nvPr/>
        </p:nvSpPr>
        <p:spPr>
          <a:xfrm>
            <a:off x="6217920" y="1517904"/>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3" name="Text 10"/>
          <p:cNvSpPr/>
          <p:nvPr/>
        </p:nvSpPr>
        <p:spPr>
          <a:xfrm>
            <a:off x="6684264" y="1508760"/>
            <a:ext cx="4958791" cy="616204"/>
          </a:xfrm>
          <a:prstGeom prst="rect">
            <a:avLst/>
          </a:prstGeom>
          <a:noFill/>
          <a:ln/>
        </p:spPr>
        <p:txBody>
          <a:bodyPr wrap="square" lIns="0" tIns="0" rIns="0" bIns="0" rtlCol="0" anchor="t"/>
          <a:lstStyle/>
          <a:p>
            <a:pPr indent="0" marL="0">
              <a:buNone/>
            </a:pPr>
            <a:r>
              <a:rPr lang="en-US" sz="1700" b="1" dirty="0">
                <a:solidFill>
                  <a:srgbClr val="1E293B"/>
                </a:solidFill>
                <a:latin typeface="Segoe UI" pitchFamily="34" charset="0"/>
                <a:ea typeface="Segoe UI" pitchFamily="34" charset="-122"/>
                <a:cs typeface="Segoe UI" pitchFamily="34" charset="-120"/>
              </a:rPr>
              <a:t>Cột Raw / Mask chứa gì</a:t>
            </a:r>
            <a:pPr indent="0" marL="0">
              <a:buNone/>
            </a:pPr>
            <a:r>
              <a:rPr lang="en-US" sz="1700" dirty="0">
                <a:solidFill>
                  <a:srgbClr val="1E293B"/>
                </a:solidFill>
                <a:latin typeface="Segoe UI" pitchFamily="34" charset="0"/>
                <a:ea typeface="Segoe UI" pitchFamily="34" charset="-122"/>
                <a:cs typeface="Segoe UI" pitchFamily="34" charset="-120"/>
              </a:rPr>
              <a:t> – 3 option (slide sau)</a:t>
            </a:r>
            <a:endParaRPr lang="en-US" sz="1700" dirty="0"/>
          </a:p>
        </p:txBody>
      </p:sp>
      <p:sp>
        <p:nvSpPr>
          <p:cNvPr id="14" name="Text 11"/>
          <p:cNvSpPr/>
          <p:nvPr/>
        </p:nvSpPr>
        <p:spPr>
          <a:xfrm>
            <a:off x="6217920" y="2499868"/>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5" name="Text 12"/>
          <p:cNvSpPr/>
          <p:nvPr/>
        </p:nvSpPr>
        <p:spPr>
          <a:xfrm>
            <a:off x="6684264" y="2490724"/>
            <a:ext cx="4958791" cy="616204"/>
          </a:xfrm>
          <a:prstGeom prst="rect">
            <a:avLst/>
          </a:prstGeom>
          <a:noFill/>
          <a:ln/>
        </p:spPr>
        <p:txBody>
          <a:bodyPr wrap="square" lIns="0" tIns="0" rIns="0" bIns="0" rtlCol="0" anchor="t"/>
          <a:lstStyle/>
          <a:p>
            <a:pPr indent="0" marL="0">
              <a:buNone/>
            </a:pPr>
            <a:r>
              <a:rPr lang="en-US" sz="1700" b="1" dirty="0">
                <a:solidFill>
                  <a:srgbClr val="1E293B"/>
                </a:solidFill>
                <a:latin typeface="Segoe UI" pitchFamily="34" charset="0"/>
                <a:ea typeface="Segoe UI" pitchFamily="34" charset="-122"/>
                <a:cs typeface="Segoe UI" pitchFamily="34" charset="-120"/>
              </a:rPr>
              <a:t>Kích thước ô ảnh: </a:t>
            </a:r>
            <a:pPr indent="0" marL="0">
              <a:buNone/>
            </a:pPr>
            <a:r>
              <a:rPr lang="en-US" sz="1700" dirty="0">
                <a:solidFill>
                  <a:srgbClr val="1E293B"/>
                </a:solidFill>
                <a:latin typeface="Segoe UI" pitchFamily="34" charset="0"/>
                <a:ea typeface="Segoe UI" pitchFamily="34" charset="-122"/>
                <a:cs typeface="Segoe UI" pitchFamily="34" charset="-120"/>
              </a:rPr>
              <a:t>theo tỷ lệ ảnh hoặc nhập tay</a:t>
            </a:r>
            <a:endParaRPr lang="en-US" sz="1700" dirty="0"/>
          </a:p>
        </p:txBody>
      </p:sp>
      <p:sp>
        <p:nvSpPr>
          <p:cNvPr id="16" name="Text 13"/>
          <p:cNvSpPr/>
          <p:nvPr/>
        </p:nvSpPr>
        <p:spPr>
          <a:xfrm>
            <a:off x="6217920" y="3481832"/>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7" name="Text 14"/>
          <p:cNvSpPr/>
          <p:nvPr/>
        </p:nvSpPr>
        <p:spPr>
          <a:xfrm>
            <a:off x="6684264" y="3472688"/>
            <a:ext cx="4958791" cy="616204"/>
          </a:xfrm>
          <a:prstGeom prst="rect">
            <a:avLst/>
          </a:prstGeom>
          <a:noFill/>
          <a:ln/>
        </p:spPr>
        <p:txBody>
          <a:bodyPr wrap="square" lIns="0" tIns="0" rIns="0" bIns="0" rtlCol="0" anchor="t"/>
          <a:lstStyle/>
          <a:p>
            <a:pPr indent="0" marL="0">
              <a:buNone/>
            </a:pPr>
            <a:r>
              <a:rPr lang="en-US" sz="1700" b="1" dirty="0">
                <a:solidFill>
                  <a:srgbClr val="1E293B"/>
                </a:solidFill>
                <a:latin typeface="Segoe UI" pitchFamily="34" charset="0"/>
                <a:ea typeface="Segoe UI" pitchFamily="34" charset="-122"/>
                <a:cs typeface="Segoe UI" pitchFamily="34" charset="-120"/>
              </a:rPr>
              <a:t>Xuất cột Vision: </a:t>
            </a:r>
            <a:pPr indent="0" marL="0">
              <a:buNone/>
            </a:pPr>
            <a:r>
              <a:rPr lang="en-US" sz="1700" dirty="0">
                <a:solidFill>
                  <a:srgbClr val="1E293B"/>
                </a:solidFill>
                <a:latin typeface="Segoe UI" pitchFamily="34" charset="0"/>
                <a:ea typeface="Segoe UI" pitchFamily="34" charset="-122"/>
                <a:cs typeface="Segoe UI" pitchFamily="34" charset="-120"/>
              </a:rPr>
              <a:t>mặc định không tick – chỉ xuất Đánh giá + Ghi chú</a:t>
            </a:r>
            <a:endParaRPr lang="en-US" sz="1700" dirty="0"/>
          </a:p>
        </p:txBody>
      </p:sp>
      <p:sp>
        <p:nvSpPr>
          <p:cNvPr id="18" name="Text 15"/>
          <p:cNvSpPr/>
          <p:nvPr/>
        </p:nvSpPr>
        <p:spPr>
          <a:xfrm>
            <a:off x="6217920" y="4463796"/>
            <a:ext cx="329184" cy="329184"/>
          </a:xfrm>
          <a:prstGeom prst="ellipse">
            <a:avLst/>
          </a:prstGeom>
          <a:solidFill>
            <a:srgbClr val="DC2626"/>
          </a:solidFill>
          <a:ln>
            <a:solidFill>
              <a:srgbClr val="DC2626"/>
            </a:solid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19" name="Text 16"/>
          <p:cNvSpPr/>
          <p:nvPr/>
        </p:nvSpPr>
        <p:spPr>
          <a:xfrm>
            <a:off x="6684264" y="4454652"/>
            <a:ext cx="4958791" cy="335534"/>
          </a:xfrm>
          <a:prstGeom prst="rect">
            <a:avLst/>
          </a:prstGeom>
          <a:noFill/>
          <a:ln/>
        </p:spPr>
        <p:txBody>
          <a:bodyPr wrap="square" lIns="0" tIns="0" rIns="0" bIns="0" rtlCol="0" anchor="t"/>
          <a:lstStyle/>
          <a:p>
            <a:pPr indent="0" marL="0">
              <a:buNone/>
            </a:pPr>
            <a:r>
              <a:rPr lang="en-US" sz="1700" b="1" dirty="0">
                <a:solidFill>
                  <a:srgbClr val="1E293B"/>
                </a:solidFill>
                <a:latin typeface="Segoe UI" pitchFamily="34" charset="0"/>
                <a:ea typeface="Segoe UI" pitchFamily="34" charset="-122"/>
                <a:cs typeface="Segoe UI" pitchFamily="34" charset="-120"/>
              </a:rPr>
              <a:t>Xuất Excel</a:t>
            </a:r>
            <a:pPr indent="0" marL="0">
              <a:buNone/>
            </a:pPr>
            <a:r>
              <a:rPr lang="en-US" sz="1700" dirty="0">
                <a:solidFill>
                  <a:srgbClr val="1E293B"/>
                </a:solidFill>
                <a:latin typeface="Segoe UI" pitchFamily="34" charset="0"/>
                <a:ea typeface="Segoe UI" pitchFamily="34" charset="-122"/>
                <a:cs typeface="Segoe UI" pitchFamily="34" charset="-120"/>
              </a:rPr>
              <a:t> → chọn nơi lưu</a:t>
            </a:r>
            <a:endParaRPr lang="en-US" sz="17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1  </a:t>
            </a:r>
            <a:pPr algn="ctr" indent="0" marL="0">
              <a:buNone/>
            </a:pPr>
            <a:r>
              <a:rPr lang="en-US" sz="1000" dirty="0">
                <a:solidFill>
                  <a:srgbClr val="64748B"/>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  </a:t>
            </a:r>
            <a:pPr algn="ctr" indent="0" marL="0">
              <a:buNone/>
            </a:pPr>
            <a:r>
              <a:rPr lang="en-US" sz="1000" dirty="0">
                <a:solidFill>
                  <a:srgbClr val="FFFFFF"/>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3 option cho cột Raw / Mask trong file Excel</a:t>
            </a:r>
            <a:endParaRPr lang="en-US" sz="2600" dirty="0"/>
          </a:p>
        </p:txBody>
      </p:sp>
      <p:sp>
        <p:nvSpPr>
          <p:cNvPr id="9" name="Text 7"/>
          <p:cNvSpPr/>
          <p:nvPr/>
        </p:nvSpPr>
        <p:spPr>
          <a:xfrm>
            <a:off x="548640" y="1371600"/>
            <a:ext cx="548640" cy="548640"/>
          </a:xfrm>
          <a:prstGeom prst="rect">
            <a:avLst/>
          </a:prstGeom>
          <a:noFill/>
          <a:ln/>
        </p:spPr>
        <p:txBody>
          <a:bodyPr wrap="square" lIns="0" tIns="0" rIns="0" bIns="0" rtlCol="0" anchor="ctr"/>
          <a:lstStyle/>
          <a:p>
            <a:pPr indent="0" marL="0">
              <a:buNone/>
            </a:pPr>
            <a:r>
              <a:rPr lang="en-US" sz="3000" b="1" dirty="0">
                <a:solidFill>
                  <a:srgbClr val="16A34A"/>
                </a:solidFill>
                <a:latin typeface="Segoe UI" pitchFamily="34" charset="0"/>
                <a:ea typeface="Segoe UI" pitchFamily="34" charset="-122"/>
                <a:cs typeface="Segoe UI" pitchFamily="34" charset="-120"/>
              </a:rPr>
              <a:t>①</a:t>
            </a:r>
            <a:endParaRPr lang="en-US" sz="3000" dirty="0"/>
          </a:p>
        </p:txBody>
      </p:sp>
      <p:sp>
        <p:nvSpPr>
          <p:cNvPr id="10" name="Text 8"/>
          <p:cNvSpPr/>
          <p:nvPr/>
        </p:nvSpPr>
        <p:spPr>
          <a:xfrm>
            <a:off x="1097280" y="1371600"/>
            <a:ext cx="3108960" cy="411480"/>
          </a:xfrm>
          <a:prstGeom prst="rect">
            <a:avLst/>
          </a:prstGeom>
          <a:noFill/>
          <a:ln/>
        </p:spPr>
        <p:txBody>
          <a:bodyPr wrap="square" lIns="0" tIns="0" rIns="0" bIns="0" rtlCol="0" anchor="ctr"/>
          <a:lstStyle/>
          <a:p>
            <a:pPr indent="0" marL="0">
              <a:buNone/>
            </a:pPr>
            <a:r>
              <a:rPr lang="en-US" sz="1800" b="1" dirty="0">
                <a:solidFill>
                  <a:srgbClr val="0F172A"/>
                </a:solidFill>
                <a:latin typeface="Segoe UI" pitchFamily="34" charset="0"/>
                <a:ea typeface="Segoe UI" pitchFamily="34" charset="-122"/>
                <a:cs typeface="Segoe UI" pitchFamily="34" charset="-120"/>
              </a:rPr>
              <a:t>Hyperlink + thumbnail</a:t>
            </a:r>
            <a:endParaRPr lang="en-US" sz="1800" dirty="0"/>
          </a:p>
        </p:txBody>
      </p:sp>
      <p:sp>
        <p:nvSpPr>
          <p:cNvPr id="11" name="Text 9"/>
          <p:cNvSpPr/>
          <p:nvPr/>
        </p:nvSpPr>
        <p:spPr>
          <a:xfrm>
            <a:off x="1097280" y="1810512"/>
            <a:ext cx="3017520" cy="914400"/>
          </a:xfrm>
          <a:prstGeom prst="rect">
            <a:avLst/>
          </a:prstGeom>
          <a:noFill/>
          <a:ln/>
        </p:spPr>
        <p:txBody>
          <a:bodyPr wrap="square" lIns="0" tIns="0" rIns="0" bIns="0" rtlCol="0" anchor="t"/>
          <a:lstStyle/>
          <a:p>
            <a:pPr indent="0" marL="0">
              <a:buNone/>
            </a:pPr>
            <a:r>
              <a:rPr lang="en-US" sz="1400" dirty="0">
                <a:solidFill>
                  <a:srgbClr val="1E293B"/>
                </a:solidFill>
                <a:latin typeface="Segoe UI" pitchFamily="34" charset="0"/>
                <a:ea typeface="Segoe UI" pitchFamily="34" charset="-122"/>
                <a:cs typeface="Segoe UI" pitchFamily="34" charset="-120"/>
              </a:rPr>
              <a:t>Mặc định · ảnh nhỏ trong ô, bấm vào mở ảnh gốc</a:t>
            </a:r>
            <a:endParaRPr lang="en-US" sz="1400" dirty="0"/>
          </a:p>
        </p:txBody>
      </p:sp>
      <p:sp>
        <p:nvSpPr>
          <p:cNvPr id="12" name="Shape 10"/>
          <p:cNvSpPr/>
          <p:nvPr/>
        </p:nvSpPr>
        <p:spPr>
          <a:xfrm>
            <a:off x="4361688" y="1344313"/>
            <a:ext cx="7308799" cy="147189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3" name="Image 0" descr="Hình minh họa 39">    </p:cNvPr>
          <p:cNvPicPr>
            <a:picLocks noChangeAspect="1"/>
          </p:cNvPicPr>
          <p:nvPr/>
        </p:nvPicPr>
        <p:blipFill>
          <a:blip r:embed="rId1"/>
          <a:stretch>
            <a:fillRect/>
          </a:stretch>
        </p:blipFill>
        <p:spPr>
          <a:xfrm>
            <a:off x="4389120" y="1371745"/>
            <a:ext cx="7253935" cy="1417030"/>
          </a:xfrm>
          <a:prstGeom prst="rect">
            <a:avLst/>
          </a:prstGeom>
        </p:spPr>
      </p:pic>
      <p:sp>
        <p:nvSpPr>
          <p:cNvPr id="14" name="Text 11"/>
          <p:cNvSpPr/>
          <p:nvPr/>
        </p:nvSpPr>
        <p:spPr>
          <a:xfrm>
            <a:off x="548640" y="2971800"/>
            <a:ext cx="548640" cy="548640"/>
          </a:xfrm>
          <a:prstGeom prst="rect">
            <a:avLst/>
          </a:prstGeom>
          <a:noFill/>
          <a:ln/>
        </p:spPr>
        <p:txBody>
          <a:bodyPr wrap="square" lIns="0" tIns="0" rIns="0" bIns="0" rtlCol="0" anchor="ctr"/>
          <a:lstStyle/>
          <a:p>
            <a:pPr indent="0" marL="0">
              <a:buNone/>
            </a:pPr>
            <a:r>
              <a:rPr lang="en-US" sz="3000" b="1" dirty="0">
                <a:solidFill>
                  <a:srgbClr val="16A34A"/>
                </a:solidFill>
                <a:latin typeface="Segoe UI" pitchFamily="34" charset="0"/>
                <a:ea typeface="Segoe UI" pitchFamily="34" charset="-122"/>
                <a:cs typeface="Segoe UI" pitchFamily="34" charset="-120"/>
              </a:rPr>
              <a:t>②</a:t>
            </a:r>
            <a:endParaRPr lang="en-US" sz="3000" dirty="0"/>
          </a:p>
        </p:txBody>
      </p:sp>
      <p:sp>
        <p:nvSpPr>
          <p:cNvPr id="15" name="Text 12"/>
          <p:cNvSpPr/>
          <p:nvPr/>
        </p:nvSpPr>
        <p:spPr>
          <a:xfrm>
            <a:off x="1097280" y="2971800"/>
            <a:ext cx="3108960" cy="411480"/>
          </a:xfrm>
          <a:prstGeom prst="rect">
            <a:avLst/>
          </a:prstGeom>
          <a:noFill/>
          <a:ln/>
        </p:spPr>
        <p:txBody>
          <a:bodyPr wrap="square" lIns="0" tIns="0" rIns="0" bIns="0" rtlCol="0" anchor="ctr"/>
          <a:lstStyle/>
          <a:p>
            <a:pPr indent="0" marL="0">
              <a:buNone/>
            </a:pPr>
            <a:r>
              <a:rPr lang="en-US" sz="1800" b="1" dirty="0">
                <a:solidFill>
                  <a:srgbClr val="0F172A"/>
                </a:solidFill>
                <a:latin typeface="Segoe UI" pitchFamily="34" charset="0"/>
                <a:ea typeface="Segoe UI" pitchFamily="34" charset="-122"/>
                <a:cs typeface="Segoe UI" pitchFamily="34" charset="-120"/>
              </a:rPr>
              <a:t>Hyperlink</a:t>
            </a:r>
            <a:endParaRPr lang="en-US" sz="1800" dirty="0"/>
          </a:p>
        </p:txBody>
      </p:sp>
      <p:sp>
        <p:nvSpPr>
          <p:cNvPr id="16" name="Text 13"/>
          <p:cNvSpPr/>
          <p:nvPr/>
        </p:nvSpPr>
        <p:spPr>
          <a:xfrm>
            <a:off x="1097280" y="3410712"/>
            <a:ext cx="3017520" cy="914400"/>
          </a:xfrm>
          <a:prstGeom prst="rect">
            <a:avLst/>
          </a:prstGeom>
          <a:noFill/>
          <a:ln/>
        </p:spPr>
        <p:txBody>
          <a:bodyPr wrap="square" lIns="0" tIns="0" rIns="0" bIns="0" rtlCol="0" anchor="t"/>
          <a:lstStyle/>
          <a:p>
            <a:pPr indent="0" marL="0">
              <a:buNone/>
            </a:pPr>
            <a:r>
              <a:rPr lang="en-US" sz="1400" dirty="0">
                <a:solidFill>
                  <a:srgbClr val="1E293B"/>
                </a:solidFill>
                <a:latin typeface="Segoe UI" pitchFamily="34" charset="0"/>
                <a:ea typeface="Segoe UI" pitchFamily="34" charset="-122"/>
                <a:cs typeface="Segoe UI" pitchFamily="34" charset="-120"/>
              </a:rPr>
              <a:t>Bỏ tick Hiện thumbnail · bấm vào tên file mở ảnh gốc</a:t>
            </a:r>
            <a:endParaRPr lang="en-US" sz="1400" dirty="0"/>
          </a:p>
        </p:txBody>
      </p:sp>
      <p:sp>
        <p:nvSpPr>
          <p:cNvPr id="17" name="Shape 14"/>
          <p:cNvSpPr/>
          <p:nvPr/>
        </p:nvSpPr>
        <p:spPr>
          <a:xfrm>
            <a:off x="4361688" y="3242727"/>
            <a:ext cx="7308799" cy="875465"/>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8" name="Image 1" descr="Hình minh họa 40">    </p:cNvPr>
          <p:cNvPicPr>
            <a:picLocks noChangeAspect="1"/>
          </p:cNvPicPr>
          <p:nvPr/>
        </p:nvPicPr>
        <p:blipFill>
          <a:blip r:embed="rId2"/>
          <a:stretch>
            <a:fillRect/>
          </a:stretch>
        </p:blipFill>
        <p:spPr>
          <a:xfrm>
            <a:off x="4389120" y="3270159"/>
            <a:ext cx="7253935" cy="820601"/>
          </a:xfrm>
          <a:prstGeom prst="rect">
            <a:avLst/>
          </a:prstGeom>
        </p:spPr>
      </p:pic>
      <p:sp>
        <p:nvSpPr>
          <p:cNvPr id="19" name="Text 15"/>
          <p:cNvSpPr/>
          <p:nvPr/>
        </p:nvSpPr>
        <p:spPr>
          <a:xfrm>
            <a:off x="548640" y="4572000"/>
            <a:ext cx="548640" cy="548640"/>
          </a:xfrm>
          <a:prstGeom prst="rect">
            <a:avLst/>
          </a:prstGeom>
          <a:noFill/>
          <a:ln/>
        </p:spPr>
        <p:txBody>
          <a:bodyPr wrap="square" lIns="0" tIns="0" rIns="0" bIns="0" rtlCol="0" anchor="ctr"/>
          <a:lstStyle/>
          <a:p>
            <a:pPr indent="0" marL="0">
              <a:buNone/>
            </a:pPr>
            <a:r>
              <a:rPr lang="en-US" sz="3000" b="1" dirty="0">
                <a:solidFill>
                  <a:srgbClr val="16A34A"/>
                </a:solidFill>
                <a:latin typeface="Segoe UI" pitchFamily="34" charset="0"/>
                <a:ea typeface="Segoe UI" pitchFamily="34" charset="-122"/>
                <a:cs typeface="Segoe UI" pitchFamily="34" charset="-120"/>
              </a:rPr>
              <a:t>③</a:t>
            </a:r>
            <a:endParaRPr lang="en-US" sz="3000" dirty="0"/>
          </a:p>
        </p:txBody>
      </p:sp>
      <p:sp>
        <p:nvSpPr>
          <p:cNvPr id="20" name="Text 16"/>
          <p:cNvSpPr/>
          <p:nvPr/>
        </p:nvSpPr>
        <p:spPr>
          <a:xfrm>
            <a:off x="1097280" y="4572000"/>
            <a:ext cx="3108960" cy="411480"/>
          </a:xfrm>
          <a:prstGeom prst="rect">
            <a:avLst/>
          </a:prstGeom>
          <a:noFill/>
          <a:ln/>
        </p:spPr>
        <p:txBody>
          <a:bodyPr wrap="square" lIns="0" tIns="0" rIns="0" bIns="0" rtlCol="0" anchor="ctr"/>
          <a:lstStyle/>
          <a:p>
            <a:pPr indent="0" marL="0">
              <a:buNone/>
            </a:pPr>
            <a:r>
              <a:rPr lang="en-US" sz="1800" b="1" dirty="0">
                <a:solidFill>
                  <a:srgbClr val="0F172A"/>
                </a:solidFill>
                <a:latin typeface="Segoe UI" pitchFamily="34" charset="0"/>
                <a:ea typeface="Segoe UI" pitchFamily="34" charset="-122"/>
                <a:cs typeface="Segoe UI" pitchFamily="34" charset="-120"/>
              </a:rPr>
              <a:t>Chèn ảnh gốc</a:t>
            </a:r>
            <a:endParaRPr lang="en-US" sz="1800" dirty="0"/>
          </a:p>
        </p:txBody>
      </p:sp>
      <p:sp>
        <p:nvSpPr>
          <p:cNvPr id="21" name="Text 17"/>
          <p:cNvSpPr/>
          <p:nvPr/>
        </p:nvSpPr>
        <p:spPr>
          <a:xfrm>
            <a:off x="1097280" y="5010912"/>
            <a:ext cx="3017520" cy="914400"/>
          </a:xfrm>
          <a:prstGeom prst="rect">
            <a:avLst/>
          </a:prstGeom>
          <a:noFill/>
          <a:ln/>
        </p:spPr>
        <p:txBody>
          <a:bodyPr wrap="square" lIns="0" tIns="0" rIns="0" bIns="0" rtlCol="0" anchor="t"/>
          <a:lstStyle/>
          <a:p>
            <a:pPr indent="0" marL="0">
              <a:buNone/>
            </a:pPr>
            <a:r>
              <a:rPr lang="en-US" sz="1400" dirty="0">
                <a:solidFill>
                  <a:srgbClr val="1E293B"/>
                </a:solidFill>
                <a:latin typeface="Segoe UI" pitchFamily="34" charset="0"/>
                <a:ea typeface="Segoe UI" pitchFamily="34" charset="-122"/>
                <a:cs typeface="Segoe UI" pitchFamily="34" charset="-120"/>
              </a:rPr>
              <a:t>Nhúng nguyên ảnh, không nén · phóng to xem rõ chi tiết</a:t>
            </a:r>
            <a:endParaRPr lang="en-US" sz="1400" dirty="0"/>
          </a:p>
        </p:txBody>
      </p:sp>
      <p:sp>
        <p:nvSpPr>
          <p:cNvPr id="22" name="Shape 18"/>
          <p:cNvSpPr/>
          <p:nvPr/>
        </p:nvSpPr>
        <p:spPr>
          <a:xfrm>
            <a:off x="4361688" y="4544713"/>
            <a:ext cx="7308799" cy="1471894"/>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23" name="Image 2" descr="Hình minh họa 41">    </p:cNvPr>
          <p:cNvPicPr>
            <a:picLocks noChangeAspect="1"/>
          </p:cNvPicPr>
          <p:nvPr/>
        </p:nvPicPr>
        <p:blipFill>
          <a:blip r:embed="rId3"/>
          <a:stretch>
            <a:fillRect/>
          </a:stretch>
        </p:blipFill>
        <p:spPr>
          <a:xfrm>
            <a:off x="4389120" y="4572145"/>
            <a:ext cx="7253935" cy="1417030"/>
          </a:xfrm>
          <a:prstGeom prst="rect">
            <a:avLst/>
          </a:prstGeom>
        </p:spPr>
      </p:pic>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1  </a:t>
            </a:r>
            <a:pPr algn="ctr" indent="0" marL="0">
              <a:buNone/>
            </a:pPr>
            <a:r>
              <a:rPr lang="en-US" sz="1000" dirty="0">
                <a:solidFill>
                  <a:srgbClr val="64748B"/>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  </a:t>
            </a:r>
            <a:pPr algn="ctr" indent="0" marL="0">
              <a:buNone/>
            </a:pPr>
            <a:r>
              <a:rPr lang="en-US" sz="1000" dirty="0">
                <a:solidFill>
                  <a:srgbClr val="FFFFFF"/>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Chọn option theo mục đích sử dụng</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417320"/>
                <a:gridCol w="1234440"/>
                <a:gridCol w="1143000"/>
                <a:gridCol w="1143000"/>
                <a:gridCol w="2011680"/>
              </a:tblGrid>
              <a:tr h="45720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Option</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Ô Raw / Mask</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Bấm mở ảnh gốc</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Dung lượng*</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Dùng khi</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868680">
                <a:tc>
                  <a:txBody>
                    <a:bodyPr/>
                    <a:lstStyle/>
                    <a:p>
                      <a:pPr indent="0" marL="0">
                        <a:buNone/>
                      </a:pPr>
                      <a:r>
                        <a:rPr lang="en-US" sz="1400" b="1" dirty="0">
                          <a:solidFill>
                            <a:srgbClr val="1E293B"/>
                          </a:solidFill>
                          <a:latin typeface="Segoe UI" pitchFamily="34" charset="0"/>
                          <a:ea typeface="Segoe UI" pitchFamily="34" charset="-122"/>
                          <a:cs typeface="Segoe UI" pitchFamily="34" charset="-120"/>
                        </a:rPr>
                        <a:t>① Thumbnail</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Ảnh nhỏ</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Có</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b="1" dirty="0">
                          <a:solidFill>
                            <a:srgbClr val="16A34A"/>
                          </a:solidFill>
                          <a:latin typeface="Segoe UI" pitchFamily="34" charset="0"/>
                          <a:ea typeface="Segoe UI" pitchFamily="34" charset="-122"/>
                          <a:cs typeface="Segoe UI" pitchFamily="34" charset="-120"/>
                        </a:rPr>
                        <a:t>733 KB</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Xem nhanh, gửi kèm thư mục ảnh</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E293B"/>
                          </a:solidFill>
                          <a:latin typeface="Segoe UI" pitchFamily="34" charset="0"/>
                          <a:ea typeface="Segoe UI" pitchFamily="34" charset="-122"/>
                          <a:cs typeface="Segoe UI" pitchFamily="34" charset="-120"/>
                        </a:rPr>
                        <a:t>② Hyperlink</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Tên file</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Có</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b="1" dirty="0">
                          <a:solidFill>
                            <a:srgbClr val="16A34A"/>
                          </a:solidFill>
                          <a:latin typeface="Segoe UI" pitchFamily="34" charset="0"/>
                          <a:ea typeface="Segoe UI" pitchFamily="34" charset="-122"/>
                          <a:cs typeface="Segoe UI" pitchFamily="34" charset="-120"/>
                        </a:rPr>
                        <a:t>21 KB</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Dataset rất lớn, chỉ cần tra cứu</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1097280">
                <a:tc>
                  <a:txBody>
                    <a:bodyPr/>
                    <a:lstStyle/>
                    <a:p>
                      <a:pPr indent="0" marL="0">
                        <a:buNone/>
                      </a:pPr>
                      <a:r>
                        <a:rPr lang="en-US" sz="1400" b="1" dirty="0">
                          <a:solidFill>
                            <a:srgbClr val="1E293B"/>
                          </a:solidFill>
                          <a:latin typeface="Segoe UI" pitchFamily="34" charset="0"/>
                          <a:ea typeface="Segoe UI" pitchFamily="34" charset="-122"/>
                          <a:cs typeface="Segoe UI" pitchFamily="34" charset="-120"/>
                        </a:rPr>
                        <a:t>③ Ảnh gốc</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Ảnh gốc nét</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Không</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b="1" dirty="0">
                          <a:solidFill>
                            <a:srgbClr val="D97706"/>
                          </a:solidFill>
                          <a:latin typeface="Segoe UI" pitchFamily="34" charset="0"/>
                          <a:ea typeface="Segoe UI" pitchFamily="34" charset="-122"/>
                          <a:cs typeface="Segoe UI" pitchFamily="34" charset="-120"/>
                        </a:rPr>
                        <a:t>7,2 MB</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Segoe UI" pitchFamily="34" charset="0"/>
                          <a:ea typeface="Segoe UI" pitchFamily="34" charset="-122"/>
                          <a:cs typeface="Segoe UI" pitchFamily="34" charset="-120"/>
                        </a:rPr>
                        <a:t>Gửi riêng file Excel, ít dữ liệu; khách hàng xem trực tiếp trong Excel</a:t>
                      </a:r>
                      <a:endParaRPr lang="en-US" sz="1400" dirty="0">
                        <a:latin typeface="Segoe UI" charset="0"/>
                        <a:ea typeface="Segoe UI" charset="0"/>
                        <a:cs typeface="Segoe UI" charset="0"/>
                      </a:endParaRPr>
                    </a:p>
                  </a:txBody>
                  <a:tcPr marL="101600" marR="1016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7"/>
          <p:cNvSpPr/>
          <p:nvPr/>
        </p:nvSpPr>
        <p:spPr>
          <a:xfrm>
            <a:off x="548640" y="4846320"/>
            <a:ext cx="6949440" cy="274320"/>
          </a:xfrm>
          <a:prstGeom prst="rect">
            <a:avLst/>
          </a:prstGeom>
          <a:noFill/>
          <a:ln/>
        </p:spPr>
        <p:txBody>
          <a:bodyPr wrap="square" lIns="0" tIns="0" rIns="0" bIns="0" rtlCol="0" anchor="ctr"/>
          <a:lstStyle/>
          <a:p>
            <a:pPr indent="0" marL="0">
              <a:buNone/>
            </a:pPr>
            <a:r>
              <a:rPr lang="en-US" sz="1100" i="1" dirty="0">
                <a:solidFill>
                  <a:srgbClr val="64748B"/>
                </a:solidFill>
                <a:latin typeface="Segoe UI" pitchFamily="34" charset="0"/>
                <a:ea typeface="Segoe UI" pitchFamily="34" charset="-122"/>
                <a:cs typeface="Segoe UI" pitchFamily="34" charset="-120"/>
              </a:rPr>
              <a:t>* Dung lượng file Excel ví dụ trong tài liệu</a:t>
            </a:r>
            <a:endParaRPr lang="en-US" sz="1100" dirty="0"/>
          </a:p>
        </p:txBody>
      </p:sp>
      <p:sp>
        <p:nvSpPr>
          <p:cNvPr id="11" name="Shape 8"/>
          <p:cNvSpPr/>
          <p:nvPr/>
        </p:nvSpPr>
        <p:spPr>
          <a:xfrm>
            <a:off x="7790688" y="1344168"/>
            <a:ext cx="3879799" cy="1745049"/>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2" name="Image 0" descr="Hình minh họa 42">    </p:cNvPr>
          <p:cNvPicPr>
            <a:picLocks noChangeAspect="1"/>
          </p:cNvPicPr>
          <p:nvPr/>
        </p:nvPicPr>
        <p:blipFill>
          <a:blip r:embed="rId1"/>
          <a:stretch>
            <a:fillRect/>
          </a:stretch>
        </p:blipFill>
        <p:spPr>
          <a:xfrm>
            <a:off x="7818120" y="1371600"/>
            <a:ext cx="3824935" cy="1690185"/>
          </a:xfrm>
          <a:prstGeom prst="rect">
            <a:avLst/>
          </a:prstGeom>
        </p:spPr>
      </p:pic>
      <p:sp>
        <p:nvSpPr>
          <p:cNvPr id="13" name="Text 9"/>
          <p:cNvSpPr/>
          <p:nvPr/>
        </p:nvSpPr>
        <p:spPr>
          <a:xfrm>
            <a:off x="7818120" y="3134937"/>
            <a:ext cx="3824935"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Phóng to cùng một ô: ① Thumbnail và ③ Ảnh gốc</a:t>
            </a:r>
            <a:endParaRPr lang="en-US" sz="11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1  </a:t>
            </a:r>
            <a:pPr algn="ctr" indent="0" marL="0">
              <a:buNone/>
            </a:pPr>
            <a:r>
              <a:rPr lang="en-US" sz="1000" dirty="0">
                <a:solidFill>
                  <a:srgbClr val="64748B"/>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  </a:t>
            </a:r>
            <a:pPr algn="ctr" indent="0" marL="0">
              <a:buNone/>
            </a:pPr>
            <a:r>
              <a:rPr lang="en-US" sz="1000" dirty="0">
                <a:solidFill>
                  <a:srgbClr val="FFFFFF"/>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4  </a:t>
            </a:r>
            <a:pPr algn="ctr" indent="0" marL="0">
              <a:buNone/>
            </a:pPr>
            <a:r>
              <a:rPr lang="en-US" sz="1000" dirty="0">
                <a:solidFill>
                  <a:srgbClr val="64748B"/>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3 nguyên tắc để link ảnh trong Excel luôn mở được</a:t>
            </a:r>
            <a:endParaRPr lang="en-US" sz="2600" dirty="0"/>
          </a:p>
        </p:txBody>
      </p:sp>
      <p:sp>
        <p:nvSpPr>
          <p:cNvPr id="9" name="Shape 7"/>
          <p:cNvSpPr/>
          <p:nvPr/>
        </p:nvSpPr>
        <p:spPr>
          <a:xfrm>
            <a:off x="548640" y="1463040"/>
            <a:ext cx="5852160" cy="1280160"/>
          </a:xfrm>
          <a:prstGeom prst="roundRect">
            <a:avLst>
              <a:gd name="adj" fmla="val 5714"/>
            </a:avLst>
          </a:prstGeom>
          <a:solidFill>
            <a:srgbClr val="FFF7E6"/>
          </a:solidFill>
          <a:ln w="9525">
            <a:solidFill>
              <a:srgbClr val="F5D08A"/>
            </a:solidFill>
            <a:prstDash val="solid"/>
          </a:ln>
        </p:spPr>
      </p:sp>
      <p:sp>
        <p:nvSpPr>
          <p:cNvPr id="10" name="Text 8"/>
          <p:cNvSpPr/>
          <p:nvPr/>
        </p:nvSpPr>
        <p:spPr>
          <a:xfrm>
            <a:off x="731520" y="1463040"/>
            <a:ext cx="640080" cy="1280160"/>
          </a:xfrm>
          <a:prstGeom prst="rect">
            <a:avLst/>
          </a:prstGeom>
          <a:noFill/>
          <a:ln/>
        </p:spPr>
        <p:txBody>
          <a:bodyPr wrap="square" lIns="0" tIns="0" rIns="0" bIns="0" rtlCol="0" anchor="ctr"/>
          <a:lstStyle/>
          <a:p>
            <a:pPr algn="ctr" indent="0" marL="0">
              <a:buNone/>
            </a:pPr>
            <a:r>
              <a:rPr lang="en-US" sz="3400" b="1" dirty="0">
                <a:solidFill>
                  <a:srgbClr val="D97706"/>
                </a:solidFill>
                <a:latin typeface="Segoe UI" pitchFamily="34" charset="0"/>
                <a:ea typeface="Segoe UI" pitchFamily="34" charset="-122"/>
                <a:cs typeface="Segoe UI" pitchFamily="34" charset="-120"/>
              </a:rPr>
              <a:t>1</a:t>
            </a:r>
            <a:endParaRPr lang="en-US" sz="3400" dirty="0"/>
          </a:p>
        </p:txBody>
      </p:sp>
      <p:sp>
        <p:nvSpPr>
          <p:cNvPr id="11" name="Text 9"/>
          <p:cNvSpPr/>
          <p:nvPr/>
        </p:nvSpPr>
        <p:spPr>
          <a:xfrm>
            <a:off x="1508760" y="1463040"/>
            <a:ext cx="4709160" cy="1280160"/>
          </a:xfrm>
          <a:prstGeom prst="rect">
            <a:avLst/>
          </a:prstGeom>
          <a:noFill/>
          <a:ln/>
        </p:spPr>
        <p:txBody>
          <a:bodyPr wrap="square" lIns="0" tIns="0" rIns="0" bIns="0" rtlCol="0" anchor="ctr"/>
          <a:lstStyle/>
          <a:p>
            <a:pPr indent="0" marL="0">
              <a:buNone/>
            </a:pPr>
            <a:r>
              <a:rPr lang="en-US" sz="1600" dirty="0">
                <a:solidFill>
                  <a:srgbClr val="0F172A"/>
                </a:solidFill>
                <a:latin typeface="Segoe UI" pitchFamily="34" charset="0"/>
                <a:ea typeface="Segoe UI" pitchFamily="34" charset="-122"/>
                <a:cs typeface="Segoe UI" pitchFamily="34" charset="-120"/>
              </a:rPr>
              <a:t>Option ① ② nên lưu file Excel trong thư mục dataset để link ảnh vẫn mở được khi gửi cả thư mục</a:t>
            </a:r>
            <a:endParaRPr lang="en-US" sz="1600" dirty="0"/>
          </a:p>
        </p:txBody>
      </p:sp>
      <p:sp>
        <p:nvSpPr>
          <p:cNvPr id="12" name="Shape 10"/>
          <p:cNvSpPr/>
          <p:nvPr/>
        </p:nvSpPr>
        <p:spPr>
          <a:xfrm>
            <a:off x="548640" y="2926080"/>
            <a:ext cx="5852160" cy="1280160"/>
          </a:xfrm>
          <a:prstGeom prst="roundRect">
            <a:avLst>
              <a:gd name="adj" fmla="val 5714"/>
            </a:avLst>
          </a:prstGeom>
          <a:solidFill>
            <a:srgbClr val="FFF7E6"/>
          </a:solidFill>
          <a:ln w="9525">
            <a:solidFill>
              <a:srgbClr val="F5D08A"/>
            </a:solidFill>
            <a:prstDash val="solid"/>
          </a:ln>
        </p:spPr>
      </p:sp>
      <p:sp>
        <p:nvSpPr>
          <p:cNvPr id="13" name="Text 11"/>
          <p:cNvSpPr/>
          <p:nvPr/>
        </p:nvSpPr>
        <p:spPr>
          <a:xfrm>
            <a:off x="731520" y="2926080"/>
            <a:ext cx="640080" cy="1280160"/>
          </a:xfrm>
          <a:prstGeom prst="rect">
            <a:avLst/>
          </a:prstGeom>
          <a:noFill/>
          <a:ln/>
        </p:spPr>
        <p:txBody>
          <a:bodyPr wrap="square" lIns="0" tIns="0" rIns="0" bIns="0" rtlCol="0" anchor="ctr"/>
          <a:lstStyle/>
          <a:p>
            <a:pPr algn="ctr" indent="0" marL="0">
              <a:buNone/>
            </a:pPr>
            <a:r>
              <a:rPr lang="en-US" sz="3400" b="1" dirty="0">
                <a:solidFill>
                  <a:srgbClr val="D97706"/>
                </a:solidFill>
                <a:latin typeface="Segoe UI" pitchFamily="34" charset="0"/>
                <a:ea typeface="Segoe UI" pitchFamily="34" charset="-122"/>
                <a:cs typeface="Segoe UI" pitchFamily="34" charset="-120"/>
              </a:rPr>
              <a:t>2</a:t>
            </a:r>
            <a:endParaRPr lang="en-US" sz="3400" dirty="0"/>
          </a:p>
        </p:txBody>
      </p:sp>
      <p:sp>
        <p:nvSpPr>
          <p:cNvPr id="14" name="Text 12"/>
          <p:cNvSpPr/>
          <p:nvPr/>
        </p:nvSpPr>
        <p:spPr>
          <a:xfrm>
            <a:off x="1508760" y="2926080"/>
            <a:ext cx="4709160" cy="1280160"/>
          </a:xfrm>
          <a:prstGeom prst="rect">
            <a:avLst/>
          </a:prstGeom>
          <a:noFill/>
          <a:ln/>
        </p:spPr>
        <p:txBody>
          <a:bodyPr wrap="square" lIns="0" tIns="0" rIns="0" bIns="0" rtlCol="0" anchor="ctr"/>
          <a:lstStyle/>
          <a:p>
            <a:pPr indent="0" marL="0">
              <a:buNone/>
            </a:pPr>
            <a:r>
              <a:rPr lang="en-US" sz="1600" dirty="0">
                <a:solidFill>
                  <a:srgbClr val="0F172A"/>
                </a:solidFill>
                <a:latin typeface="Segoe UI" pitchFamily="34" charset="0"/>
                <a:ea typeface="Segoe UI" pitchFamily="34" charset="-122"/>
                <a:cs typeface="Segoe UI" pitchFamily="34" charset="-120"/>
              </a:rPr>
              <a:t>Sau khi xuất Excel: không đổi tên file, không di chuyển ảnh và không đổi schema</a:t>
            </a:r>
            <a:endParaRPr lang="en-US" sz="1600" dirty="0"/>
          </a:p>
        </p:txBody>
      </p:sp>
      <p:sp>
        <p:nvSpPr>
          <p:cNvPr id="15" name="Shape 13"/>
          <p:cNvSpPr/>
          <p:nvPr/>
        </p:nvSpPr>
        <p:spPr>
          <a:xfrm>
            <a:off x="548640" y="4389120"/>
            <a:ext cx="5852160" cy="1280160"/>
          </a:xfrm>
          <a:prstGeom prst="roundRect">
            <a:avLst>
              <a:gd name="adj" fmla="val 5714"/>
            </a:avLst>
          </a:prstGeom>
          <a:solidFill>
            <a:srgbClr val="FFF7E6"/>
          </a:solidFill>
          <a:ln w="9525">
            <a:solidFill>
              <a:srgbClr val="F5D08A"/>
            </a:solidFill>
            <a:prstDash val="solid"/>
          </a:ln>
        </p:spPr>
      </p:sp>
      <p:sp>
        <p:nvSpPr>
          <p:cNvPr id="16" name="Text 14"/>
          <p:cNvSpPr/>
          <p:nvPr/>
        </p:nvSpPr>
        <p:spPr>
          <a:xfrm>
            <a:off x="731520" y="4389120"/>
            <a:ext cx="640080" cy="1280160"/>
          </a:xfrm>
          <a:prstGeom prst="rect">
            <a:avLst/>
          </a:prstGeom>
          <a:noFill/>
          <a:ln/>
        </p:spPr>
        <p:txBody>
          <a:bodyPr wrap="square" lIns="0" tIns="0" rIns="0" bIns="0" rtlCol="0" anchor="ctr"/>
          <a:lstStyle/>
          <a:p>
            <a:pPr algn="ctr" indent="0" marL="0">
              <a:buNone/>
            </a:pPr>
            <a:r>
              <a:rPr lang="en-US" sz="3400" b="1" dirty="0">
                <a:solidFill>
                  <a:srgbClr val="D97706"/>
                </a:solidFill>
                <a:latin typeface="Segoe UI" pitchFamily="34" charset="0"/>
                <a:ea typeface="Segoe UI" pitchFamily="34" charset="-122"/>
                <a:cs typeface="Segoe UI" pitchFamily="34" charset="-120"/>
              </a:rPr>
              <a:t>3</a:t>
            </a:r>
            <a:endParaRPr lang="en-US" sz="3400" dirty="0"/>
          </a:p>
        </p:txBody>
      </p:sp>
      <p:sp>
        <p:nvSpPr>
          <p:cNvPr id="17" name="Text 15"/>
          <p:cNvSpPr/>
          <p:nvPr/>
        </p:nvSpPr>
        <p:spPr>
          <a:xfrm>
            <a:off x="1508760" y="4389120"/>
            <a:ext cx="4709160" cy="1280160"/>
          </a:xfrm>
          <a:prstGeom prst="rect">
            <a:avLst/>
          </a:prstGeom>
          <a:noFill/>
          <a:ln/>
        </p:spPr>
        <p:txBody>
          <a:bodyPr wrap="square" lIns="0" tIns="0" rIns="0" bIns="0" rtlCol="0" anchor="ctr"/>
          <a:lstStyle/>
          <a:p>
            <a:pPr indent="0" marL="0">
              <a:buNone/>
            </a:pPr>
            <a:r>
              <a:rPr lang="en-US" sz="1600" dirty="0">
                <a:solidFill>
                  <a:srgbClr val="0F172A"/>
                </a:solidFill>
                <a:latin typeface="Segoe UI" pitchFamily="34" charset="0"/>
                <a:ea typeface="Segoe UI" pitchFamily="34" charset="-122"/>
                <a:cs typeface="Segoe UI" pitchFamily="34" charset="-120"/>
              </a:rPr>
              <a:t>File báo cáo Excel phải cùng cấp với thư mục ảnh</a:t>
            </a:r>
            <a:endParaRPr lang="en-US" sz="1600" dirty="0"/>
          </a:p>
        </p:txBody>
      </p:sp>
      <p:sp>
        <p:nvSpPr>
          <p:cNvPr id="18" name="Text 16"/>
          <p:cNvSpPr/>
          <p:nvPr/>
        </p:nvSpPr>
        <p:spPr>
          <a:xfrm>
            <a:off x="6812280" y="1463040"/>
            <a:ext cx="4830775" cy="292608"/>
          </a:xfrm>
          <a:prstGeom prst="rect">
            <a:avLst/>
          </a:prstGeom>
          <a:noFill/>
          <a:ln/>
        </p:spPr>
        <p:txBody>
          <a:bodyPr wrap="square" lIns="0" tIns="0" rIns="0" bIns="0"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Ví dụ: thư mục Dataset</a:t>
            </a:r>
            <a:endParaRPr lang="en-US" sz="1300" dirty="0"/>
          </a:p>
        </p:txBody>
      </p:sp>
      <p:sp>
        <p:nvSpPr>
          <p:cNvPr id="19" name="Text 17"/>
          <p:cNvSpPr/>
          <p:nvPr/>
        </p:nvSpPr>
        <p:spPr>
          <a:xfrm>
            <a:off x="6812280" y="1828800"/>
            <a:ext cx="4830775" cy="2194560"/>
          </a:xfrm>
          <a:prstGeom prst="rect">
            <a:avLst/>
          </a:prstGeom>
          <a:solidFill>
            <a:srgbClr val="F8FAFC"/>
          </a:solidFill>
          <a:ln w="9525">
            <a:solidFill>
              <a:srgbClr val="E2E8F0"/>
            </a:solidFill>
          </a:ln>
        </p:spPr>
        <p:txBody>
          <a:bodyPr wrap="square" lIns="1524" tIns="1524" rIns="1524" bIns="1524" rtlCol="0" anchor="t"/>
          <a:lstStyle/>
          <a:p>
            <a:pPr indent="0" marL="0">
              <a:buNone/>
            </a:pPr>
            <a:r>
              <a:rPr lang="en-US" sz="1200" dirty="0">
                <a:solidFill>
                  <a:srgbClr val="1E293B"/>
                </a:solidFill>
                <a:latin typeface="Consolas" pitchFamily="34" charset="0"/>
                <a:ea typeface="Consolas" pitchFamily="34" charset="-122"/>
                <a:cs typeface="Consolas" pitchFamily="34" charset="-120"/>
              </a:rPr>
              <a:t>Dataset\</a:t>
            </a:r>
            <a:endParaRPr lang="en-US" sz="1200" dirty="0"/>
          </a:p>
          <a:p>
            <a:pPr indent="0" marL="0">
              <a:buNone/>
            </a:pPr>
            <a:r>
              <a:rPr lang="en-US" sz="1200" dirty="0">
                <a:solidFill>
                  <a:srgbClr val="1E293B"/>
                </a:solidFill>
                <a:latin typeface="Consolas" pitchFamily="34" charset="0"/>
                <a:ea typeface="Consolas" pitchFamily="34" charset="-122"/>
                <a:cs typeface="Consolas" pitchFamily="34" charset="-120"/>
              </a:rPr>
              <a:t>├── Report.xlsx</a:t>
            </a:r>
            <a:endParaRPr lang="en-US" sz="1200" dirty="0"/>
          </a:p>
          <a:p>
            <a:pPr indent="0" marL="0">
              <a:buNone/>
            </a:pPr>
            <a:r>
              <a:rPr lang="en-US" sz="1200" dirty="0">
                <a:solidFill>
                  <a:srgbClr val="1E293B"/>
                </a:solidFill>
                <a:latin typeface="Consolas" pitchFamily="34" charset="0"/>
                <a:ea typeface="Consolas" pitchFamily="34" charset="-122"/>
                <a:cs typeface="Consolas" pitchFamily="34" charset="-120"/>
              </a:rPr>
              <a:t>├── ĐK1_1_Lens_Sheet1_A-1_Top_Xước_NG_Raw_1.jpg</a:t>
            </a:r>
            <a:endParaRPr lang="en-US" sz="1200" dirty="0"/>
          </a:p>
          <a:p>
            <a:pPr indent="0" marL="0">
              <a:buNone/>
            </a:pPr>
            <a:r>
              <a:rPr lang="en-US" sz="1200" dirty="0">
                <a:solidFill>
                  <a:srgbClr val="1E293B"/>
                </a:solidFill>
                <a:latin typeface="Consolas" pitchFamily="34" charset="0"/>
                <a:ea typeface="Consolas" pitchFamily="34" charset="-122"/>
                <a:cs typeface="Consolas" pitchFamily="34" charset="-120"/>
              </a:rPr>
              <a:t>├── ĐK1_1_Lens_Sheet1_A-1_Top_Xước_NG_Mask_1.jpg</a:t>
            </a:r>
            <a:endParaRPr lang="en-US" sz="1200" dirty="0"/>
          </a:p>
          <a:p>
            <a:pPr indent="0" marL="0">
              <a:buNone/>
            </a:pPr>
            <a:r>
              <a:rPr lang="en-US" sz="1200" dirty="0">
                <a:solidFill>
                  <a:srgbClr val="1E293B"/>
                </a:solidFill>
                <a:latin typeface="Consolas" pitchFamily="34" charset="0"/>
                <a:ea typeface="Consolas" pitchFamily="34" charset="-122"/>
                <a:cs typeface="Consolas" pitchFamily="34" charset="-120"/>
              </a:rPr>
              <a:t>└── ĐK2_1_Lens_Sheet1_A-1_Top_Xước_NG_Raw_1.jpg</a:t>
            </a:r>
            <a:endParaRPr lang="en-US" sz="1200" dirty="0"/>
          </a:p>
          <a:p>
            <a:pPr indent="0" marL="0">
              <a:buNone/>
            </a:pPr>
            <a:r>
              <a:rPr lang="en-US" sz="1200" dirty="0">
                <a:solidFill>
                  <a:srgbClr val="1E293B"/>
                </a:solidFill>
                <a:latin typeface="Consolas" pitchFamily="34" charset="0"/>
                <a:ea typeface="Consolas" pitchFamily="34" charset="-122"/>
                <a:cs typeface="Consolas" pitchFamily="34" charset="-120"/>
              </a:rPr>
              <a:t>    …</a:t>
            </a:r>
            <a:endParaRPr lang="en-US" sz="12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174943"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1  </a:t>
            </a:r>
            <a:pPr algn="ctr" indent="0" marL="0">
              <a:buNone/>
            </a:pPr>
            <a:r>
              <a:rPr lang="en-US" sz="1000" dirty="0">
                <a:solidFill>
                  <a:srgbClr val="64748B"/>
                </a:solidFill>
                <a:latin typeface="Segoe UI" pitchFamily="34" charset="0"/>
                <a:ea typeface="Segoe UI" pitchFamily="34" charset="-122"/>
                <a:cs typeface="Segoe UI" pitchFamily="34" charset="-120"/>
              </a:rPr>
              <a:t>Chuẩn bị dữ liệu</a:t>
            </a:r>
            <a:endParaRPr lang="en-US" sz="1000" dirty="0"/>
          </a:p>
        </p:txBody>
      </p:sp>
      <p:sp>
        <p:nvSpPr>
          <p:cNvPr id="3" name="Text 1"/>
          <p:cNvSpPr/>
          <p:nvPr/>
        </p:nvSpPr>
        <p:spPr>
          <a:xfrm>
            <a:off x="7555687"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2  </a:t>
            </a:r>
            <a:pPr algn="ctr" indent="0" marL="0">
              <a:buNone/>
            </a:pPr>
            <a:r>
              <a:rPr lang="en-US" sz="1000" dirty="0">
                <a:solidFill>
                  <a:srgbClr val="64748B"/>
                </a:solidFill>
                <a:latin typeface="Segoe UI" pitchFamily="34" charset="0"/>
                <a:ea typeface="Segoe UI" pitchFamily="34" charset="-122"/>
                <a:cs typeface="Segoe UI" pitchFamily="34" charset="-120"/>
              </a:rPr>
              <a:t>Nhập Schema</a:t>
            </a:r>
            <a:endParaRPr lang="en-US" sz="1000" dirty="0"/>
          </a:p>
        </p:txBody>
      </p:sp>
      <p:sp>
        <p:nvSpPr>
          <p:cNvPr id="4" name="Text 2"/>
          <p:cNvSpPr/>
          <p:nvPr/>
        </p:nvSpPr>
        <p:spPr>
          <a:xfrm>
            <a:off x="8936431" y="274320"/>
            <a:ext cx="1325880" cy="292608"/>
          </a:xfrm>
          <a:prstGeom prst="roundRect">
            <a:avLst>
              <a:gd name="adj" fmla="val 25000"/>
            </a:avLst>
          </a:prstGeom>
          <a:solidFill>
            <a:srgbClr val="F1F5F9"/>
          </a:solidFill>
          <a:ln w="9525">
            <a:solidFill>
              <a:srgbClr val="E2E8F0"/>
            </a:solidFill>
          </a:ln>
        </p:spPr>
        <p:txBody>
          <a:bodyPr wrap="square" lIns="0" tIns="0" rIns="0" bIns="0"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3  </a:t>
            </a:r>
            <a:pPr algn="ctr" indent="0" marL="0">
              <a:buNone/>
            </a:pPr>
            <a:r>
              <a:rPr lang="en-US" sz="1000" dirty="0">
                <a:solidFill>
                  <a:srgbClr val="64748B"/>
                </a:solidFill>
                <a:latin typeface="Segoe UI" pitchFamily="34" charset="0"/>
                <a:ea typeface="Segoe UI" pitchFamily="34" charset="-122"/>
                <a:cs typeface="Segoe UI" pitchFamily="34" charset="-120"/>
              </a:rPr>
              <a:t>Xuất dữ liệu</a:t>
            </a:r>
            <a:endParaRPr lang="en-US" sz="1000" dirty="0"/>
          </a:p>
        </p:txBody>
      </p:sp>
      <p:sp>
        <p:nvSpPr>
          <p:cNvPr id="5" name="Text 3"/>
          <p:cNvSpPr/>
          <p:nvPr/>
        </p:nvSpPr>
        <p:spPr>
          <a:xfrm>
            <a:off x="10317175" y="274320"/>
            <a:ext cx="1325880" cy="292608"/>
          </a:xfrm>
          <a:prstGeom prst="roundRect">
            <a:avLst>
              <a:gd name="adj" fmla="val 25000"/>
            </a:avLst>
          </a:prstGeom>
          <a:solidFill>
            <a:srgbClr val="16A34A"/>
          </a:solidFill>
          <a:ln w="9525">
            <a:solidFill>
              <a:srgbClr val="16A34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4  </a:t>
            </a:r>
            <a:pPr algn="ctr" indent="0" marL="0">
              <a:buNone/>
            </a:pPr>
            <a:r>
              <a:rPr lang="en-US" sz="1000" dirty="0">
                <a:solidFill>
                  <a:srgbClr val="FFFFFF"/>
                </a:solidFill>
                <a:latin typeface="Segoe UI" pitchFamily="34" charset="0"/>
                <a:ea typeface="Segoe UI" pitchFamily="34" charset="-122"/>
                <a:cs typeface="Segoe UI" pitchFamily="34" charset="-120"/>
              </a:rPr>
              <a:t>Nhập Q One Edu</a:t>
            </a:r>
            <a:endParaRPr lang="en-US" sz="1000" dirty="0"/>
          </a:p>
        </p:txBody>
      </p:sp>
      <p:sp>
        <p:nvSpPr>
          <p:cNvPr id="6" name="Shape 4"/>
          <p:cNvSpPr/>
          <p:nvPr/>
        </p:nvSpPr>
        <p:spPr>
          <a:xfrm>
            <a:off x="548640" y="384048"/>
            <a:ext cx="411480" cy="54864"/>
          </a:xfrm>
          <a:prstGeom prst="rect">
            <a:avLst/>
          </a:prstGeom>
          <a:solidFill>
            <a:srgbClr val="16A34A"/>
          </a:solidFill>
          <a:ln w="12700">
            <a:solidFill>
              <a:srgbClr val="16A34A"/>
            </a:solidFill>
            <a:prstDash val="solid"/>
          </a:ln>
        </p:spPr>
      </p:sp>
      <p:sp>
        <p:nvSpPr>
          <p:cNvPr id="7" name="Text 5"/>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PHẦN III · VISION IMAGE TOOL</a:t>
            </a:r>
            <a:endParaRPr lang="en-US" sz="1100" dirty="0"/>
          </a:p>
        </p:txBody>
      </p:sp>
      <p:sp>
        <p:nvSpPr>
          <p:cNvPr id="8" name="Text 6"/>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Bước 4 · Nhập Excel / JSON vào Nội dung 9 &amp; 10 trên Q One Edu</a:t>
            </a:r>
            <a:endParaRPr lang="en-US" sz="2600" dirty="0"/>
          </a:p>
        </p:txBody>
      </p:sp>
      <p:sp>
        <p:nvSpPr>
          <p:cNvPr id="9" name="Shape 7"/>
          <p:cNvSpPr/>
          <p:nvPr/>
        </p:nvSpPr>
        <p:spPr>
          <a:xfrm>
            <a:off x="521208" y="1344168"/>
            <a:ext cx="4078224" cy="4275410"/>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0" name="Image 0" descr="Hình minh họa 43">    </p:cNvPr>
          <p:cNvPicPr>
            <a:picLocks noChangeAspect="1"/>
          </p:cNvPicPr>
          <p:nvPr/>
        </p:nvPicPr>
        <p:blipFill>
          <a:blip r:embed="rId1"/>
          <a:stretch>
            <a:fillRect/>
          </a:stretch>
        </p:blipFill>
        <p:spPr>
          <a:xfrm>
            <a:off x="548640" y="1371600"/>
            <a:ext cx="4023360" cy="4220546"/>
          </a:xfrm>
          <a:prstGeom prst="rect">
            <a:avLst/>
          </a:prstGeom>
        </p:spPr>
      </p:pic>
      <p:sp>
        <p:nvSpPr>
          <p:cNvPr id="11" name="Text 8"/>
          <p:cNvSpPr/>
          <p:nvPr/>
        </p:nvSpPr>
        <p:spPr>
          <a:xfrm>
            <a:off x="548640" y="5665298"/>
            <a:ext cx="402336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Xuất từ Vision Image Tool → nhập vào hồ sơ</a:t>
            </a:r>
            <a:endParaRPr lang="en-US" sz="1100" dirty="0"/>
          </a:p>
        </p:txBody>
      </p:sp>
      <p:sp>
        <p:nvSpPr>
          <p:cNvPr id="12" name="Text 9"/>
          <p:cNvSpPr/>
          <p:nvPr/>
        </p:nvSpPr>
        <p:spPr>
          <a:xfrm>
            <a:off x="4892040" y="1371600"/>
            <a:ext cx="6751015" cy="548640"/>
          </a:xfrm>
          <a:prstGeom prst="rect">
            <a:avLst/>
          </a:prstGeom>
          <a:noFill/>
          <a:ln/>
        </p:spPr>
        <p:txBody>
          <a:bodyPr wrap="square" lIns="0" tIns="0" rIns="0" bIns="0" rtlCol="0" anchor="t"/>
          <a:lstStyle/>
          <a:p>
            <a:pPr indent="0" marL="0">
              <a:buNone/>
            </a:pPr>
            <a:r>
              <a:rPr lang="en-US" sz="1500" dirty="0">
                <a:solidFill>
                  <a:srgbClr val="1E293B"/>
                </a:solidFill>
                <a:latin typeface="Segoe UI" pitchFamily="34" charset="0"/>
                <a:ea typeface="Segoe UI" pitchFamily="34" charset="-122"/>
                <a:cs typeface="Segoe UI" pitchFamily="34" charset="-120"/>
              </a:rPr>
              <a:t>Dữ liệu sau khi nhập thành công thể hiện đầy đủ số lượng, các cột thông tin, đánh giá mẫu…</a:t>
            </a:r>
            <a:endParaRPr lang="en-US" sz="1500" dirty="0"/>
          </a:p>
        </p:txBody>
      </p:sp>
      <p:sp>
        <p:nvSpPr>
          <p:cNvPr id="13" name="Shape 10"/>
          <p:cNvSpPr/>
          <p:nvPr/>
        </p:nvSpPr>
        <p:spPr>
          <a:xfrm>
            <a:off x="4864608" y="1984248"/>
            <a:ext cx="3316072" cy="1914541"/>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4" name="Image 1" descr="Hình minh họa 44">    </p:cNvPr>
          <p:cNvPicPr>
            <a:picLocks noChangeAspect="1"/>
          </p:cNvPicPr>
          <p:nvPr/>
        </p:nvPicPr>
        <p:blipFill>
          <a:blip r:embed="rId2"/>
          <a:stretch>
            <a:fillRect/>
          </a:stretch>
        </p:blipFill>
        <p:spPr>
          <a:xfrm>
            <a:off x="4892040" y="2011680"/>
            <a:ext cx="3261208" cy="1859677"/>
          </a:xfrm>
          <a:prstGeom prst="rect">
            <a:avLst/>
          </a:prstGeom>
        </p:spPr>
      </p:pic>
      <p:sp>
        <p:nvSpPr>
          <p:cNvPr id="15" name="Text 11"/>
          <p:cNvSpPr/>
          <p:nvPr/>
        </p:nvSpPr>
        <p:spPr>
          <a:xfrm>
            <a:off x="4892040" y="3944509"/>
            <a:ext cx="3261208"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9. File image</a:t>
            </a:r>
            <a:endParaRPr lang="en-US" sz="1100" dirty="0"/>
          </a:p>
        </p:txBody>
      </p:sp>
      <p:sp>
        <p:nvSpPr>
          <p:cNvPr id="16" name="Shape 12"/>
          <p:cNvSpPr/>
          <p:nvPr/>
        </p:nvSpPr>
        <p:spPr>
          <a:xfrm>
            <a:off x="8354416" y="1984248"/>
            <a:ext cx="3316072" cy="1851956"/>
          </a:xfrm>
          <a:prstGeom prst="rect">
            <a:avLst/>
          </a:prstGeom>
          <a:solidFill>
            <a:srgbClr val="FFFFFF"/>
          </a:solidFill>
          <a:ln w="9525">
            <a:solidFill>
              <a:srgbClr val="CBD5E1"/>
            </a:solidFill>
            <a:prstDash val="solid"/>
          </a:ln>
          <a:effectLst>
            <a:outerShdw sx="100000" sy="100000" kx="0" ky="0" algn="bl" rotWithShape="0" blurRad="101600" dist="25400" dir="5400000">
              <a:srgbClr val="000000">
                <a:alpha val="12000"/>
              </a:srgbClr>
            </a:outerShdw>
          </a:effectLst>
        </p:spPr>
      </p:sp>
      <p:pic>
        <p:nvPicPr>
          <p:cNvPr id="17" name="Image 2" descr="Hình minh họa 45">    </p:cNvPr>
          <p:cNvPicPr>
            <a:picLocks noChangeAspect="1"/>
          </p:cNvPicPr>
          <p:nvPr/>
        </p:nvPicPr>
        <p:blipFill>
          <a:blip r:embed="rId3"/>
          <a:stretch>
            <a:fillRect/>
          </a:stretch>
        </p:blipFill>
        <p:spPr>
          <a:xfrm>
            <a:off x="8381848" y="2011680"/>
            <a:ext cx="3261208" cy="1797092"/>
          </a:xfrm>
          <a:prstGeom prst="rect">
            <a:avLst/>
          </a:prstGeom>
        </p:spPr>
      </p:pic>
      <p:sp>
        <p:nvSpPr>
          <p:cNvPr id="18" name="Text 13"/>
          <p:cNvSpPr/>
          <p:nvPr/>
        </p:nvSpPr>
        <p:spPr>
          <a:xfrm>
            <a:off x="8381848" y="3881924"/>
            <a:ext cx="3261208"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10. Đánh giá ngoại quan</a:t>
            </a:r>
            <a:endParaRPr lang="en-US" sz="11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384048"/>
            <a:ext cx="411480" cy="54864"/>
          </a:xfrm>
          <a:prstGeom prst="rect">
            <a:avLst/>
          </a:prstGeom>
          <a:solidFill>
            <a:srgbClr val="16A34A"/>
          </a:solidFill>
          <a:ln w="12700">
            <a:solidFill>
              <a:srgbClr val="16A34A"/>
            </a:solidFill>
            <a:prstDash val="solid"/>
          </a:ln>
        </p:spPr>
      </p:sp>
      <p:sp>
        <p:nvSpPr>
          <p:cNvPr id="3" name="Text 1"/>
          <p:cNvSpPr/>
          <p:nvPr/>
        </p:nvSpPr>
        <p:spPr>
          <a:xfrm>
            <a:off x="1051560" y="274320"/>
            <a:ext cx="640080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Segoe UI" pitchFamily="34" charset="0"/>
                <a:ea typeface="Segoe UI" pitchFamily="34" charset="-122"/>
                <a:cs typeface="Segoe UI" pitchFamily="34" charset="-120"/>
              </a:rPr>
              <a:t>TỔNG KẾT</a:t>
            </a:r>
            <a:endParaRPr lang="en-US" sz="1100" dirty="0"/>
          </a:p>
        </p:txBody>
      </p:sp>
      <p:sp>
        <p:nvSpPr>
          <p:cNvPr id="4" name="Text 2"/>
          <p:cNvSpPr/>
          <p:nvPr/>
        </p:nvSpPr>
        <p:spPr>
          <a:xfrm>
            <a:off x="548640" y="566928"/>
            <a:ext cx="11094415" cy="548640"/>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Segoe UI" pitchFamily="34" charset="0"/>
                <a:ea typeface="Segoe UI" pitchFamily="34" charset="-122"/>
                <a:cs typeface="Segoe UI" pitchFamily="34" charset="-120"/>
              </a:rPr>
              <a:t>Những điểm cần nhớ</a:t>
            </a:r>
            <a:endParaRPr lang="en-US" sz="2600" dirty="0"/>
          </a:p>
        </p:txBody>
      </p:sp>
      <p:sp>
        <p:nvSpPr>
          <p:cNvPr id="5" name="Shape 3"/>
          <p:cNvSpPr/>
          <p:nvPr/>
        </p:nvSpPr>
        <p:spPr>
          <a:xfrm>
            <a:off x="548640" y="1508760"/>
            <a:ext cx="5364328" cy="2011680"/>
          </a:xfrm>
          <a:prstGeom prst="roundRect">
            <a:avLst>
              <a:gd name="adj" fmla="val 3636"/>
            </a:avLst>
          </a:prstGeom>
          <a:solidFill>
            <a:srgbClr val="FFFFFF"/>
          </a:solidFill>
          <a:ln w="9525">
            <a:solidFill>
              <a:srgbClr val="E2E8F0"/>
            </a:solidFill>
            <a:prstDash val="solid"/>
          </a:ln>
        </p:spPr>
      </p:sp>
      <p:sp>
        <p:nvSpPr>
          <p:cNvPr id="6" name="Text 4"/>
          <p:cNvSpPr/>
          <p:nvPr/>
        </p:nvSpPr>
        <p:spPr>
          <a:xfrm>
            <a:off x="822960" y="1737360"/>
            <a:ext cx="914400" cy="640080"/>
          </a:xfrm>
          <a:prstGeom prst="rect">
            <a:avLst/>
          </a:prstGeom>
          <a:noFill/>
          <a:ln/>
        </p:spPr>
        <p:txBody>
          <a:bodyPr wrap="square" lIns="0" tIns="0" rIns="0" bIns="0" rtlCol="0" anchor="ctr"/>
          <a:lstStyle/>
          <a:p>
            <a:pPr indent="0" marL="0">
              <a:buNone/>
            </a:pPr>
            <a:r>
              <a:rPr lang="en-US" sz="3200" b="1" dirty="0">
                <a:solidFill>
                  <a:srgbClr val="16A34A"/>
                </a:solidFill>
                <a:latin typeface="Segoe UI" pitchFamily="34" charset="0"/>
                <a:ea typeface="Segoe UI" pitchFamily="34" charset="-122"/>
                <a:cs typeface="Segoe UI" pitchFamily="34" charset="-120"/>
              </a:rPr>
              <a:t>01</a:t>
            </a:r>
            <a:endParaRPr lang="en-US" sz="3200" dirty="0"/>
          </a:p>
        </p:txBody>
      </p:sp>
      <p:sp>
        <p:nvSpPr>
          <p:cNvPr id="7" name="Text 5"/>
          <p:cNvSpPr/>
          <p:nvPr/>
        </p:nvSpPr>
        <p:spPr>
          <a:xfrm>
            <a:off x="1783080" y="1783080"/>
            <a:ext cx="3901288" cy="548640"/>
          </a:xfrm>
          <a:prstGeom prst="rect">
            <a:avLst/>
          </a:prstGeom>
          <a:noFill/>
          <a:ln/>
        </p:spPr>
        <p:txBody>
          <a:bodyPr wrap="square" lIns="0" tIns="0" rIns="0" bIns="0"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Làm theo thứ tự</a:t>
            </a:r>
            <a:endParaRPr lang="en-US" sz="1900" dirty="0"/>
          </a:p>
        </p:txBody>
      </p:sp>
      <p:sp>
        <p:nvSpPr>
          <p:cNvPr id="8" name="Text 6"/>
          <p:cNvSpPr/>
          <p:nvPr/>
        </p:nvSpPr>
        <p:spPr>
          <a:xfrm>
            <a:off x="1783080" y="2377440"/>
            <a:ext cx="3901288" cy="1005840"/>
          </a:xfrm>
          <a:prstGeom prst="rect">
            <a:avLst/>
          </a:prstGeom>
          <a:noFill/>
          <a:ln/>
        </p:spPr>
        <p:txBody>
          <a:bodyPr wrap="square" lIns="0" tIns="0" rIns="0" bIns="0" rtlCol="0" anchor="t"/>
          <a:lstStyle/>
          <a:p>
            <a:pPr indent="0" marL="0">
              <a:buNone/>
            </a:pPr>
            <a:r>
              <a:rPr lang="en-US" sz="1500" dirty="0">
                <a:solidFill>
                  <a:srgbClr val="1E293B"/>
                </a:solidFill>
                <a:latin typeface="Segoe UI" pitchFamily="34" charset="0"/>
                <a:ea typeface="Segoe UI" pitchFamily="34" charset="-122"/>
                <a:cs typeface="Segoe UI" pitchFamily="34" charset="-120"/>
              </a:rPr>
              <a:t>Vision Advisor → hồ sơ dự án (11 nội dung) → Vision Image Tool; mục sau lấy dữ liệu từ mục trước.</a:t>
            </a:r>
            <a:endParaRPr lang="en-US" sz="1500" dirty="0"/>
          </a:p>
        </p:txBody>
      </p:sp>
      <p:sp>
        <p:nvSpPr>
          <p:cNvPr id="9" name="Shape 7"/>
          <p:cNvSpPr/>
          <p:nvPr/>
        </p:nvSpPr>
        <p:spPr>
          <a:xfrm>
            <a:off x="6278728" y="1508760"/>
            <a:ext cx="5364328" cy="2011680"/>
          </a:xfrm>
          <a:prstGeom prst="roundRect">
            <a:avLst>
              <a:gd name="adj" fmla="val 3636"/>
            </a:avLst>
          </a:prstGeom>
          <a:solidFill>
            <a:srgbClr val="FFFFFF"/>
          </a:solidFill>
          <a:ln w="9525">
            <a:solidFill>
              <a:srgbClr val="E2E8F0"/>
            </a:solidFill>
            <a:prstDash val="solid"/>
          </a:ln>
        </p:spPr>
      </p:sp>
      <p:sp>
        <p:nvSpPr>
          <p:cNvPr id="10" name="Text 8"/>
          <p:cNvSpPr/>
          <p:nvPr/>
        </p:nvSpPr>
        <p:spPr>
          <a:xfrm>
            <a:off x="6553048" y="1737360"/>
            <a:ext cx="914400" cy="640080"/>
          </a:xfrm>
          <a:prstGeom prst="rect">
            <a:avLst/>
          </a:prstGeom>
          <a:noFill/>
          <a:ln/>
        </p:spPr>
        <p:txBody>
          <a:bodyPr wrap="square" lIns="0" tIns="0" rIns="0" bIns="0" rtlCol="0" anchor="ctr"/>
          <a:lstStyle/>
          <a:p>
            <a:pPr indent="0" marL="0">
              <a:buNone/>
            </a:pPr>
            <a:r>
              <a:rPr lang="en-US" sz="3200" b="1" dirty="0">
                <a:solidFill>
                  <a:srgbClr val="16A34A"/>
                </a:solidFill>
                <a:latin typeface="Segoe UI" pitchFamily="34" charset="0"/>
                <a:ea typeface="Segoe UI" pitchFamily="34" charset="-122"/>
                <a:cs typeface="Segoe UI" pitchFamily="34" charset="-120"/>
              </a:rPr>
              <a:t>02</a:t>
            </a:r>
            <a:endParaRPr lang="en-US" sz="3200" dirty="0"/>
          </a:p>
        </p:txBody>
      </p:sp>
      <p:sp>
        <p:nvSpPr>
          <p:cNvPr id="11" name="Text 9"/>
          <p:cNvSpPr/>
          <p:nvPr/>
        </p:nvSpPr>
        <p:spPr>
          <a:xfrm>
            <a:off x="7513168" y="1783080"/>
            <a:ext cx="3901288" cy="548640"/>
          </a:xfrm>
          <a:prstGeom prst="rect">
            <a:avLst/>
          </a:prstGeom>
          <a:noFill/>
          <a:ln/>
        </p:spPr>
        <p:txBody>
          <a:bodyPr wrap="square" lIns="0" tIns="0" rIns="0" bIns="0"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Không bỏ trống, luôn rà soát</a:t>
            </a:r>
            <a:endParaRPr lang="en-US" sz="1900" dirty="0"/>
          </a:p>
        </p:txBody>
      </p:sp>
      <p:sp>
        <p:nvSpPr>
          <p:cNvPr id="12" name="Text 10"/>
          <p:cNvSpPr/>
          <p:nvPr/>
        </p:nvSpPr>
        <p:spPr>
          <a:xfrm>
            <a:off x="7513168" y="2377440"/>
            <a:ext cx="3901288" cy="1005840"/>
          </a:xfrm>
          <a:prstGeom prst="rect">
            <a:avLst/>
          </a:prstGeom>
          <a:noFill/>
          <a:ln/>
        </p:spPr>
        <p:txBody>
          <a:bodyPr wrap="square" lIns="0" tIns="0" rIns="0" bIns="0" rtlCol="0" anchor="t"/>
          <a:lstStyle/>
          <a:p>
            <a:pPr indent="0" marL="0">
              <a:buNone/>
            </a:pPr>
            <a:r>
              <a:rPr lang="en-US" sz="1500" dirty="0">
                <a:solidFill>
                  <a:srgbClr val="1E293B"/>
                </a:solidFill>
                <a:latin typeface="Segoe UI" pitchFamily="34" charset="0"/>
                <a:ea typeface="Segoe UI" pitchFamily="34" charset="-122"/>
                <a:cs typeface="Segoe UI" pitchFamily="34" charset="-120"/>
              </a:rPr>
              <a:t>Trường bắt buộc ở Nội dung 3, BOM sau khi dựng tự động, dữ liệu sau khi import.</a:t>
            </a:r>
            <a:endParaRPr lang="en-US" sz="1500" dirty="0"/>
          </a:p>
        </p:txBody>
      </p:sp>
      <p:sp>
        <p:nvSpPr>
          <p:cNvPr id="13" name="Shape 11"/>
          <p:cNvSpPr/>
          <p:nvPr/>
        </p:nvSpPr>
        <p:spPr>
          <a:xfrm>
            <a:off x="548640" y="3794760"/>
            <a:ext cx="5364328" cy="2011680"/>
          </a:xfrm>
          <a:prstGeom prst="roundRect">
            <a:avLst>
              <a:gd name="adj" fmla="val 3636"/>
            </a:avLst>
          </a:prstGeom>
          <a:solidFill>
            <a:srgbClr val="FFFFFF"/>
          </a:solidFill>
          <a:ln w="9525">
            <a:solidFill>
              <a:srgbClr val="E2E8F0"/>
            </a:solidFill>
            <a:prstDash val="solid"/>
          </a:ln>
        </p:spPr>
      </p:sp>
      <p:sp>
        <p:nvSpPr>
          <p:cNvPr id="14" name="Text 12"/>
          <p:cNvSpPr/>
          <p:nvPr/>
        </p:nvSpPr>
        <p:spPr>
          <a:xfrm>
            <a:off x="822960" y="4023360"/>
            <a:ext cx="914400" cy="640080"/>
          </a:xfrm>
          <a:prstGeom prst="rect">
            <a:avLst/>
          </a:prstGeom>
          <a:noFill/>
          <a:ln/>
        </p:spPr>
        <p:txBody>
          <a:bodyPr wrap="square" lIns="0" tIns="0" rIns="0" bIns="0" rtlCol="0" anchor="ctr"/>
          <a:lstStyle/>
          <a:p>
            <a:pPr indent="0" marL="0">
              <a:buNone/>
            </a:pPr>
            <a:r>
              <a:rPr lang="en-US" sz="3200" b="1" dirty="0">
                <a:solidFill>
                  <a:srgbClr val="16A34A"/>
                </a:solidFill>
                <a:latin typeface="Segoe UI" pitchFamily="34" charset="0"/>
                <a:ea typeface="Segoe UI" pitchFamily="34" charset="-122"/>
                <a:cs typeface="Segoe UI" pitchFamily="34" charset="-120"/>
              </a:rPr>
              <a:t>03</a:t>
            </a:r>
            <a:endParaRPr lang="en-US" sz="3200" dirty="0"/>
          </a:p>
        </p:txBody>
      </p:sp>
      <p:sp>
        <p:nvSpPr>
          <p:cNvPr id="15" name="Text 13"/>
          <p:cNvSpPr/>
          <p:nvPr/>
        </p:nvSpPr>
        <p:spPr>
          <a:xfrm>
            <a:off x="1783080" y="4069080"/>
            <a:ext cx="3901288" cy="548640"/>
          </a:xfrm>
          <a:prstGeom prst="rect">
            <a:avLst/>
          </a:prstGeom>
          <a:noFill/>
          <a:ln/>
        </p:spPr>
        <p:txBody>
          <a:bodyPr wrap="square" lIns="0" tIns="0" rIns="0" bIns="0"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Đặt tên đúng quy tắc</a:t>
            </a:r>
            <a:endParaRPr lang="en-US" sz="1900" dirty="0"/>
          </a:p>
        </p:txBody>
      </p:sp>
      <p:sp>
        <p:nvSpPr>
          <p:cNvPr id="16" name="Text 14"/>
          <p:cNvSpPr/>
          <p:nvPr/>
        </p:nvSpPr>
        <p:spPr>
          <a:xfrm>
            <a:off x="1783080" y="4663440"/>
            <a:ext cx="3901288" cy="1005840"/>
          </a:xfrm>
          <a:prstGeom prst="rect">
            <a:avLst/>
          </a:prstGeom>
          <a:noFill/>
          <a:ln/>
        </p:spPr>
        <p:txBody>
          <a:bodyPr wrap="square" lIns="0" tIns="0" rIns="0" bIns="0" rtlCol="0" anchor="t"/>
          <a:lstStyle/>
          <a:p>
            <a:pPr indent="0" marL="0">
              <a:buNone/>
            </a:pPr>
            <a:r>
              <a:rPr lang="en-US" sz="1500" dirty="0">
                <a:solidFill>
                  <a:srgbClr val="1E293B"/>
                </a:solidFill>
                <a:latin typeface="Segoe UI" pitchFamily="34" charset="0"/>
                <a:ea typeface="Segoe UI" pitchFamily="34" charset="-122"/>
                <a:cs typeface="Segoe UI" pitchFamily="34" charset="-120"/>
              </a:rPr>
              <a:t>Thứ tự trường thống nhất, Raw/Mask cùng tên, đúng từ khoá; Lỗi schema = 0 trước khi xuất.</a:t>
            </a:r>
            <a:endParaRPr lang="en-US" sz="1500" dirty="0"/>
          </a:p>
        </p:txBody>
      </p:sp>
      <p:sp>
        <p:nvSpPr>
          <p:cNvPr id="17" name="Shape 15"/>
          <p:cNvSpPr/>
          <p:nvPr/>
        </p:nvSpPr>
        <p:spPr>
          <a:xfrm>
            <a:off x="6278728" y="3794760"/>
            <a:ext cx="5364328" cy="2011680"/>
          </a:xfrm>
          <a:prstGeom prst="roundRect">
            <a:avLst>
              <a:gd name="adj" fmla="val 3636"/>
            </a:avLst>
          </a:prstGeom>
          <a:solidFill>
            <a:srgbClr val="FFFFFF"/>
          </a:solidFill>
          <a:ln w="9525">
            <a:solidFill>
              <a:srgbClr val="E2E8F0"/>
            </a:solidFill>
            <a:prstDash val="solid"/>
          </a:ln>
        </p:spPr>
      </p:sp>
      <p:sp>
        <p:nvSpPr>
          <p:cNvPr id="18" name="Text 16"/>
          <p:cNvSpPr/>
          <p:nvPr/>
        </p:nvSpPr>
        <p:spPr>
          <a:xfrm>
            <a:off x="6553048" y="4023360"/>
            <a:ext cx="914400" cy="640080"/>
          </a:xfrm>
          <a:prstGeom prst="rect">
            <a:avLst/>
          </a:prstGeom>
          <a:noFill/>
          <a:ln/>
        </p:spPr>
        <p:txBody>
          <a:bodyPr wrap="square" lIns="0" tIns="0" rIns="0" bIns="0" rtlCol="0" anchor="ctr"/>
          <a:lstStyle/>
          <a:p>
            <a:pPr indent="0" marL="0">
              <a:buNone/>
            </a:pPr>
            <a:r>
              <a:rPr lang="en-US" sz="3200" b="1" dirty="0">
                <a:solidFill>
                  <a:srgbClr val="16A34A"/>
                </a:solidFill>
                <a:latin typeface="Segoe UI" pitchFamily="34" charset="0"/>
                <a:ea typeface="Segoe UI" pitchFamily="34" charset="-122"/>
                <a:cs typeface="Segoe UI" pitchFamily="34" charset="-120"/>
              </a:rPr>
              <a:t>04</a:t>
            </a:r>
            <a:endParaRPr lang="en-US" sz="3200" dirty="0"/>
          </a:p>
        </p:txBody>
      </p:sp>
      <p:sp>
        <p:nvSpPr>
          <p:cNvPr id="19" name="Text 17"/>
          <p:cNvSpPr/>
          <p:nvPr/>
        </p:nvSpPr>
        <p:spPr>
          <a:xfrm>
            <a:off x="7513168" y="4069080"/>
            <a:ext cx="3901288" cy="548640"/>
          </a:xfrm>
          <a:prstGeom prst="rect">
            <a:avLst/>
          </a:prstGeom>
          <a:noFill/>
          <a:ln/>
        </p:spPr>
        <p:txBody>
          <a:bodyPr wrap="square" lIns="0" tIns="0" rIns="0" bIns="0"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Báo cáo cùng cấp thư mục ảnh</a:t>
            </a:r>
            <a:endParaRPr lang="en-US" sz="1900" dirty="0"/>
          </a:p>
        </p:txBody>
      </p:sp>
      <p:sp>
        <p:nvSpPr>
          <p:cNvPr id="20" name="Text 18"/>
          <p:cNvSpPr/>
          <p:nvPr/>
        </p:nvSpPr>
        <p:spPr>
          <a:xfrm>
            <a:off x="7513168" y="4663440"/>
            <a:ext cx="3901288" cy="1005840"/>
          </a:xfrm>
          <a:prstGeom prst="rect">
            <a:avLst/>
          </a:prstGeom>
          <a:noFill/>
          <a:ln/>
        </p:spPr>
        <p:txBody>
          <a:bodyPr wrap="square" lIns="0" tIns="0" rIns="0" bIns="0" rtlCol="0" anchor="t"/>
          <a:lstStyle/>
          <a:p>
            <a:pPr indent="0" marL="0">
              <a:buNone/>
            </a:pPr>
            <a:r>
              <a:rPr lang="en-US" sz="1500" dirty="0">
                <a:solidFill>
                  <a:srgbClr val="1E293B"/>
                </a:solidFill>
                <a:latin typeface="Segoe UI" pitchFamily="34" charset="0"/>
                <a:ea typeface="Segoe UI" pitchFamily="34" charset="-122"/>
                <a:cs typeface="Segoe UI" pitchFamily="34" charset="-120"/>
              </a:rPr>
              <a:t>Không đổi tên, di chuyển ảnh hay đổi schema sau khi xuất để link ảnh luôn mở được.</a:t>
            </a:r>
            <a:endParaRPr lang="en-US" sz="1500" dirty="0"/>
          </a:p>
        </p:txBody>
      </p:sp>
      <p:sp>
        <p:nvSpPr>
          <p:cNvPr id="25" name="Slide Number Placeholder 0"/>
          <p:cNvSpPr>
            <a:spLocks noGrp="1"/>
          </p:cNvSpPr>
          <p:nvPr>
            <p:ph type="sldNum" sz="quarter" idx="4294967295"/>
          </p:nvPr>
        </p:nvSpPr>
        <p:spPr>
          <a:xfrm>
            <a:off x="11094415" y="652881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6A34A"/>
          </a:solidFill>
          <a:ln w="12700">
            <a:solidFill>
              <a:srgbClr val="16A34A"/>
            </a:solidFill>
            <a:prstDash val="solid"/>
          </a:ln>
        </p:spPr>
      </p:sp>
      <p:sp>
        <p:nvSpPr>
          <p:cNvPr id="3" name="Shape 1"/>
          <p:cNvSpPr/>
          <p:nvPr/>
        </p:nvSpPr>
        <p:spPr>
          <a:xfrm>
            <a:off x="8046720" y="2011680"/>
            <a:ext cx="6400800" cy="6400800"/>
          </a:xfrm>
          <a:prstGeom prst="ellipse">
            <a:avLst/>
          </a:prstGeom>
          <a:solidFill>
            <a:srgbClr val="16A34A">
              <a:alpha val="12000"/>
            </a:srgbClr>
          </a:solidFill>
          <a:ln w="12700">
            <a:solidFill>
              <a:srgbClr val="16A34A">
                <a:alpha val="30000"/>
              </a:srgbClr>
            </a:solidFill>
            <a:prstDash val="solid"/>
          </a:ln>
        </p:spPr>
      </p:sp>
      <p:sp>
        <p:nvSpPr>
          <p:cNvPr id="4" name="Text 2"/>
          <p:cNvSpPr/>
          <p:nvPr/>
        </p:nvSpPr>
        <p:spPr>
          <a:xfrm>
            <a:off x="731520" y="1828800"/>
            <a:ext cx="8229600" cy="1188720"/>
          </a:xfrm>
          <a:prstGeom prst="rect">
            <a:avLst/>
          </a:prstGeom>
          <a:noFill/>
          <a:ln/>
        </p:spPr>
        <p:txBody>
          <a:bodyPr wrap="square" lIns="0" tIns="0" rIns="0" bIns="0" rtlCol="0" anchor="ctr"/>
          <a:lstStyle/>
          <a:p>
            <a:pPr indent="0" marL="0">
              <a:buNone/>
            </a:pPr>
            <a:r>
              <a:rPr lang="en-US" sz="6000" b="1" dirty="0">
                <a:solidFill>
                  <a:srgbClr val="FFFFFF"/>
                </a:solidFill>
                <a:latin typeface="Segoe UI" pitchFamily="34" charset="0"/>
                <a:ea typeface="Segoe UI" pitchFamily="34" charset="-122"/>
                <a:cs typeface="Segoe UI" pitchFamily="34" charset="-120"/>
              </a:rPr>
              <a:t>Cảm ơn!</a:t>
            </a:r>
            <a:endParaRPr lang="en-US" sz="6000" dirty="0"/>
          </a:p>
        </p:txBody>
      </p:sp>
      <p:sp>
        <p:nvSpPr>
          <p:cNvPr id="5" name="Text 3"/>
          <p:cNvSpPr/>
          <p:nvPr/>
        </p:nvSpPr>
        <p:spPr>
          <a:xfrm>
            <a:off x="731520" y="3017520"/>
            <a:ext cx="8229600" cy="640080"/>
          </a:xfrm>
          <a:prstGeom prst="rect">
            <a:avLst/>
          </a:prstGeom>
          <a:noFill/>
          <a:ln/>
        </p:spPr>
        <p:txBody>
          <a:bodyPr wrap="square" lIns="0" tIns="0" rIns="0" bIns="0" rtlCol="0" anchor="ctr"/>
          <a:lstStyle/>
          <a:p>
            <a:pPr indent="0" marL="0">
              <a:buNone/>
            </a:pPr>
            <a:r>
              <a:rPr lang="en-US" sz="2800" dirty="0">
                <a:solidFill>
                  <a:srgbClr val="86EFAC"/>
                </a:solidFill>
                <a:latin typeface="Segoe UI" pitchFamily="34" charset="0"/>
                <a:ea typeface="Segoe UI" pitchFamily="34" charset="-122"/>
                <a:cs typeface="Segoe UI" pitchFamily="34" charset="-120"/>
              </a:rPr>
              <a:t>Hỏi &amp; đáp</a:t>
            </a:r>
            <a:endParaRPr lang="en-US" sz="2800" dirty="0"/>
          </a:p>
        </p:txBody>
      </p:sp>
      <p:sp>
        <p:nvSpPr>
          <p:cNvPr id="6" name="Text 4"/>
          <p:cNvSpPr/>
          <p:nvPr/>
        </p:nvSpPr>
        <p:spPr>
          <a:xfrm>
            <a:off x="731520" y="4206240"/>
            <a:ext cx="7315200" cy="411480"/>
          </a:xfrm>
          <a:prstGeom prst="rect">
            <a:avLst/>
          </a:prstGeom>
          <a:noFill/>
          <a:ln/>
        </p:spPr>
        <p:txBody>
          <a:bodyPr wrap="square" lIns="0" tIns="0" rIns="0" bIns="0" rtlCol="0" anchor="ctr"/>
          <a:lstStyle/>
          <a:p>
            <a:pPr indent="0" marL="0">
              <a:buNone/>
            </a:pPr>
            <a:r>
              <a:rPr lang="en-US" sz="1600" dirty="0">
                <a:solidFill>
                  <a:srgbClr val="94A3B8"/>
                </a:solidFill>
                <a:latin typeface="Segoe UI" pitchFamily="34" charset="0"/>
                <a:ea typeface="Segoe UI" pitchFamily="34" charset="-122"/>
                <a:cs typeface="Segoe UI" pitchFamily="34" charset="-120"/>
              </a:rPr>
              <a:t>Q One Edu  </a:t>
            </a:r>
            <a:pPr indent="0" marL="0">
              <a:buNone/>
            </a:pPr>
            <a:r>
              <a:rPr lang="en-US" sz="1600" b="1" u="sng" dirty="0">
                <a:solidFill>
                  <a:srgbClr val="FFFFFF"/>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https://edu.nmi.vn/</a:t>
            </a:r>
            <a:endParaRPr lang="en-US" sz="1600" dirty="0"/>
          </a:p>
        </p:txBody>
      </p:sp>
      <p:sp>
        <p:nvSpPr>
          <p:cNvPr id="7" name="Text 5"/>
          <p:cNvSpPr/>
          <p:nvPr/>
        </p:nvSpPr>
        <p:spPr>
          <a:xfrm>
            <a:off x="731520" y="5943600"/>
            <a:ext cx="822960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N-HD-NMIAVITEST-01  ·  Phiên bản 1.0  ·  Hồ Thành Vinh, Nguyễn Tuấn Anh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NMI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Hướng dẫn lập báo cáo test dự án AVI bằng phần mềm</dc:title>
  <dc:subject>PptxGenJS Presentation</dc:subject>
  <dc:creator>Hồ Thành Vinh, Nguyễn Tuấn Anh</dc:creator>
  <cp:lastModifiedBy>Hồ Thành Vinh, Nguyễn Tuấn Anh</cp:lastModifiedBy>
  <cp:revision>1</cp:revision>
  <dcterms:created xsi:type="dcterms:W3CDTF">2026-10-10T03:05:05Z</dcterms:created>
  <dcterms:modified xsi:type="dcterms:W3CDTF">2026-10-10T03:05:05Z</dcterms:modified>
</cp:coreProperties>
</file>