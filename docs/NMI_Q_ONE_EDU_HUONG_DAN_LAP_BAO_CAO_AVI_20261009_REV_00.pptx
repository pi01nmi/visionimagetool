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7"/>
  </p:notesMasterIdLst>
  <p:handoutMasterIdLst>
    <p:handoutMasterId r:id="rId38"/>
  </p:handoutMasterIdLst>
  <p:sldIdLst>
    <p:sldId id="301" r:id="rId2"/>
    <p:sldId id="302"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 id="332" r:id="rId33"/>
    <p:sldId id="334" r:id="rId34"/>
    <p:sldId id="335" r:id="rId35"/>
    <p:sldId id="33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ung le" initials="Tl" lastIdx="1" clrIdx="0">
    <p:extLst>
      <p:ext uri="{19B8F6BF-5375-455C-9EA6-DF929625EA0E}">
        <p15:presenceInfo xmlns:p15="http://schemas.microsoft.com/office/powerpoint/2012/main" userId="1fe03833c69ac9c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DE5F"/>
    <a:srgbClr val="0000FF"/>
    <a:srgbClr val="011893"/>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38" autoAdjust="0"/>
    <p:restoredTop sz="94660"/>
  </p:normalViewPr>
  <p:slideViewPr>
    <p:cSldViewPr snapToGrid="0">
      <p:cViewPr varScale="1">
        <p:scale>
          <a:sx n="107" d="100"/>
          <a:sy n="107" d="100"/>
        </p:scale>
        <p:origin x="288" y="7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3" d="100"/>
          <a:sy n="63" d="100"/>
        </p:scale>
        <p:origin x="2280"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F9FB78-34D0-4673-A30D-D54EED961D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524A3E-4189-4DCD-97B0-15D3995C14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A2AB10-822E-4956-84EE-2F345E72ADA0}" type="datetimeFigureOut">
              <a:rPr lang="en-US" smtClean="0"/>
              <a:t>10/10/2026</a:t>
            </a:fld>
            <a:endParaRPr lang="en-US"/>
          </a:p>
        </p:txBody>
      </p:sp>
      <p:sp>
        <p:nvSpPr>
          <p:cNvPr id="4" name="Footer Placeholder 3">
            <a:extLst>
              <a:ext uri="{FF2B5EF4-FFF2-40B4-BE49-F238E27FC236}">
                <a16:creationId xmlns:a16="http://schemas.microsoft.com/office/drawing/2014/main" id="{1B682959-30D5-4188-9330-CF73B757B9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323BAC9-3EB0-48E7-B94E-0565D2D620B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3CCA4B-98B2-441E-8739-6938FA4756D8}" type="slidenum">
              <a:rPr lang="en-US" smtClean="0"/>
              <a:t>‹#›</a:t>
            </a:fld>
            <a:endParaRPr lang="en-US"/>
          </a:p>
        </p:txBody>
      </p:sp>
    </p:spTree>
    <p:extLst>
      <p:ext uri="{BB962C8B-B14F-4D97-AF65-F5344CB8AC3E}">
        <p14:creationId xmlns:p14="http://schemas.microsoft.com/office/powerpoint/2010/main" val="1486877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4E9D3-1D2B-A04F-90FF-5C3C91B22A8E}" type="datetimeFigureOut">
              <a:rPr lang="en-VN" smtClean="0"/>
              <a:t>10/10/2026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31B34-6AA4-3647-9255-C8796074E224}" type="slidenum">
              <a:rPr lang="en-VN" smtClean="0"/>
              <a:t>‹#›</a:t>
            </a:fld>
            <a:endParaRPr lang="en-VN"/>
          </a:p>
        </p:txBody>
      </p:sp>
    </p:spTree>
    <p:extLst>
      <p:ext uri="{BB962C8B-B14F-4D97-AF65-F5344CB8AC3E}">
        <p14:creationId xmlns:p14="http://schemas.microsoft.com/office/powerpoint/2010/main" val="1350981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Giới thiệu tài liệu N-HD-NMIAVITEST-01, phiên bản 1.0, ban hành ngày 09/10/2026, do anh Hồ Thành Vinh và Nguyễn Tuấn Anh soạn.</a:t>
            </a:r>
          </a:p>
          <a:p>
            <a:endParaRPr lang="vi-VN"/>
          </a:p>
          <a:p>
            <a:r>
              <a:rPr lang="vi-VN"/>
              <a:t>Đây là quy trình thao tác từng bước để lập báo cáo test dự án AVI: từ chọn camera, lens, khởi tạo hồ sơ dự án trên Q One Edu cho tới chuẩn bị dữ liệu ảnh bằng Vision Image Tool và đưa kết quả trở lại hồ sơ.</a:t>
            </a:r>
          </a:p>
          <a:p>
            <a:endParaRPr lang="vi-VN"/>
          </a:p>
          <a:p>
            <a:r>
              <a:rPr lang="vi-VN"/>
              <a:t>Chuyển tiếp: Trước hết, chúng ta xem mục đích và cách truy cập hệ thống.</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a:t>
            </a:fld>
            <a:endParaRPr lang="en-VN"/>
          </a:p>
        </p:txBody>
      </p:sp>
    </p:spTree>
    <p:extLst>
      <p:ext uri="{BB962C8B-B14F-4D97-AF65-F5344CB8AC3E}">
        <p14:creationId xmlns:p14="http://schemas.microsoft.com/office/powerpoint/2010/main" val="4022200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Mục đích của tài liệu: hướng dẫn người dùng thao tác trên phần mềm để tạo hồ sơ dự án và hoàn thiện các nội dung báo cáo test AVI.</a:t>
            </a:r>
          </a:p>
          <a:p>
            <a:endParaRPr lang="vi-VN"/>
          </a:p>
          <a:p>
            <a:r>
              <a:rPr lang="vi-VN"/>
              <a:t>Địa chỉ đăng nhập: https://edu.nmi.vn/.</a:t>
            </a:r>
          </a:p>
          <a:p>
            <a:endParaRPr lang="vi-VN"/>
          </a:p>
          <a:p>
            <a:r>
              <a:rPr lang="vi-VN"/>
              <a:t>Nhấn mạnh: các nội dung phải thực hiện lần lượt theo đúng thứ tự, vì nhiều mục phía sau lấy dữ liệu từ mục phía trước.</a:t>
            </a:r>
          </a:p>
          <a:p>
            <a:endParaRPr lang="vi-VN"/>
          </a:p>
          <a:p>
            <a:r>
              <a:rPr lang="vi-VN"/>
              <a:t>Chuyển tiếp: Toàn bộ quy trình gồm 3 phần lớn.</a:t>
            </a:r>
          </a:p>
          <a:p>
            <a:endParaRPr lang="vi-VN"/>
          </a:p>
          <a:p>
            <a:r>
              <a:rPr lang="vi-VN"/>
              <a:t>Bài hướng dẫn đi theo 3 phần:</a:t>
            </a:r>
          </a:p>
          <a:p>
            <a:r>
              <a:rPr lang="vi-VN"/>
              <a:t>- Phần I: dùng Vision Advisor để chọn camera và lens.</a:t>
            </a:r>
          </a:p>
          <a:p>
            <a:r>
              <a:rPr lang="vi-VN"/>
              <a:t>- Phần II: khởi tạo hồ sơ dự án trên Q One Edu, hoàn thiện 11 nội dung, kiểm tra và xuất báo cáo giải pháp.</a:t>
            </a:r>
          </a:p>
          <a:p>
            <a:r>
              <a:rPr lang="vi-VN"/>
              <a:t>- Phần III: dùng phần mềm Vision Image Tool để chuẩn bị, tổng hợp dữ liệu ảnh test, xuất Excel/JSON và nhập ngược lên Q One Edu ở nội dung 9 và 10.</a:t>
            </a:r>
          </a:p>
          <a:p>
            <a:endParaRPr lang="vi-VN"/>
          </a:p>
          <a:p>
            <a:r>
              <a:rPr lang="vi-VN"/>
              <a:t>Chuyển tiếp: Bắt đầu với Phần I – chọn camera và lens.</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a:t>
            </a:fld>
            <a:endParaRPr lang="en-VN"/>
          </a:p>
        </p:txBody>
      </p:sp>
    </p:spTree>
    <p:extLst>
      <p:ext uri="{BB962C8B-B14F-4D97-AF65-F5344CB8AC3E}">
        <p14:creationId xmlns:p14="http://schemas.microsoft.com/office/powerpoint/2010/main" val="3200508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I gồm 2 bước:</a:t>
            </a:r>
          </a:p>
          <a:p>
            <a:r>
              <a:rPr lang="vi-VN"/>
              <a:t>1. Chọn Vision Advisor trên Q One Edu.</a:t>
            </a:r>
          </a:p>
          <a:p>
            <a:r>
              <a:rPr lang="vi-VN"/>
              <a:t>2. Điền các thông tin cần thiết để phần mềm tính toán camera và lens phù hợp.</a:t>
            </a:r>
          </a:p>
          <a:p>
            <a:endParaRPr lang="vi-VN"/>
          </a:p>
          <a:p>
            <a:r>
              <a:rPr lang="vi-VN"/>
              <a:t>Chuyển tiếp: Sang Phần II – khởi tạo dự án.</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a:t>
            </a:fld>
            <a:endParaRPr lang="en-VN"/>
          </a:p>
        </p:txBody>
      </p:sp>
    </p:spTree>
    <p:extLst>
      <p:ext uri="{BB962C8B-B14F-4D97-AF65-F5344CB8AC3E}">
        <p14:creationId xmlns:p14="http://schemas.microsoft.com/office/powerpoint/2010/main" val="249268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Tại màn hình Hồ sơ thiết kế điều kiện test, tạo dự án mới rồi điền thông tin dự án.</a:t>
            </a:r>
          </a:p>
          <a:p>
            <a:endParaRPr lang="vi-VN"/>
          </a:p>
          <a:p>
            <a:r>
              <a:rPr lang="vi-VN"/>
              <a:t>Biểu mẫu gồm các trường như Mã dự án, Tên dự án, Khách hàng, Model sản phẩm và Leader hướng dẫn.</a:t>
            </a:r>
          </a:p>
          <a:p>
            <a:endParaRPr lang="vi-VN"/>
          </a:p>
          <a:p>
            <a:r>
              <a:rPr lang="vi-VN"/>
              <a:t>Lưu ý: nhập đủ các trường hiển thị trên biểu mẫu.</a:t>
            </a:r>
          </a:p>
          <a:p>
            <a:endParaRPr lang="vi-VN"/>
          </a:p>
          <a:p>
            <a:r>
              <a:rPr lang="vi-VN"/>
              <a:t>Chuyển tiếp: Sau khi tạo, mở dự án để thấy 11 nội dung cần hoàn thiện.</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4</a:t>
            </a:fld>
            <a:endParaRPr lang="en-VN"/>
          </a:p>
        </p:txBody>
      </p:sp>
    </p:spTree>
    <p:extLst>
      <p:ext uri="{BB962C8B-B14F-4D97-AF65-F5344CB8AC3E}">
        <p14:creationId xmlns:p14="http://schemas.microsoft.com/office/powerpoint/2010/main" val="1084375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Mở dự án đã tạo, hồ sơ có 11 nội dung.</a:t>
            </a:r>
          </a:p>
          <a:p>
            <a:r>
              <a:rPr lang="vi-VN"/>
              <a:t>- Nội dung 1 (Tài liệu khách hàng cung cấp) và Nội dung 2 (Báo cáo khảo sát): liên hệ bộ phận sale cung cấp thông tin.</a:t>
            </a:r>
          </a:p>
          <a:p>
            <a:r>
              <a:rPr lang="vi-VN"/>
              <a:t>- Nội dung 4 (Mô phỏng bố trí) được phần mềm hiển thị sau khi hoàn thành Nội dung 3.</a:t>
            </a:r>
          </a:p>
          <a:p>
            <a:r>
              <a:rPr lang="vi-VN"/>
              <a:t>- Nội dung 11 (Kết quả đánh giá tự động) do phần mềm tự tổng hợp.</a:t>
            </a:r>
          </a:p>
          <a:p>
            <a:r>
              <a:rPr lang="vi-VN"/>
              <a:t>- Các nội dung còn lại người dùng nhập và kiểm tra.</a:t>
            </a:r>
          </a:p>
          <a:p>
            <a:endParaRPr lang="vi-VN"/>
          </a:p>
          <a:p>
            <a:r>
              <a:rPr lang="vi-VN"/>
              <a:t>Chuyển tiếp: Đi vào Nội dung 3 – chọn điều kiện test.</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5</a:t>
            </a:fld>
            <a:endParaRPr lang="en-VN"/>
          </a:p>
        </p:txBody>
      </p:sp>
    </p:spTree>
    <p:extLst>
      <p:ext uri="{BB962C8B-B14F-4D97-AF65-F5344CB8AC3E}">
        <p14:creationId xmlns:p14="http://schemas.microsoft.com/office/powerpoint/2010/main" val="3674139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3: điền đầy đủ các thông tin điều kiện test đã chọn – camera, lens, ánh sáng… cho từng điều kiện.</a:t>
            </a:r>
          </a:p>
          <a:p>
            <a:endParaRPr lang="vi-VN"/>
          </a:p>
          <a:p>
            <a:r>
              <a:rPr lang="vi-VN"/>
              <a:t>Cảnh báo: không bỏ trống trường bắt buộc, kiểm tra lại trước khi lưu. Nếu thiết bị cần dùng chưa có trong hệ thống, báo leader để tạo thêm.</a:t>
            </a:r>
          </a:p>
          <a:p>
            <a:endParaRPr lang="vi-VN"/>
          </a:p>
          <a:p>
            <a:r>
              <a:rPr lang="vi-VN"/>
              <a:t>Chuyển tiếp: Hoàn thành Nội dung 3, phần mềm sẽ tự hiển thị mô phỏng bố trí.</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6</a:t>
            </a:fld>
            <a:endParaRPr lang="en-VN"/>
          </a:p>
        </p:txBody>
      </p:sp>
    </p:spTree>
    <p:extLst>
      <p:ext uri="{BB962C8B-B14F-4D97-AF65-F5344CB8AC3E}">
        <p14:creationId xmlns:p14="http://schemas.microsoft.com/office/powerpoint/2010/main" val="3205687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4 không cần nhập: sau khi hoàn thành Nội dung 3, phần mềm hiển thị mô phỏng bố trí camera, lens và vùng chụp tương ứng.</a:t>
            </a:r>
          </a:p>
          <a:p>
            <a:endParaRPr lang="vi-VN"/>
          </a:p>
          <a:p>
            <a:r>
              <a:rPr lang="vi-VN"/>
              <a:t>Người trình bày có thể chỉ trên hình các thông số khoảng cách làm việc, góc và FOV hiển thị trong mô phỏng.</a:t>
            </a:r>
          </a:p>
          <a:p>
            <a:endParaRPr lang="vi-VN"/>
          </a:p>
          <a:p>
            <a:r>
              <a:rPr lang="vi-VN"/>
              <a:t>Chuyển tiếp: Tiếp theo là Nội dung 5 – vị trí kiểm tra.</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7</a:t>
            </a:fld>
            <a:endParaRPr lang="en-VN"/>
          </a:p>
        </p:txBody>
      </p:sp>
    </p:spTree>
    <p:extLst>
      <p:ext uri="{BB962C8B-B14F-4D97-AF65-F5344CB8AC3E}">
        <p14:creationId xmlns:p14="http://schemas.microsoft.com/office/powerpoint/2010/main" val="3416829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5: điền đủ các trường thông tin của từng vị trí kiểm tra.</a:t>
            </a:r>
          </a:p>
          <a:p>
            <a:endParaRPr lang="vi-VN"/>
          </a:p>
          <a:p>
            <a:r>
              <a:rPr lang="vi-VN"/>
              <a:t>Hình bên phải là kết quả sau khi điền thông tin.</a:t>
            </a:r>
          </a:p>
          <a:p>
            <a:endParaRPr lang="vi-VN"/>
          </a:p>
          <a:p>
            <a:r>
              <a:rPr lang="vi-VN"/>
              <a:t>Chuyển tiếp: Sang Nội dung 6 – BOM list.</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8</a:t>
            </a:fld>
            <a:endParaRPr lang="en-VN"/>
          </a:p>
        </p:txBody>
      </p:sp>
    </p:spTree>
    <p:extLst>
      <p:ext uri="{BB962C8B-B14F-4D97-AF65-F5344CB8AC3E}">
        <p14:creationId xmlns:p14="http://schemas.microsoft.com/office/powerpoint/2010/main" val="2991327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6 – Bom list có 2 cách:</a:t>
            </a:r>
          </a:p>
          <a:p>
            <a:r>
              <a:rPr lang="vi-VN"/>
              <a:t>(1) Thêm dòng BOM và nhập thông tin thủ công.</a:t>
            </a:r>
          </a:p>
          <a:p>
            <a:r>
              <a:rPr lang="vi-VN"/>
              <a:t>(2) Chọn chức năng dựng từ Bước 3 – phần mềm lấy thiết bị từ điều kiện test đã khai báo.</a:t>
            </a:r>
          </a:p>
          <a:p>
            <a:endParaRPr lang="vi-VN"/>
          </a:p>
          <a:p>
            <a:r>
              <a:rPr lang="vi-VN"/>
              <a:t>Sau đó kiểm tra danh sách BOM, bổ sung thông tin còn thiếu và cập nhật kết quả.</a:t>
            </a:r>
          </a:p>
          <a:p>
            <a:endParaRPr lang="vi-VN"/>
          </a:p>
          <a:p>
            <a:r>
              <a:rPr lang="vi-VN"/>
              <a:t>Nhấn mạnh cảnh báo: không nên bỏ qua bước rà soát BOM sau khi dựng tự động.</a:t>
            </a:r>
          </a:p>
          <a:p>
            <a:endParaRPr lang="vi-VN"/>
          </a:p>
          <a:p>
            <a:r>
              <a:rPr lang="vi-VN"/>
              <a:t>Chuyển tiếp: Từ BOM, ta dựng sơ đồ kết nối hệ thống.</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9</a:t>
            </a:fld>
            <a:endParaRPr lang="en-VN"/>
          </a:p>
        </p:txBody>
      </p:sp>
    </p:spTree>
    <p:extLst>
      <p:ext uri="{BB962C8B-B14F-4D97-AF65-F5344CB8AC3E}">
        <p14:creationId xmlns:p14="http://schemas.microsoft.com/office/powerpoint/2010/main" val="3784150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7 – Sơ đồ kết nối hệ thống:</a:t>
            </a:r>
          </a:p>
          <a:p>
            <a:r>
              <a:rPr lang="vi-VN"/>
              <a:t>1. Nhập thông tin điều kiện, sau đó chọn chức năng dựng từ BOM.</a:t>
            </a:r>
          </a:p>
          <a:p>
            <a:r>
              <a:rPr lang="vi-VN"/>
              <a:t>2. Kéo thả các thành phần trên sơ đồ và chỉnh sửa thông tin theo cấu hình thực tế.</a:t>
            </a:r>
          </a:p>
          <a:p>
            <a:endParaRPr lang="vi-VN"/>
          </a:p>
          <a:p>
            <a:r>
              <a:rPr lang="vi-VN"/>
              <a:t>Chuyển tiếp: Tiếp theo là Cycle time.</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10</a:t>
            </a:fld>
            <a:endParaRPr lang="en-VN"/>
          </a:p>
        </p:txBody>
      </p:sp>
    </p:spTree>
    <p:extLst>
      <p:ext uri="{BB962C8B-B14F-4D97-AF65-F5344CB8AC3E}">
        <p14:creationId xmlns:p14="http://schemas.microsoft.com/office/powerpoint/2010/main" val="1357360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8 – Cycle time: thêm từng tác vụ, nhập nội dung cùng thời gian bắt đầu và kết thúc, sau đó kiểm tra kết quả trên biểu đồ.</a:t>
            </a:r>
          </a:p>
          <a:p>
            <a:endParaRPr lang="vi-VN"/>
          </a:p>
          <a:p>
            <a:r>
              <a:rPr lang="vi-VN"/>
              <a:t>Lưu ý kiểm tra định dạng và thứ tự thời gian bắt đầu/kết thúc của từng tác vụ.</a:t>
            </a:r>
          </a:p>
          <a:p>
            <a:endParaRPr lang="vi-VN"/>
          </a:p>
          <a:p>
            <a:r>
              <a:rPr lang="vi-VN"/>
              <a:t>Chuyển tiếp: Nội dung 9 là nơi đưa thông tin và ảnh đánh giá vào hồ sơ.</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11</a:t>
            </a:fld>
            <a:endParaRPr lang="en-VN"/>
          </a:p>
        </p:txBody>
      </p:sp>
    </p:spTree>
    <p:extLst>
      <p:ext uri="{BB962C8B-B14F-4D97-AF65-F5344CB8AC3E}">
        <p14:creationId xmlns:p14="http://schemas.microsoft.com/office/powerpoint/2010/main" val="149852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9 – Thông tin/ảnh đánh giá có 2 phương án:</a:t>
            </a:r>
          </a:p>
          <a:p>
            <a:r>
              <a:rPr lang="vi-VN"/>
              <a:t>- Phương án 1: chọn “Thêm mẫu”, tạo thủ công các trường thông tin và import ảnh.</a:t>
            </a:r>
          </a:p>
          <a:p>
            <a:r>
              <a:rPr lang="vi-VN"/>
              <a:t>- Phương án 2: import file Excel từ phần mềm đánh giá; các trường thông tin sẽ được tự động đưa vào báo cáo.</a:t>
            </a:r>
          </a:p>
          <a:p>
            <a:endParaRPr lang="vi-VN"/>
          </a:p>
          <a:p>
            <a:r>
              <a:rPr lang="vi-VN"/>
              <a:t>File Excel/JSON này chính là đầu ra của Vision Image Tool ở Phần III.</a:t>
            </a:r>
          </a:p>
          <a:p>
            <a:endParaRPr lang="vi-VN"/>
          </a:p>
          <a:p>
            <a:r>
              <a:rPr lang="vi-VN"/>
              <a:t>Lưu ý: sau khi import, kiểm tra lại dữ liệu được tự động điền.</a:t>
            </a:r>
          </a:p>
          <a:p>
            <a:endParaRPr lang="vi-VN"/>
          </a:p>
          <a:p>
            <a:r>
              <a:rPr lang="vi-VN"/>
              <a:t>Chuyển tiếp: Dữ liệu Nội dung 9 được chuyển sang Nội dung 10 – Đánh giá.</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12</a:t>
            </a:fld>
            <a:endParaRPr lang="en-VN"/>
          </a:p>
        </p:txBody>
      </p:sp>
    </p:spTree>
    <p:extLst>
      <p:ext uri="{BB962C8B-B14F-4D97-AF65-F5344CB8AC3E}">
        <p14:creationId xmlns:p14="http://schemas.microsoft.com/office/powerpoint/2010/main" val="696110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10 – Đánh giá: sau khi hoàn thành Nội dung 9, dữ liệu tương ứng được chuyển sang đây.</a:t>
            </a:r>
          </a:p>
          <a:p>
            <a:r>
              <a:rPr lang="vi-VN"/>
              <a:t>- Phương án 1: chọn/nhập kết quả đánh giá thủ công.</a:t>
            </a:r>
          </a:p>
          <a:p>
            <a:r>
              <a:rPr lang="vi-VN"/>
              <a:t>- Phương án 2: khi import Excel tại Nội dung 9, kết quả đánh giá tự động chuyển sang Nội dung 10.</a:t>
            </a:r>
          </a:p>
          <a:p>
            <a:endParaRPr lang="vi-VN"/>
          </a:p>
          <a:p>
            <a:r>
              <a:rPr lang="vi-VN"/>
              <a:t>Chuyển tiếp: Cuối cùng, Nội dung 11 tự động tổng hợp kết quả.</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13</a:t>
            </a:fld>
            <a:endParaRPr lang="en-VN"/>
          </a:p>
        </p:txBody>
      </p:sp>
    </p:spTree>
    <p:extLst>
      <p:ext uri="{BB962C8B-B14F-4D97-AF65-F5344CB8AC3E}">
        <p14:creationId xmlns:p14="http://schemas.microsoft.com/office/powerpoint/2010/main" val="321868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Nội dung 11: phần mềm tự động tổng hợp và đưa ra kết quả đánh giá – bảng thống kê theo từng điều kiện và biểu đồ.</a:t>
            </a:r>
          </a:p>
          <a:p>
            <a:endParaRPr lang="vi-VN"/>
          </a:p>
          <a:p>
            <a:r>
              <a:rPr lang="vi-VN"/>
              <a:t>Người dùng không cần nhập ở mục này, chỉ rà soát kết quả.</a:t>
            </a:r>
          </a:p>
          <a:p>
            <a:endParaRPr lang="vi-VN"/>
          </a:p>
          <a:p>
            <a:r>
              <a:rPr lang="vi-VN"/>
              <a:t>Chuyển tiếp: Trước khi hoàn tất hồ sơ, cần đi qua danh sách kiểm tra.</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14</a:t>
            </a:fld>
            <a:endParaRPr lang="en-VN"/>
          </a:p>
        </p:txBody>
      </p:sp>
    </p:spTree>
    <p:extLst>
      <p:ext uri="{BB962C8B-B14F-4D97-AF65-F5344CB8AC3E}">
        <p14:creationId xmlns:p14="http://schemas.microsoft.com/office/powerpoint/2010/main" val="2138048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Danh sách kiểm tra trước khi hoàn tất:</a:t>
            </a:r>
          </a:p>
          <a:p>
            <a:r>
              <a:rPr lang="vi-VN"/>
              <a:t>1. Đã tạo và mở đúng hồ sơ dự án.</a:t>
            </a:r>
          </a:p>
          <a:p>
            <a:r>
              <a:rPr lang="vi-VN"/>
              <a:t>2. Đã hoàn thiện các nội dung từ 1 đến 11 theo yêu cầu.</a:t>
            </a:r>
          </a:p>
          <a:p>
            <a:r>
              <a:rPr lang="vi-VN"/>
              <a:t>3. Đã kiểm tra các trường thông tin còn thiếu, danh sách BOM và sơ đồ kết nối.</a:t>
            </a:r>
          </a:p>
          <a:p>
            <a:r>
              <a:rPr lang="vi-VN"/>
              <a:t>4. Đã rà soát cycle time, dữ liệu/ảnh đánh giá và kết quả đánh giá tự động.</a:t>
            </a:r>
          </a:p>
          <a:p>
            <a:endParaRPr lang="vi-VN"/>
          </a:p>
          <a:p>
            <a:r>
              <a:rPr lang="vi-VN"/>
              <a:t>Chuyển tiếp: Khi đủ 4 điều kiện, xuất báo cáo giải pháp.</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15</a:t>
            </a:fld>
            <a:endParaRPr lang="en-VN"/>
          </a:p>
        </p:txBody>
      </p:sp>
    </p:spTree>
    <p:extLst>
      <p:ext uri="{BB962C8B-B14F-4D97-AF65-F5344CB8AC3E}">
        <p14:creationId xmlns:p14="http://schemas.microsoft.com/office/powerpoint/2010/main" val="517567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cuối của Phần II: xuất báo cáo giải pháp bằng nút Xuất Excel.</a:t>
            </a:r>
          </a:p>
          <a:p>
            <a:endParaRPr lang="vi-VN"/>
          </a:p>
          <a:p>
            <a:r>
              <a:rPr lang="vi-VN"/>
              <a:t>Cảnh báo quan trọng: file báo cáo phải lưu cùng cấp thư mục với thư mục ảnh thì mới mở được ảnh. Ví dụ trong thư mục Dataset có Report.xlsx nằm cạnh các thư mục ĐK1, ĐK2.</a:t>
            </a:r>
          </a:p>
          <a:p>
            <a:endParaRPr lang="vi-VN"/>
          </a:p>
          <a:p>
            <a:r>
              <a:rPr lang="vi-VN"/>
              <a:t>Chuyển tiếp: Phần III giới thiệu phần mềm tạo ra dữ liệu ảnh đó – Vision Image Tool.</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16</a:t>
            </a:fld>
            <a:endParaRPr lang="en-VN"/>
          </a:p>
        </p:txBody>
      </p:sp>
    </p:spTree>
    <p:extLst>
      <p:ext uri="{BB962C8B-B14F-4D97-AF65-F5344CB8AC3E}">
        <p14:creationId xmlns:p14="http://schemas.microsoft.com/office/powerpoint/2010/main" val="1980299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Vision Image Tool là phần mềm thu thập và quản lý dữ liệu ảnh cho hệ thống UnitX, gồm 3 điểm chính:</a:t>
            </a:r>
          </a:p>
          <a:p>
            <a:r>
              <a:rPr lang="vi-VN"/>
              <a:t>- Capture &amp; Monitor: kết nối camera, chụp/push ảnh tương tác trực tiếp với phần cứng UnitX, tự động lưu cặp ảnh Raw/Mask và OK/NG theo quy tắc để quản lý.</a:t>
            </a:r>
          </a:p>
          <a:p>
            <a:r>
              <a:rPr lang="vi-VN"/>
              <a:t>- Dataset Manager: tự động gom ảnh theo Schema, ghép cặp Raw/Mask theo từng điều kiện test, phát hiện ảnh lỗi/thiếu, hỗ trợ lọc, gán nhãn O/</a:t>
            </a:r>
            <a:r>
              <a:rPr lang="el-GR"/>
              <a:t>Δ/</a:t>
            </a:r>
            <a:r>
              <a:rPr lang="vi-VN"/>
              <a:t>X và xuất báo cáo Excel/JSON.</a:t>
            </a:r>
          </a:p>
          <a:p>
            <a:r>
              <a:rPr lang="vi-VN"/>
              <a:t>- Đồng bộ với hệ sinh thái Q One Edu.</a:t>
            </a:r>
          </a:p>
          <a:p>
            <a:endParaRPr lang="vi-VN"/>
          </a:p>
          <a:p>
            <a:r>
              <a:rPr lang="vi-VN"/>
              <a:t>Sơ đồ: thư mục ảnh là đầu ra của Capture &amp; Monitor và là đầu vào của Dataset Manager.</a:t>
            </a:r>
          </a:p>
          <a:p>
            <a:endParaRPr lang="vi-VN"/>
          </a:p>
          <a:p>
            <a:r>
              <a:rPr lang="vi-VN"/>
              <a:t>Chuyển tiếp: Dữ liệu ảnh có thể đến từ nhiều luồng thu thập khác nhau.</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17</a:t>
            </a:fld>
            <a:endParaRPr lang="en-VN"/>
          </a:p>
        </p:txBody>
      </p:sp>
    </p:spTree>
    <p:extLst>
      <p:ext uri="{BB962C8B-B14F-4D97-AF65-F5344CB8AC3E}">
        <p14:creationId xmlns:p14="http://schemas.microsoft.com/office/powerpoint/2010/main" val="1879753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Quy trình trên Vision Image Tool gồm 4 bước:</a:t>
            </a:r>
          </a:p>
          <a:p>
            <a:r>
              <a:rPr lang="vi-VN"/>
              <a:t>1. Chuẩn bị dữ liệu: chạy lưu ảnh từ Capture &amp; Monitor hoặc dùng thư mục ảnh có sẵn.</a:t>
            </a:r>
          </a:p>
          <a:p>
            <a:r>
              <a:rPr lang="vi-VN"/>
              <a:t>2. Nhập Schema cấu trúc tập dữ liệu trong tab Dataset Manager.</a:t>
            </a:r>
          </a:p>
          <a:p>
            <a:r>
              <a:rPr lang="vi-VN"/>
              <a:t>3. Xuất dữ liệu ra Excel hoặc JSON.</a:t>
            </a:r>
          </a:p>
          <a:p>
            <a:r>
              <a:rPr lang="vi-VN"/>
              <a:t>4. Nhập dữ liệu lên Q One Edu tại mục 9 và 10 trong hồ sơ dự án.</a:t>
            </a:r>
          </a:p>
          <a:p>
            <a:endParaRPr lang="vi-VN"/>
          </a:p>
          <a:p>
            <a:r>
              <a:rPr lang="vi-VN"/>
              <a:t>Chuyển tiếp: Bước 1 bắt đầu bằng cấu trúc tiêu chuẩn của tên file.</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18</a:t>
            </a:fld>
            <a:endParaRPr lang="en-VN"/>
          </a:p>
        </p:txBody>
      </p:sp>
    </p:spTree>
    <p:extLst>
      <p:ext uri="{BB962C8B-B14F-4D97-AF65-F5344CB8AC3E}">
        <p14:creationId xmlns:p14="http://schemas.microsoft.com/office/powerpoint/2010/main" val="3235371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Có 3 workflow thu thập dữ liệu:</a:t>
            </a:r>
          </a:p>
          <a:p>
            <a:r>
              <a:rPr lang="vi-VN"/>
              <a:t>- Dùng OptiX: trigger → Production xử lý → Vision Image Tool xử lý dữ liệu trực tiếp (raw, mask) → Report.</a:t>
            </a:r>
          </a:p>
          <a:p>
            <a:r>
              <a:rPr lang="vi-VN"/>
              <a:t>- Dùng Vision Master: trigger → Vision Master xử lý → lưu ảnh bằng Image Output module → Vision Image Tool đọc và cấu trúc dữ liệu gián tiếp → Report.</a:t>
            </a:r>
          </a:p>
          <a:p>
            <a:r>
              <a:rPr lang="vi-VN"/>
              <a:t>- Dùng camera hãng thứ ba: trigger → lưu ảnh vào thư mục → Vision Image Tool đẩy ảnh sang Production → xử lý → Vision Image Tool xử lý dữ liệu → Report.</a:t>
            </a:r>
          </a:p>
          <a:p>
            <a:endParaRPr lang="vi-VN"/>
          </a:p>
          <a:p>
            <a:r>
              <a:rPr lang="vi-VN"/>
              <a:t>Các workflow có thể kết hợp: thu thập từ Vision Master, push sang UnitX xử lý, rồi tổng hợp kết quả của cả 2 phương án test.</a:t>
            </a:r>
          </a:p>
          <a:p>
            <a:endParaRPr lang="vi-VN"/>
          </a:p>
          <a:p>
            <a:r>
              <a:rPr lang="vi-VN"/>
              <a:t>Chi tiết cấu hình UnitX, Vision Master và camera yêu cầu kỹ sư nắm vững, tài liệu không trình bày.</a:t>
            </a:r>
          </a:p>
          <a:p>
            <a:endParaRPr lang="vi-VN"/>
          </a:p>
          <a:p>
            <a:r>
              <a:rPr lang="vi-VN"/>
              <a:t>Chuyển tiếp: Dù dùng luồng nào, việc trên Vision Image Tool đều theo 4 bước.</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19</a:t>
            </a:fld>
            <a:endParaRPr lang="en-VN"/>
          </a:p>
        </p:txBody>
      </p:sp>
    </p:spTree>
    <p:extLst>
      <p:ext uri="{BB962C8B-B14F-4D97-AF65-F5344CB8AC3E}">
        <p14:creationId xmlns:p14="http://schemas.microsoft.com/office/powerpoint/2010/main" val="1190129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1 – Chuẩn bị dữ liệu. Trước hết là bộ trường tiêu chuẩn dùng để đặt tên ảnh và khai báo Schema:</a:t>
            </a:r>
          </a:p>
          <a:p>
            <a:r>
              <a:rPr lang="vi-VN"/>
              <a:t>- &lt;ĐK&gt;: điều kiện chụp, mỗi ĐK là một nhóm cột trong báo cáo.</a:t>
            </a:r>
          </a:p>
          <a:p>
            <a:r>
              <a:rPr lang="vi-VN"/>
              <a:t>- &lt;No&gt;, &lt;Tên sản phẩm&gt;, &lt;Mã sheet-tray&gt;, &lt;Vị trí&gt;, &lt;Mặt&gt;, &lt;Nội dung NG&gt;: thông tin định danh mẫu.</a:t>
            </a:r>
          </a:p>
          <a:p>
            <a:r>
              <a:rPr lang="vi-VN"/>
              <a:t>- &lt;Đánh giá&gt;: kết quả Vision OK/NG/LIMIT.</a:t>
            </a:r>
          </a:p>
          <a:p>
            <a:r>
              <a:rPr lang="vi-VN"/>
              <a:t>- &lt;Raw/Mask&gt;: loại ảnh.</a:t>
            </a:r>
          </a:p>
          <a:p>
            <a:r>
              <a:rPr lang="vi-VN"/>
              <a:t>- &lt;Hậu tố&gt;: phân biệt lần chụp, giống nhau trong cùng mẫu.</a:t>
            </a:r>
          </a:p>
          <a:p>
            <a:r>
              <a:rPr lang="vi-VN"/>
              <a:t>- &lt;Lần chụp&gt;: ngày giờ hoặc số lần chụp, dùng để gộp nhiều lần chụp vào 1 hàng.</a:t>
            </a:r>
          </a:p>
          <a:p>
            <a:r>
              <a:rPr lang="vi-VN"/>
              <a:t>- &lt;Extension&gt;: đuôi ảnh, phần mềm tự nhận.</a:t>
            </a:r>
          </a:p>
          <a:p>
            <a:endParaRPr lang="vi-VN"/>
          </a:p>
          <a:p>
            <a:r>
              <a:rPr lang="vi-VN"/>
              <a:t>Chuyển tiếp: Các trường này có thể đặt trong tên file, trong thư mục, hoặc kết hợp – 3 kiểu cấu trúc.</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20</a:t>
            </a:fld>
            <a:endParaRPr lang="en-VN"/>
          </a:p>
        </p:txBody>
      </p:sp>
    </p:spTree>
    <p:extLst>
      <p:ext uri="{BB962C8B-B14F-4D97-AF65-F5344CB8AC3E}">
        <p14:creationId xmlns:p14="http://schemas.microsoft.com/office/powerpoint/2010/main" val="1203362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Ba kiểu cấu trúc dữ liệu:</a:t>
            </a:r>
          </a:p>
          <a:p>
            <a:r>
              <a:rPr lang="vi-VN"/>
              <a:t>A. Mọi thông tin nằm trong tên file, các trường nối bằng dấu gạch dưới.</a:t>
            </a:r>
          </a:p>
          <a:p>
            <a:r>
              <a:rPr lang="vi-VN"/>
              <a:t>B. Theo thư mục – mỗi cấp thư mục là một trường; tên thư mục chính là giá trị của trường; thứ tự các cấp giống nhau ở mọi nhánh. Raw và Mask cùng tên file nên tự ghép cặp. Lưu ý: không đặt &lt;Đánh giá&gt; làm cấp thư mục khi có nhiều ĐK – mẫu có ĐK1 NG / ĐK2 OK sẽ bị tách hàng.</a:t>
            </a:r>
          </a:p>
          <a:p>
            <a:r>
              <a:rPr lang="vi-VN"/>
              <a:t>C. Kết hợp 2 cấp thư mục ĐK và Sheet, phần còn lại nằm trong tên file.</a:t>
            </a:r>
          </a:p>
          <a:p>
            <a:endParaRPr lang="vi-VN"/>
          </a:p>
          <a:p>
            <a:r>
              <a:rPr lang="vi-VN"/>
              <a:t>Chuyển tiếp: Cách thứ nhất để có dữ liệu đúng cấu trúc là chụp trực tiếp bằng Capture &amp; Monitor.</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21</a:t>
            </a:fld>
            <a:endParaRPr lang="en-VN"/>
          </a:p>
        </p:txBody>
      </p:sp>
    </p:spTree>
    <p:extLst>
      <p:ext uri="{BB962C8B-B14F-4D97-AF65-F5344CB8AC3E}">
        <p14:creationId xmlns:p14="http://schemas.microsoft.com/office/powerpoint/2010/main" val="4774626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Cách 1 – chạy lưu ảnh từ Capture &amp; Monitor (UnitX). Trên tab Capture &amp; Monitor đặt trước 5 mục, tương ứng các số đỏ trên hình:</a:t>
            </a:r>
          </a:p>
          <a:p>
            <a:r>
              <a:rPr lang="vi-VN"/>
              <a:t>1. Thư mục lưu: nơi lưu ảnh.</a:t>
            </a:r>
          </a:p>
          <a:p>
            <a:r>
              <a:rPr lang="vi-VN"/>
              <a:t>2. Mẫu tên: thông tin của mẫu đang chụp, nối bằng dấu gạch dưới; cần đổi trước khi chụp mẫu mới. Ví dụ: ĐK1_1_Lens_Sheet1_A-1_Top_Xước.</a:t>
            </a:r>
          </a:p>
          <a:p>
            <a:r>
              <a:rPr lang="vi-VN"/>
              <a:t>3. Hậu tố: Timestamp hoặc Số thứ tự – tự thêm ngày giờ/lần chụp để ảnh không ghi đè nhau.</a:t>
            </a:r>
          </a:p>
          <a:p>
            <a:r>
              <a:rPr lang="vi-VN"/>
              <a:t>4. Tick Lưu Raw và Lưu Mask – phần mềm tự tạo thư mục con raw và mask.</a:t>
            </a:r>
          </a:p>
          <a:p>
            <a:r>
              <a:rPr lang="vi-VN"/>
              <a:t>5. Chụp ảnh.</a:t>
            </a:r>
          </a:p>
          <a:p>
            <a:endParaRPr lang="vi-VN"/>
          </a:p>
          <a:p>
            <a:r>
              <a:rPr lang="vi-VN"/>
              <a:t>Chuyển tiếp: Vậy khi trigger, phần mềm lưu ảnh như thế nào?</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22</a:t>
            </a:fld>
            <a:endParaRPr lang="en-VN"/>
          </a:p>
        </p:txBody>
      </p:sp>
    </p:spTree>
    <p:extLst>
      <p:ext uri="{BB962C8B-B14F-4D97-AF65-F5344CB8AC3E}">
        <p14:creationId xmlns:p14="http://schemas.microsoft.com/office/powerpoint/2010/main" val="2916605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Khi bấm trigger:</a:t>
            </a:r>
          </a:p>
          <a:p>
            <a:r>
              <a:rPr lang="vi-VN"/>
              <a:t>- Ảnh tự động lưu với tên theo cấu trúc đã nhập, và tự phân vào thư mục raw / mask.</a:t>
            </a:r>
          </a:p>
          <a:p>
            <a:r>
              <a:rPr lang="vi-VN"/>
              <a:t>- Mỗi lần trigger lưu 1 ảnh Raw và 1 ảnh Mask; hai ảnh có cùng ngày giờ nên phần mềm tự ghép cặp.</a:t>
            </a:r>
          </a:p>
          <a:p>
            <a:r>
              <a:rPr lang="vi-VN"/>
              <a:t>- Ngày giờ được đọc bằng &lt;Lần chụp&gt;: ĐK1, ĐK2 và các lần chụp lại của cùng mẫu gộp vào MỘT hàng, Vision lấy kết quả xấu nhất (NG × OK = NG). Nếu dùng &lt;Hậu tố&gt; thay cho &lt;Lần chụp&gt; thì mỗi lần chụp thành một hàng riêng.</a:t>
            </a:r>
          </a:p>
          <a:p>
            <a:endParaRPr lang="vi-VN"/>
          </a:p>
          <a:p>
            <a:r>
              <a:rPr lang="vi-VN"/>
              <a:t>Dữ liệu: mở thư mục lưu ở tab Dataset Manager với schema tương ứng, mỗi mẫu là một hàng; khi có nhiều điều kiện, block ĐK1 / ĐK2 nằm cạnh nhau. Ví dụ mẫu No 1 ở ĐK1 chụp 2 lần được gộp vào 1 hàng.</a:t>
            </a:r>
          </a:p>
          <a:p>
            <a:endParaRPr lang="vi-VN"/>
          </a:p>
          <a:p>
            <a:r>
              <a:rPr lang="vi-VN"/>
              <a:t>Chuyển tiếp: Cách thứ hai là dùng thư mục ảnh có sẵn.</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23</a:t>
            </a:fld>
            <a:endParaRPr lang="en-VN"/>
          </a:p>
        </p:txBody>
      </p:sp>
    </p:spTree>
    <p:extLst>
      <p:ext uri="{BB962C8B-B14F-4D97-AF65-F5344CB8AC3E}">
        <p14:creationId xmlns:p14="http://schemas.microsoft.com/office/powerpoint/2010/main" val="1042024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Cách 2 – dùng thư mục ảnh có sẵn. Tên file và thư mục phải theo một quy tắc thống nhất để phần mềm đọc được và ghép đúng Raw – Mask – ĐK.</a:t>
            </a:r>
          </a:p>
          <a:p>
            <a:endParaRPr lang="vi-VN"/>
          </a:p>
          <a:p>
            <a:r>
              <a:rPr lang="vi-VN"/>
              <a:t>Quy tắc đặt tên file:</a:t>
            </a:r>
          </a:p>
          <a:p>
            <a:r>
              <a:rPr lang="vi-VN"/>
              <a:t>- Các trường nối bằng dấu _, thứ tự trường giống nhau ở mọi file.</a:t>
            </a:r>
          </a:p>
          <a:p>
            <a:r>
              <a:rPr lang="vi-VN"/>
              <a:t>- Ảnh Raw và Mask của cùng mẫu: tên giống hệt, chỉ khác chữ Raw / Mask.</a:t>
            </a:r>
          </a:p>
          <a:p>
            <a:r>
              <a:rPr lang="vi-VN"/>
              <a:t>- Các ĐK của cùng mẫu giống nhau, chỉ khác &lt;ĐK&gt; và &lt;Đánh giá&gt;.</a:t>
            </a:r>
          </a:p>
          <a:p>
            <a:r>
              <a:rPr lang="vi-VN"/>
              <a:t>- Không dùng ký tự đặc biệt.</a:t>
            </a:r>
          </a:p>
          <a:p>
            <a:endParaRPr lang="vi-VN"/>
          </a:p>
          <a:p>
            <a:r>
              <a:rPr lang="vi-VN"/>
              <a:t>Quy tắc quản lý bằng thư mục:</a:t>
            </a:r>
          </a:p>
          <a:p>
            <a:r>
              <a:rPr lang="vi-VN"/>
              <a:t>- Mỗi cấp thư mục là một trường; thứ tự các cấp giống nhau ở mọi nhánh; ảnh chỉ nằm ở cấp cuối.</a:t>
            </a:r>
          </a:p>
          <a:p>
            <a:r>
              <a:rPr lang="vi-VN"/>
              <a:t>- Trường đã đưa lên thư mục thì bỏ khỏi tên file.</a:t>
            </a:r>
          </a:p>
          <a:p>
            <a:r>
              <a:rPr lang="vi-VN"/>
              <a:t>- Trong schema, giữa các cấp dùng dấu \.</a:t>
            </a:r>
          </a:p>
          <a:p>
            <a:endParaRPr lang="vi-VN"/>
          </a:p>
          <a:p>
            <a:r>
              <a:rPr lang="vi-VN"/>
              <a:t>Chuyển tiếp: Một số ví dụ nên và không nên.</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24</a:t>
            </a:fld>
            <a:endParaRPr lang="en-VN"/>
          </a:p>
        </p:txBody>
      </p:sp>
    </p:spTree>
    <p:extLst>
      <p:ext uri="{BB962C8B-B14F-4D97-AF65-F5344CB8AC3E}">
        <p14:creationId xmlns:p14="http://schemas.microsoft.com/office/powerpoint/2010/main" val="3133648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ví dụ nên và không nên:</a:t>
            </a:r>
          </a:p>
          <a:p>
            <a:r>
              <a:rPr lang="vi-VN"/>
              <a:t>- Viết Sheet1_A-1_Top, không viết Sheet1_A_1_Top vì thừa dấu gạch dưới làm lệch trường.</a:t>
            </a:r>
          </a:p>
          <a:p>
            <a:r>
              <a:rPr lang="vi-VN"/>
              <a:t>- Tên lỗi của một cặp Raw/Mask phải giống nhau: Xước ở cả hai, không để một ảnh là Xuoc.</a:t>
            </a:r>
          </a:p>
          <a:p>
            <a:r>
              <a:rPr lang="vi-VN"/>
              <a:t>- Dùng đúng từ khoá NG / OK, Raw / Mask; không dùng KhongDat, AnhGoc.</a:t>
            </a:r>
          </a:p>
          <a:p>
            <a:endParaRPr lang="vi-VN"/>
          </a:p>
          <a:p>
            <a:r>
              <a:rPr lang="vi-VN"/>
              <a:t>Ảnh sai quy tắc sẽ bị báo sai schema – sẽ thấy ở phần kiểm tra trước khi xuất.</a:t>
            </a:r>
          </a:p>
          <a:p>
            <a:endParaRPr lang="vi-VN"/>
          </a:p>
          <a:p>
            <a:r>
              <a:rPr lang="vi-VN"/>
              <a:t>Chuyển tiếp: Dữ liệu đã sẵn sàng, sang Bước 2 – nhập Schema.</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25</a:t>
            </a:fld>
            <a:endParaRPr lang="en-VN"/>
          </a:p>
        </p:txBody>
      </p:sp>
    </p:spTree>
    <p:extLst>
      <p:ext uri="{BB962C8B-B14F-4D97-AF65-F5344CB8AC3E}">
        <p14:creationId xmlns:p14="http://schemas.microsoft.com/office/powerpoint/2010/main" val="3093724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2 – nhập Schema cấu trúc tập dữ liệu, các số đỏ trên hình:</a:t>
            </a:r>
          </a:p>
          <a:p>
            <a:r>
              <a:rPr lang="vi-VN"/>
              <a:t>1. Mở tab Dataset Manager.</a:t>
            </a:r>
          </a:p>
          <a:p>
            <a:r>
              <a:rPr lang="vi-VN"/>
              <a:t>2. Thư mục ảnh: bấm Duyệt… chọn thư mục, rồi bấm Tải ảnh.</a:t>
            </a:r>
          </a:p>
          <a:p>
            <a:r>
              <a:rPr lang="vi-VN"/>
              <a:t>3. Nhập Schema, bấm Áp dụng Schema hoặc Enter.</a:t>
            </a:r>
          </a:p>
          <a:p>
            <a:r>
              <a:rPr lang="vi-VN"/>
              <a:t>4. Nút Xuất – dùng ở Bước 3.</a:t>
            </a:r>
          </a:p>
          <a:p>
            <a:endParaRPr lang="vi-VN"/>
          </a:p>
          <a:p>
            <a:r>
              <a:rPr lang="vi-VN"/>
              <a:t>Chuyển tiếp: Schema được viết theo quy tắc nào?</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26</a:t>
            </a:fld>
            <a:endParaRPr lang="en-VN"/>
          </a:p>
        </p:txBody>
      </p:sp>
    </p:spTree>
    <p:extLst>
      <p:ext uri="{BB962C8B-B14F-4D97-AF65-F5344CB8AC3E}">
        <p14:creationId xmlns:p14="http://schemas.microsoft.com/office/powerpoint/2010/main" val="133742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Quy tắc nhập Schema rất đơn giản:</a:t>
            </a:r>
          </a:p>
          <a:p>
            <a:r>
              <a:rPr lang="vi-VN"/>
              <a:t>- Mỗi trường đặt trong dấu &lt; &gt;.</a:t>
            </a:r>
          </a:p>
          <a:p>
            <a:r>
              <a:rPr lang="vi-VN"/>
              <a:t>- Phân loại theo cấp thư mục dùng dấu \.</a:t>
            </a:r>
          </a:p>
          <a:p>
            <a:r>
              <a:rPr lang="vi-VN"/>
              <a:t>- Phân loại theo tên file dùng dấu _.</a:t>
            </a:r>
          </a:p>
          <a:p>
            <a:endParaRPr lang="vi-VN"/>
          </a:p>
          <a:p>
            <a:r>
              <a:rPr lang="vi-VN"/>
              <a:t>Ví dụ kiểu C: hai cấp thư mục ĐK và Mã sheet-tray, phần còn lại trong tên file.</a:t>
            </a:r>
          </a:p>
          <a:p>
            <a:endParaRPr lang="vi-VN"/>
          </a:p>
          <a:p>
            <a:r>
              <a:rPr lang="vi-VN"/>
              <a:t>Trên hình: (1) ô nhập schema, nút đồng hồ mở lại các schema đã dùng; (2) nút Áp dụng Schema; (3) Thành phần schema thể hiện cấu trúc hiện thời và cho phép thêm nhanh thành phần.</a:t>
            </a:r>
          </a:p>
          <a:p>
            <a:endParaRPr lang="vi-VN"/>
          </a:p>
          <a:p>
            <a:r>
              <a:rPr lang="vi-VN"/>
              <a:t>Chuyển tiếp: Trước khi xuất, luôn kiểm tra dữ liệu.</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27</a:t>
            </a:fld>
            <a:endParaRPr lang="en-VN"/>
          </a:p>
        </p:txBody>
      </p:sp>
    </p:spTree>
    <p:extLst>
      <p:ext uri="{BB962C8B-B14F-4D97-AF65-F5344CB8AC3E}">
        <p14:creationId xmlns:p14="http://schemas.microsoft.com/office/powerpoint/2010/main" val="968983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Lưu ý kiểm tra dữ liệu trước khi xuất:</a:t>
            </a:r>
          </a:p>
          <a:p>
            <a:r>
              <a:rPr lang="vi-VN"/>
              <a:t>- Dữ liệu chuẩn: lỗi schema bằng 0, số ảnh Raw bằng số ảnh Mask, không có vấn đề dữ liệu.</a:t>
            </a:r>
          </a:p>
          <a:p>
            <a:r>
              <a:rPr lang="vi-VN"/>
              <a:t>- Có lỗi: thanh trạng thái báo đỏ, khung Vấn đề dữ liệu liệt kê từng file; double-click để tới ảnh đang bị sai.</a:t>
            </a:r>
          </a:p>
          <a:p>
            <a:endParaRPr lang="vi-VN"/>
          </a:p>
          <a:p>
            <a:r>
              <a:rPr lang="vi-VN"/>
              <a:t>Ví dụ trên hình: 2 ảnh sai tên (sai schema) và 1 ảnh thiếu Mask – cần sửa tên hoặc bổ sung ảnh rồi Tải ảnh lại.</a:t>
            </a:r>
          </a:p>
          <a:p>
            <a:endParaRPr lang="vi-VN"/>
          </a:p>
          <a:p>
            <a:r>
              <a:rPr lang="vi-VN"/>
              <a:t>Chuyển tiếp: Dữ liệu sạch, sang Bước 3 – xuất dữ liệu.</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28</a:t>
            </a:fld>
            <a:endParaRPr lang="en-VN"/>
          </a:p>
        </p:txBody>
      </p:sp>
    </p:spTree>
    <p:extLst>
      <p:ext uri="{BB962C8B-B14F-4D97-AF65-F5344CB8AC3E}">
        <p14:creationId xmlns:p14="http://schemas.microsoft.com/office/powerpoint/2010/main" val="2446490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3 – xuất dữ liệu: xác nhận schema và dữ liệu, bấm nút Xuất trên Bảng kết quả. Hộp thoại xác nhận schema mở ra:</a:t>
            </a:r>
          </a:p>
          <a:p>
            <a:r>
              <a:rPr lang="vi-VN"/>
              <a:t>1. Kéo thả thẻ để đổi thứ tự cột; nút Theo schema trả về thứ tự gốc.</a:t>
            </a:r>
          </a:p>
          <a:p>
            <a:r>
              <a:rPr lang="vi-VN"/>
              <a:t>2. Bấm ✕ để bỏ cột không cần, bấm lại để lấy lại; thẻ có khoá là trường bắt buộc.</a:t>
            </a:r>
          </a:p>
          <a:p>
            <a:r>
              <a:rPr lang="vi-VN"/>
              <a:t>3. Xem trước các cột sẽ xuất.</a:t>
            </a:r>
          </a:p>
          <a:p>
            <a:r>
              <a:rPr lang="vi-VN"/>
              <a:t>4. Chọn Xuất Excel hoặc Xuất JSON.</a:t>
            </a:r>
          </a:p>
          <a:p>
            <a:endParaRPr lang="vi-VN"/>
          </a:p>
          <a:p>
            <a:r>
              <a:rPr lang="vi-VN"/>
              <a:t>Chuyển tiếp: Nếu chọn Excel, có thêm một số tuỳ chọn.</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29</a:t>
            </a:fld>
            <a:endParaRPr lang="en-VN"/>
          </a:p>
        </p:txBody>
      </p:sp>
    </p:spTree>
    <p:extLst>
      <p:ext uri="{BB962C8B-B14F-4D97-AF65-F5344CB8AC3E}">
        <p14:creationId xmlns:p14="http://schemas.microsoft.com/office/powerpoint/2010/main" val="1750342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Tuỳ chọn xuất Excel, theo các số trên hình:</a:t>
            </a:r>
          </a:p>
          <a:p>
            <a:r>
              <a:rPr lang="vi-VN"/>
              <a:t>1. Cột Raw / Mask chứa gì – có 3 option, sẽ xem ở slide sau.</a:t>
            </a:r>
          </a:p>
          <a:p>
            <a:r>
              <a:rPr lang="vi-VN"/>
              <a:t>2. Kích thước ô ảnh: theo tỷ lệ ảnh hoặc nhập tay.</a:t>
            </a:r>
          </a:p>
          <a:p>
            <a:r>
              <a:rPr lang="vi-VN"/>
              <a:t>3. Xuất cột Vision: mặc định không tick – chỉ xuất Đánh giá và Ghi chú.</a:t>
            </a:r>
          </a:p>
          <a:p>
            <a:r>
              <a:rPr lang="vi-VN"/>
              <a:t>4. Bấm Xuất Excel và chọn nơi lưu.</a:t>
            </a:r>
          </a:p>
          <a:p>
            <a:endParaRPr lang="vi-VN"/>
          </a:p>
          <a:p>
            <a:r>
              <a:rPr lang="vi-VN"/>
              <a:t>Chuyển tiếp: So sánh 3 option nội dung cột Raw / Mask.</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30</a:t>
            </a:fld>
            <a:endParaRPr lang="en-VN"/>
          </a:p>
        </p:txBody>
      </p:sp>
    </p:spTree>
    <p:extLst>
      <p:ext uri="{BB962C8B-B14F-4D97-AF65-F5344CB8AC3E}">
        <p14:creationId xmlns:p14="http://schemas.microsoft.com/office/powerpoint/2010/main" val="3374788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3 option cho cột Raw / Mask:</a:t>
            </a:r>
          </a:p>
          <a:p>
            <a:r>
              <a:rPr lang="vi-VN"/>
              <a:t>① Hyperlink + thumbnail (mặc định): ảnh nhỏ trong ô, bấm vào mở ảnh gốc.</a:t>
            </a:r>
          </a:p>
          <a:p>
            <a:r>
              <a:rPr lang="vi-VN"/>
              <a:t>② Hyperlink: bỏ tick Hiện thumbnail, ô chỉ chứa tên file, bấm vào mở ảnh gốc.</a:t>
            </a:r>
          </a:p>
          <a:p>
            <a:r>
              <a:rPr lang="vi-VN"/>
              <a:t>③ Chèn ảnh gốc: nhúng nguyên ảnh, không nén, phóng to để xem rõ chi tiết.</a:t>
            </a:r>
          </a:p>
          <a:p>
            <a:endParaRPr lang="vi-VN"/>
          </a:p>
          <a:p>
            <a:r>
              <a:rPr lang="vi-VN"/>
              <a:t>Chuyển tiếp: Vậy chọn option nào cho trường hợp nào?</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31</a:t>
            </a:fld>
            <a:endParaRPr lang="en-VN"/>
          </a:p>
        </p:txBody>
      </p:sp>
    </p:spTree>
    <p:extLst>
      <p:ext uri="{BB962C8B-B14F-4D97-AF65-F5344CB8AC3E}">
        <p14:creationId xmlns:p14="http://schemas.microsoft.com/office/powerpoint/2010/main" val="14571073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So sánh 3 option:</a:t>
            </a:r>
          </a:p>
          <a:p>
            <a:r>
              <a:rPr lang="vi-VN"/>
              <a:t>- ① Thumbnail: ô chứa ảnh nhỏ, bấm mở được ảnh gốc, file ví dụ khoảng 733 KB – dùng để xem nhanh, gửi kèm thư mục ảnh.</a:t>
            </a:r>
          </a:p>
          <a:p>
            <a:r>
              <a:rPr lang="vi-VN"/>
              <a:t>- ② Hyperlink: ô chứa tên file, bấm mở được ảnh gốc, chỉ khoảng 21 KB – dùng khi dataset rất lớn, chỉ cần tra cứu.</a:t>
            </a:r>
          </a:p>
          <a:p>
            <a:r>
              <a:rPr lang="vi-VN"/>
              <a:t>- ③ Ảnh gốc: ảnh nét nhưng không có link, khoảng 7,2 MB – dùng khi gửi riêng file Excel, ít dữ liệu, khách hàng xem trực tiếp trong Excel.</a:t>
            </a:r>
          </a:p>
          <a:p>
            <a:endParaRPr lang="vi-VN"/>
          </a:p>
          <a:p>
            <a:r>
              <a:rPr lang="vi-VN"/>
              <a:t>Hình bên phải: phóng to cùng một ô cho thấy thumbnail bị vỡ, ảnh gốc giữ chi tiết.</a:t>
            </a:r>
          </a:p>
          <a:p>
            <a:endParaRPr lang="vi-VN"/>
          </a:p>
          <a:p>
            <a:r>
              <a:rPr lang="vi-VN"/>
              <a:t>Chuyển tiếp: Một số lưu ý bắt buộc khi xuất Excel.</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32</a:t>
            </a:fld>
            <a:endParaRPr lang="en-VN"/>
          </a:p>
        </p:txBody>
      </p:sp>
    </p:spTree>
    <p:extLst>
      <p:ext uri="{BB962C8B-B14F-4D97-AF65-F5344CB8AC3E}">
        <p14:creationId xmlns:p14="http://schemas.microsoft.com/office/powerpoint/2010/main" val="14983156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4: lấy file JSON hoặc Excel xuất từ Vision Image Tool, nhập tại mục 9 và 10 trong hồ sơ dự án trên Q One Edu.</a:t>
            </a:r>
          </a:p>
          <a:p>
            <a:endParaRPr lang="vi-VN"/>
          </a:p>
          <a:p>
            <a:r>
              <a:rPr lang="vi-VN"/>
              <a:t>Dữ liệu sau khi nhập thành công thể hiện đầy đủ số lượng, các cột thông tin và đánh giá mẫu.</a:t>
            </a:r>
          </a:p>
          <a:p>
            <a:endParaRPr lang="vi-VN"/>
          </a:p>
          <a:p>
            <a:r>
              <a:rPr lang="vi-VN"/>
              <a:t>Đây là điểm nối giữa Phần III và Phần II: kết quả đánh giá tự động chuyển sang Nội dung 10 và được tổng hợp ở Nội dung 11.</a:t>
            </a:r>
          </a:p>
          <a:p>
            <a:endParaRPr lang="vi-VN"/>
          </a:p>
          <a:p>
            <a:r>
              <a:rPr lang="vi-VN"/>
              <a:t>Chuyển tiếp: Tóm tắt lại những điểm cần nhớ.</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33</a:t>
            </a:fld>
            <a:endParaRPr lang="en-VN"/>
          </a:p>
        </p:txBody>
      </p:sp>
    </p:spTree>
    <p:extLst>
      <p:ext uri="{BB962C8B-B14F-4D97-AF65-F5344CB8AC3E}">
        <p14:creationId xmlns:p14="http://schemas.microsoft.com/office/powerpoint/2010/main" val="32929085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Bốn điểm cần nhớ, tổng hợp từ các lưu ý trong tài liệu:</a:t>
            </a:r>
          </a:p>
          <a:p>
            <a:r>
              <a:rPr lang="vi-VN"/>
              <a:t>1. Thực hiện lần lượt theo thứ tự – mục sau dùng dữ liệu của mục trước.</a:t>
            </a:r>
          </a:p>
          <a:p>
            <a:r>
              <a:rPr lang="vi-VN"/>
              <a:t>2. Không bỏ trống trường bắt buộc; luôn rà soát BOM sau khi dựng tự động và dữ liệu sau khi import.</a:t>
            </a:r>
          </a:p>
          <a:p>
            <a:r>
              <a:rPr lang="vi-VN"/>
              <a:t>3. Đặt tên ảnh đúng quy tắc, đảm bảo lỗi schema bằng 0 trước khi xuất.</a:t>
            </a:r>
          </a:p>
          <a:p>
            <a:r>
              <a:rPr lang="vi-VN"/>
              <a:t>4. File báo cáo lưu cùng cấp thư mục ảnh; không đổi tên, di chuyển ảnh hay đổi schema sau khi xuất.</a:t>
            </a:r>
          </a:p>
          <a:p>
            <a:endParaRPr lang="vi-VN"/>
          </a:p>
          <a:p>
            <a:r>
              <a:rPr lang="vi-VN"/>
              <a:t>Chuyển tiếp: Mời mọi người đặt câu hỏi.</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34</a:t>
            </a:fld>
            <a:endParaRPr lang="en-VN"/>
          </a:p>
        </p:txBody>
      </p:sp>
    </p:spTree>
    <p:extLst>
      <p:ext uri="{BB962C8B-B14F-4D97-AF65-F5344CB8AC3E}">
        <p14:creationId xmlns:p14="http://schemas.microsoft.com/office/powerpoint/2010/main" val="460485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Cảm ơn mọi người đã theo dõi. Mời đặt câu hỏi.</a:t>
            </a:r>
          </a:p>
          <a:p>
            <a:endParaRPr lang="vi-VN"/>
          </a:p>
          <a:p>
            <a:r>
              <a:rPr lang="vi-VN"/>
              <a:t>Tài liệu tham chiếu: N-HD-NMIAVITEST-01, phiên bản 1.0. Địa chỉ đăng nhập: https://edu.nmi.vn/.</a:t>
            </a:r>
            <a:endParaRPr lang="en-US"/>
          </a:p>
        </p:txBody>
      </p:sp>
      <p:sp>
        <p:nvSpPr>
          <p:cNvPr id="4" name="Slide Number Placeholder 3"/>
          <p:cNvSpPr>
            <a:spLocks noGrp="1"/>
          </p:cNvSpPr>
          <p:nvPr>
            <p:ph type="sldNum" sz="quarter" idx="5"/>
          </p:nvPr>
        </p:nvSpPr>
        <p:spPr/>
        <p:txBody>
          <a:bodyPr/>
          <a:lstStyle/>
          <a:p>
            <a:fld id="{44431B34-6AA4-3647-9255-C8796074E224}" type="slidenum">
              <a:rPr lang="en-VN" smtClean="0"/>
              <a:t>35</a:t>
            </a:fld>
            <a:endParaRPr lang="en-VN"/>
          </a:p>
        </p:txBody>
      </p:sp>
    </p:spTree>
    <p:extLst>
      <p:ext uri="{BB962C8B-B14F-4D97-AF65-F5344CB8AC3E}">
        <p14:creationId xmlns:p14="http://schemas.microsoft.com/office/powerpoint/2010/main" val="29940001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2" name="Slide Number Placeholder 13">
            <a:extLst>
              <a:ext uri="{FF2B5EF4-FFF2-40B4-BE49-F238E27FC236}">
                <a16:creationId xmlns:a16="http://schemas.microsoft.com/office/drawing/2014/main" id="{64241E0A-2E0D-430F-9D9C-CE16BF8BCF30}"/>
              </a:ext>
            </a:extLst>
          </p:cNvPr>
          <p:cNvSpPr txBox="1">
            <a:spLocks/>
          </p:cNvSpPr>
          <p:nvPr userDrawn="1"/>
        </p:nvSpPr>
        <p:spPr>
          <a:xfrm>
            <a:off x="9362441" y="643374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2A0A568-08D4-469A-BEA6-2D1714D07F80}" type="slidenum">
              <a:rPr lang="en-US" smtClean="0"/>
              <a:pPr/>
              <a:t>‹#›</a:t>
            </a:fld>
            <a:endParaRPr lang="en-US" dirty="0"/>
          </a:p>
        </p:txBody>
      </p:sp>
      <p:cxnSp>
        <p:nvCxnSpPr>
          <p:cNvPr id="3" name="Straight Connector 2">
            <a:extLst>
              <a:ext uri="{FF2B5EF4-FFF2-40B4-BE49-F238E27FC236}">
                <a16:creationId xmlns:a16="http://schemas.microsoft.com/office/drawing/2014/main" id="{151B9A0E-0CB1-B910-4F29-173173D62032}"/>
              </a:ext>
            </a:extLst>
          </p:cNvPr>
          <p:cNvCxnSpPr>
            <a:cxnSpLocks/>
          </p:cNvCxnSpPr>
          <p:nvPr userDrawn="1"/>
        </p:nvCxnSpPr>
        <p:spPr>
          <a:xfrm>
            <a:off x="-14067" y="214418"/>
            <a:ext cx="12220135" cy="0"/>
          </a:xfrm>
          <a:prstGeom prst="line">
            <a:avLst/>
          </a:prstGeom>
          <a:ln w="12700">
            <a:solidFill>
              <a:srgbClr val="00FF00"/>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4211129-61AA-B432-4043-845E39A54A1E}"/>
              </a:ext>
            </a:extLst>
          </p:cNvPr>
          <p:cNvCxnSpPr/>
          <p:nvPr userDrawn="1"/>
        </p:nvCxnSpPr>
        <p:spPr>
          <a:xfrm>
            <a:off x="0" y="6405900"/>
            <a:ext cx="12192000" cy="0"/>
          </a:xfrm>
          <a:prstGeom prst="line">
            <a:avLst/>
          </a:prstGeom>
          <a:ln w="76200" cmpd="dbl">
            <a:solidFill>
              <a:srgbClr val="00FF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6946658-955A-8229-29E3-CE8F7EE7EC87}"/>
              </a:ext>
            </a:extLst>
          </p:cNvPr>
          <p:cNvSpPr txBox="1"/>
          <p:nvPr userDrawn="1"/>
        </p:nvSpPr>
        <p:spPr>
          <a:xfrm>
            <a:off x="3721504" y="6446169"/>
            <a:ext cx="4748992" cy="400110"/>
          </a:xfrm>
          <a:prstGeom prst="rect">
            <a:avLst/>
          </a:prstGeom>
          <a:noFill/>
        </p:spPr>
        <p:txBody>
          <a:bodyPr wrap="none" rtlCol="0">
            <a:spAutoFit/>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NMI TECHNOLOGIES VIET NAM JCS</a:t>
            </a:r>
            <a:endParaRPr lang="en-US" sz="2000" b="1" i="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7DB543E-25F6-EB79-5CDB-5F35D0FB4C13}"/>
              </a:ext>
            </a:extLst>
          </p:cNvPr>
          <p:cNvPicPr>
            <a:picLocks noChangeAspect="1"/>
          </p:cNvPicPr>
          <p:nvPr userDrawn="1"/>
        </p:nvPicPr>
        <p:blipFill>
          <a:blip r:embed="rId2">
            <a:extLst>
              <a:ext uri="{28A0092B-C50C-407E-A947-70E740481C1C}">
                <a14:useLocalDpi xmlns:a14="http://schemas.microsoft.com/office/drawing/2010/main" val="0"/>
              </a:ext>
            </a:extLst>
          </a:blip>
          <a:srcRect l="4183" t="21496" r="5261" b="22756"/>
          <a:stretch>
            <a:fillRect/>
          </a:stretch>
        </p:blipFill>
        <p:spPr>
          <a:xfrm>
            <a:off x="11721" y="6488366"/>
            <a:ext cx="872101" cy="357914"/>
          </a:xfrm>
          <a:prstGeom prst="rect">
            <a:avLst/>
          </a:prstGeom>
        </p:spPr>
      </p:pic>
      <p:sp>
        <p:nvSpPr>
          <p:cNvPr id="13" name="Process 12">
            <a:extLst>
              <a:ext uri="{FF2B5EF4-FFF2-40B4-BE49-F238E27FC236}">
                <a16:creationId xmlns:a16="http://schemas.microsoft.com/office/drawing/2014/main" id="{0EFCE9A2-9EA4-8C44-48B2-7009A8FC0F6E}"/>
              </a:ext>
            </a:extLst>
          </p:cNvPr>
          <p:cNvSpPr/>
          <p:nvPr userDrawn="1"/>
        </p:nvSpPr>
        <p:spPr>
          <a:xfrm>
            <a:off x="53926" y="367217"/>
            <a:ext cx="604911" cy="441159"/>
          </a:xfrm>
          <a:prstGeom prst="flowChartProcess">
            <a:avLst/>
          </a:prstGeom>
          <a:solidFill>
            <a:srgbClr val="00FF00"/>
          </a:solid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Process 13">
            <a:extLst>
              <a:ext uri="{FF2B5EF4-FFF2-40B4-BE49-F238E27FC236}">
                <a16:creationId xmlns:a16="http://schemas.microsoft.com/office/drawing/2014/main" id="{D84FC637-8583-5ED2-0098-28956665AF2E}"/>
              </a:ext>
            </a:extLst>
          </p:cNvPr>
          <p:cNvSpPr/>
          <p:nvPr userDrawn="1"/>
        </p:nvSpPr>
        <p:spPr>
          <a:xfrm>
            <a:off x="-14067" y="296884"/>
            <a:ext cx="604911" cy="441159"/>
          </a:xfrm>
          <a:prstGeom prst="flowChartProcess">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TextBox 14">
            <a:extLst>
              <a:ext uri="{FF2B5EF4-FFF2-40B4-BE49-F238E27FC236}">
                <a16:creationId xmlns:a16="http://schemas.microsoft.com/office/drawing/2014/main" id="{0D888D06-4746-6548-B03B-108A26AEFBFB}"/>
              </a:ext>
            </a:extLst>
          </p:cNvPr>
          <p:cNvSpPr txBox="1"/>
          <p:nvPr userDrawn="1"/>
        </p:nvSpPr>
        <p:spPr>
          <a:xfrm>
            <a:off x="1376423" y="6446169"/>
            <a:ext cx="1415772" cy="369332"/>
          </a:xfrm>
          <a:prstGeom prst="rect">
            <a:avLst/>
          </a:prstGeom>
          <a:noFill/>
        </p:spPr>
        <p:txBody>
          <a:bodyPr wrap="none" rtlCol="0">
            <a:spAutoFit/>
          </a:bodyPr>
          <a:lstStyle/>
          <a:p>
            <a:r>
              <a:rPr lang="en-US" b="1" dirty="0">
                <a:solidFill>
                  <a:srgbClr val="FF0000"/>
                </a:solidFill>
                <a:latin typeface="Times New Roman" panose="02020603050405020304" pitchFamily="18" charset="0"/>
                <a:cs typeface="Times New Roman" panose="02020603050405020304" pitchFamily="18" charset="0"/>
              </a:rPr>
              <a:t>Internal Use</a:t>
            </a:r>
            <a:endParaRPr lang="en-VN" b="1" dirty="0">
              <a:solidFill>
                <a:srgbClr val="FF000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3F7F8A2-3853-DF8E-4E15-88F84CCCD2DC}"/>
              </a:ext>
            </a:extLst>
          </p:cNvPr>
          <p:cNvSpPr txBox="1"/>
          <p:nvPr userDrawn="1"/>
        </p:nvSpPr>
        <p:spPr>
          <a:xfrm>
            <a:off x="9801353" y="6473750"/>
            <a:ext cx="200407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NMI-PI-0001/10_Rev 00</a:t>
            </a:r>
            <a:endParaRPr lang="en-V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2969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E736109-6FFB-4D13-8F45-BAEFE25A3FBA}"/>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5" name="Footer Placeholder 4">
            <a:extLst>
              <a:ext uri="{FF2B5EF4-FFF2-40B4-BE49-F238E27FC236}">
                <a16:creationId xmlns:a16="http://schemas.microsoft.com/office/drawing/2014/main" id="{7ACEA055-8CA2-485D-B0DC-E094AC541E46}"/>
              </a:ext>
            </a:extLst>
          </p:cNvPr>
          <p:cNvSpPr>
            <a:spLocks noGrp="1"/>
          </p:cNvSpPr>
          <p:nvPr>
            <p:ph type="ftr" sz="quarter" idx="11"/>
          </p:nvPr>
        </p:nvSpPr>
        <p:spPr>
          <a:xfrm>
            <a:off x="3886201" y="623443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090C145-497D-4055-9D6F-41CB175FCB60}"/>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292817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2E27621-DFFA-4DAF-949F-F53214B13136}"/>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5" name="Footer Placeholder 4">
            <a:extLst>
              <a:ext uri="{FF2B5EF4-FFF2-40B4-BE49-F238E27FC236}">
                <a16:creationId xmlns:a16="http://schemas.microsoft.com/office/drawing/2014/main" id="{22286539-6354-4743-AF81-FCFAC3A9A112}"/>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5B5A73-5F48-4DDE-BF0E-74AFDFC0CC2A}"/>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404215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7851D-CCFA-43EC-B395-DC8EA3086F8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DF8F7F0-96ED-4767-A75D-E5C58500703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482046-50DA-4A14-9B64-DA844D775216}"/>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429F25-A2EB-4874-BA01-B21B670B8209}"/>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6" name="Footer Placeholder 5">
            <a:extLst>
              <a:ext uri="{FF2B5EF4-FFF2-40B4-BE49-F238E27FC236}">
                <a16:creationId xmlns:a16="http://schemas.microsoft.com/office/drawing/2014/main" id="{5AD6D556-8D06-4608-8C38-E28A66D7191A}"/>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AEE535D-C38E-4583-B868-A058FE21A078}"/>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1414003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DAB1F-0269-4490-9AA4-B2913573A56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8A73667-7D11-4E7A-84A7-70AE72A025FF}"/>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8F6330-6B8A-4B76-877E-92C9249B794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82F5E4-3502-4EA5-9361-BD4F65AB1CF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38C9CC-5E52-4BCE-A9E7-DD148F8AE77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D662F2-286F-4299-B222-84D18C090A17}"/>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8" name="Footer Placeholder 7">
            <a:extLst>
              <a:ext uri="{FF2B5EF4-FFF2-40B4-BE49-F238E27FC236}">
                <a16:creationId xmlns:a16="http://schemas.microsoft.com/office/drawing/2014/main" id="{F5E4AA96-6071-49F9-A44B-E9C9D96538F3}"/>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C8F9B216-7DC3-4B3C-9A83-097DCE1AE37F}"/>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3387996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7A2E-19B2-48A8-A380-1EF29E4FB56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14EEE0A-4EBA-439E-AB44-7E49DBECF7B9}"/>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4" name="Footer Placeholder 3">
            <a:extLst>
              <a:ext uri="{FF2B5EF4-FFF2-40B4-BE49-F238E27FC236}">
                <a16:creationId xmlns:a16="http://schemas.microsoft.com/office/drawing/2014/main" id="{A800950A-E413-480A-9499-4BA5CE775EDD}"/>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C3D0087-EC15-4977-9C08-EDD9DAF16404}"/>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680087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405FD0-C975-4960-9061-F77E1A277F8C}"/>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3" name="Footer Placeholder 2">
            <a:extLst>
              <a:ext uri="{FF2B5EF4-FFF2-40B4-BE49-F238E27FC236}">
                <a16:creationId xmlns:a16="http://schemas.microsoft.com/office/drawing/2014/main" id="{807772B4-50FF-48D0-BAAE-2AC14E60E397}"/>
              </a:ext>
            </a:extLst>
          </p:cNvPr>
          <p:cNvSpPr>
            <a:spLocks noGrp="1"/>
          </p:cNvSpPr>
          <p:nvPr>
            <p:ph type="ftr" sz="quarter" idx="11"/>
          </p:nvPr>
        </p:nvSpPr>
        <p:spPr>
          <a:xfrm>
            <a:off x="3886201" y="623443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2BE0BC6-1E5E-4FB8-B200-72E802E43EDE}"/>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3413579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D2D3-D789-4EB9-A222-EFE4E837B19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7BEBF5-84CB-447D-8BBF-983F76F8FC6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38284F-A283-4720-BA2B-E75159CB217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AE1C6-2E45-426A-84D1-F66AF3E0DAE6}"/>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6" name="Footer Placeholder 5">
            <a:extLst>
              <a:ext uri="{FF2B5EF4-FFF2-40B4-BE49-F238E27FC236}">
                <a16:creationId xmlns:a16="http://schemas.microsoft.com/office/drawing/2014/main" id="{999B6D03-8660-4A04-A916-FC7EB62FDB09}"/>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77074ED-28AD-4225-A004-30C789611D53}"/>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2171700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7B97A-A9E4-41E3-9AFD-04B969FDA0D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D39878-0B66-4E7E-93D2-741E8E5AAF4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B21E13-F5B9-44BD-90E1-8F1F191F0A0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73EDFE-053D-47F5-A997-00F2BD08AE28}"/>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6" name="Footer Placeholder 5">
            <a:extLst>
              <a:ext uri="{FF2B5EF4-FFF2-40B4-BE49-F238E27FC236}">
                <a16:creationId xmlns:a16="http://schemas.microsoft.com/office/drawing/2014/main" id="{FEC2FEAE-32A8-459F-8865-FE07016DCE89}"/>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6E0A501-9B43-4768-B815-BAFDA9C36829}"/>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1383244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A4CD-5924-4751-AF99-09A36861C1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A1A3D1-9BA7-4129-A74D-949CF7655266}"/>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E9CA18-0BCA-48AF-B43E-E84C7126EE85}"/>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5" name="Footer Placeholder 4">
            <a:extLst>
              <a:ext uri="{FF2B5EF4-FFF2-40B4-BE49-F238E27FC236}">
                <a16:creationId xmlns:a16="http://schemas.microsoft.com/office/drawing/2014/main" id="{1C48B98E-FAB1-4AC0-AC50-F37E9A82E814}"/>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EC60F37-AE58-4B2D-9845-D506EC1FD38B}"/>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1105110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01F58-4770-4AF6-9388-7B0FDF3CE1A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690EBA-A219-4906-8433-9F6B97140F82}"/>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C330A-D7E5-4A2D-9EB5-94E444DCCD1F}"/>
              </a:ext>
            </a:extLst>
          </p:cNvPr>
          <p:cNvSpPr>
            <a:spLocks noGrp="1"/>
          </p:cNvSpPr>
          <p:nvPr>
            <p:ph type="dt" sz="half" idx="10"/>
          </p:nvPr>
        </p:nvSpPr>
        <p:spPr>
          <a:xfrm>
            <a:off x="685801" y="6234430"/>
            <a:ext cx="2743200" cy="365125"/>
          </a:xfrm>
          <a:prstGeom prst="rect">
            <a:avLst/>
          </a:prstGeom>
        </p:spPr>
        <p:txBody>
          <a:bodyPr/>
          <a:lstStyle/>
          <a:p>
            <a:fld id="{28F3CCDD-D096-4F40-9626-D3AAC20DA29D}" type="datetimeFigureOut">
              <a:rPr lang="en-US" smtClean="0"/>
              <a:t>10/10/2026</a:t>
            </a:fld>
            <a:endParaRPr lang="en-US"/>
          </a:p>
        </p:txBody>
      </p:sp>
      <p:sp>
        <p:nvSpPr>
          <p:cNvPr id="5" name="Footer Placeholder 4">
            <a:extLst>
              <a:ext uri="{FF2B5EF4-FFF2-40B4-BE49-F238E27FC236}">
                <a16:creationId xmlns:a16="http://schemas.microsoft.com/office/drawing/2014/main" id="{12CFC9B5-9F20-45BD-9BDD-56D4135FD0DE}"/>
              </a:ext>
            </a:extLst>
          </p:cNvPr>
          <p:cNvSpPr>
            <a:spLocks noGrp="1"/>
          </p:cNvSpPr>
          <p:nvPr>
            <p:ph type="ftr" sz="quarter" idx="11"/>
          </p:nvPr>
        </p:nvSpPr>
        <p:spPr>
          <a:xfrm>
            <a:off x="3886201" y="623443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97588E9-BEDC-4760-9C63-D4DF1C67D5BE}"/>
              </a:ext>
            </a:extLst>
          </p:cNvPr>
          <p:cNvSpPr>
            <a:spLocks noGrp="1"/>
          </p:cNvSpPr>
          <p:nvPr>
            <p:ph type="sldNum" sz="quarter" idx="12"/>
          </p:nvPr>
        </p:nvSpPr>
        <p:spPr>
          <a:xfrm>
            <a:off x="9321801" y="6493020"/>
            <a:ext cx="2743200" cy="365125"/>
          </a:xfrm>
          <a:prstGeom prst="rect">
            <a:avLst/>
          </a:prstGeom>
        </p:spPr>
        <p:txBody>
          <a:bodyPr/>
          <a:lstStyle/>
          <a:p>
            <a:fld id="{4430927C-AFE2-4D03-9579-012F06DDA3E1}" type="slidenum">
              <a:rPr lang="en-US" smtClean="0"/>
              <a:t>‹#›</a:t>
            </a:fld>
            <a:endParaRPr lang="en-US"/>
          </a:p>
        </p:txBody>
      </p:sp>
    </p:spTree>
    <p:extLst>
      <p:ext uri="{BB962C8B-B14F-4D97-AF65-F5344CB8AC3E}">
        <p14:creationId xmlns:p14="http://schemas.microsoft.com/office/powerpoint/2010/main" val="3898168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rocess 2">
            <a:extLst>
              <a:ext uri="{FF2B5EF4-FFF2-40B4-BE49-F238E27FC236}">
                <a16:creationId xmlns:a16="http://schemas.microsoft.com/office/drawing/2014/main" id="{6C3DEA3D-3B16-E376-9401-07DED4F418E9}"/>
              </a:ext>
            </a:extLst>
          </p:cNvPr>
          <p:cNvSpPr/>
          <p:nvPr userDrawn="1"/>
        </p:nvSpPr>
        <p:spPr>
          <a:xfrm>
            <a:off x="53926" y="1842727"/>
            <a:ext cx="604911" cy="441159"/>
          </a:xfrm>
          <a:prstGeom prst="flowChartProcess">
            <a:avLst/>
          </a:prstGeom>
          <a:solidFill>
            <a:srgbClr val="00FF00"/>
          </a:solid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7" name="Straight Connector 6">
            <a:extLst>
              <a:ext uri="{FF2B5EF4-FFF2-40B4-BE49-F238E27FC236}">
                <a16:creationId xmlns:a16="http://schemas.microsoft.com/office/drawing/2014/main" id="{38C5DDAB-F36A-41D2-AD94-834CA5BFD028}"/>
              </a:ext>
            </a:extLst>
          </p:cNvPr>
          <p:cNvCxnSpPr/>
          <p:nvPr userDrawn="1"/>
        </p:nvCxnSpPr>
        <p:spPr>
          <a:xfrm>
            <a:off x="0" y="6405900"/>
            <a:ext cx="12192000" cy="0"/>
          </a:xfrm>
          <a:prstGeom prst="line">
            <a:avLst/>
          </a:prstGeom>
          <a:ln w="76200" cmpd="dbl">
            <a:solidFill>
              <a:srgbClr val="00FF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F65D1DB-F1E1-49CC-A269-169DBEFCCF7C}"/>
              </a:ext>
            </a:extLst>
          </p:cNvPr>
          <p:cNvSpPr txBox="1"/>
          <p:nvPr userDrawn="1"/>
        </p:nvSpPr>
        <p:spPr>
          <a:xfrm>
            <a:off x="3721504" y="6446169"/>
            <a:ext cx="4748992" cy="400110"/>
          </a:xfrm>
          <a:prstGeom prst="rect">
            <a:avLst/>
          </a:prstGeom>
          <a:noFill/>
        </p:spPr>
        <p:txBody>
          <a:bodyPr wrap="none" rtlCol="0">
            <a:spAutoFit/>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NMI TECHNOLOGIES VIET NAM JSC</a:t>
            </a:r>
            <a:endParaRPr lang="en-US" sz="2000" b="1" i="0" dirty="0">
              <a:solidFill>
                <a:schemeClr val="tx1"/>
              </a:solidFill>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95E1AC41-97EF-457D-96A2-FA05F98ACD4F}"/>
              </a:ext>
            </a:extLst>
          </p:cNvPr>
          <p:cNvCxnSpPr>
            <a:cxnSpLocks/>
          </p:cNvCxnSpPr>
          <p:nvPr userDrawn="1"/>
        </p:nvCxnSpPr>
        <p:spPr>
          <a:xfrm>
            <a:off x="-14067" y="214418"/>
            <a:ext cx="12220135" cy="0"/>
          </a:xfrm>
          <a:prstGeom prst="line">
            <a:avLst/>
          </a:prstGeom>
          <a:ln w="12700">
            <a:solidFill>
              <a:srgbClr val="00FF00"/>
            </a:solidFill>
          </a:ln>
        </p:spPr>
        <p:style>
          <a:lnRef idx="1">
            <a:schemeClr val="accent1"/>
          </a:lnRef>
          <a:fillRef idx="0">
            <a:schemeClr val="accent1"/>
          </a:fillRef>
          <a:effectRef idx="0">
            <a:schemeClr val="accent1"/>
          </a:effectRef>
          <a:fontRef idx="minor">
            <a:schemeClr val="tx1"/>
          </a:fontRef>
        </p:style>
      </p:cxnSp>
      <p:sp>
        <p:nvSpPr>
          <p:cNvPr id="25" name="Slide Number Placeholder 46">
            <a:extLst>
              <a:ext uri="{FF2B5EF4-FFF2-40B4-BE49-F238E27FC236}">
                <a16:creationId xmlns:a16="http://schemas.microsoft.com/office/drawing/2014/main" id="{BDCB8AF7-94E7-4E87-88E6-43F91EC72B96}"/>
              </a:ext>
            </a:extLst>
          </p:cNvPr>
          <p:cNvSpPr txBox="1">
            <a:spLocks/>
          </p:cNvSpPr>
          <p:nvPr userDrawn="1"/>
        </p:nvSpPr>
        <p:spPr>
          <a:xfrm>
            <a:off x="9448799" y="64059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2A0A568-08D4-469A-BEA6-2D1714D07F80}" type="slidenum">
              <a:rPr lang="en-US" smtClean="0"/>
              <a:pPr/>
              <a:t>‹#›</a:t>
            </a:fld>
            <a:endParaRPr lang="en-US" dirty="0"/>
          </a:p>
        </p:txBody>
      </p:sp>
      <p:sp>
        <p:nvSpPr>
          <p:cNvPr id="2" name="Process 1">
            <a:extLst>
              <a:ext uri="{FF2B5EF4-FFF2-40B4-BE49-F238E27FC236}">
                <a16:creationId xmlns:a16="http://schemas.microsoft.com/office/drawing/2014/main" id="{05B68231-39E2-C392-9414-20D914402678}"/>
              </a:ext>
            </a:extLst>
          </p:cNvPr>
          <p:cNvSpPr/>
          <p:nvPr userDrawn="1"/>
        </p:nvSpPr>
        <p:spPr>
          <a:xfrm>
            <a:off x="-14067" y="1772394"/>
            <a:ext cx="604911" cy="441159"/>
          </a:xfrm>
          <a:prstGeom prst="flowChartProcess">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6" name="Picture 5">
            <a:extLst>
              <a:ext uri="{FF2B5EF4-FFF2-40B4-BE49-F238E27FC236}">
                <a16:creationId xmlns:a16="http://schemas.microsoft.com/office/drawing/2014/main" id="{1D0112A9-3954-DD77-B4D8-F97856E255FB}"/>
              </a:ext>
            </a:extLst>
          </p:cNvPr>
          <p:cNvPicPr>
            <a:picLocks noChangeAspect="1"/>
          </p:cNvPicPr>
          <p:nvPr userDrawn="1"/>
        </p:nvPicPr>
        <p:blipFill>
          <a:blip r:embed="rId13">
            <a:extLst>
              <a:ext uri="{28A0092B-C50C-407E-A947-70E740481C1C}">
                <a14:useLocalDpi xmlns:a14="http://schemas.microsoft.com/office/drawing/2010/main" val="0"/>
              </a:ext>
            </a:extLst>
          </a:blip>
          <a:srcRect l="4183" t="21496" r="5261" b="22756"/>
          <a:stretch>
            <a:fillRect/>
          </a:stretch>
        </p:blipFill>
        <p:spPr>
          <a:xfrm>
            <a:off x="11721" y="6488366"/>
            <a:ext cx="872101" cy="357914"/>
          </a:xfrm>
          <a:prstGeom prst="rect">
            <a:avLst/>
          </a:prstGeom>
        </p:spPr>
      </p:pic>
      <p:sp>
        <p:nvSpPr>
          <p:cNvPr id="26" name="TextBox 25">
            <a:extLst>
              <a:ext uri="{FF2B5EF4-FFF2-40B4-BE49-F238E27FC236}">
                <a16:creationId xmlns:a16="http://schemas.microsoft.com/office/drawing/2014/main" id="{36E80B54-B373-AC2A-3893-6BAB10B775F1}"/>
              </a:ext>
            </a:extLst>
          </p:cNvPr>
          <p:cNvSpPr txBox="1"/>
          <p:nvPr userDrawn="1"/>
        </p:nvSpPr>
        <p:spPr>
          <a:xfrm>
            <a:off x="1376423" y="6446169"/>
            <a:ext cx="1409360" cy="369332"/>
          </a:xfrm>
          <a:prstGeom prst="rect">
            <a:avLst/>
          </a:prstGeom>
          <a:noFill/>
        </p:spPr>
        <p:txBody>
          <a:bodyPr wrap="none" rtlCol="0">
            <a:spAutoFit/>
          </a:bodyPr>
          <a:lstStyle/>
          <a:p>
            <a:r>
              <a:rPr lang="en-US" b="1" dirty="0">
                <a:solidFill>
                  <a:srgbClr val="FF0000"/>
                </a:solidFill>
                <a:latin typeface="Times New Roman" panose="02020603050405020304" pitchFamily="18" charset="0"/>
                <a:cs typeface="Times New Roman" panose="02020603050405020304" pitchFamily="18" charset="0"/>
              </a:rPr>
              <a:t>Internal Use</a:t>
            </a:r>
            <a:endParaRPr lang="en-VN"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67ABEF-BB18-5B6B-A001-65FDF3A8F813}"/>
              </a:ext>
            </a:extLst>
          </p:cNvPr>
          <p:cNvSpPr txBox="1"/>
          <p:nvPr userDrawn="1"/>
        </p:nvSpPr>
        <p:spPr>
          <a:xfrm>
            <a:off x="9801353" y="6473750"/>
            <a:ext cx="2004075"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NMI-PI-0001/10_Rev 00</a:t>
            </a:r>
            <a:endParaRPr lang="en-V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064361"/>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du.nmi.v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0B89ECB-EBE5-830C-4DB0-2084D9BC9712}"/>
              </a:ext>
            </a:extLst>
          </p:cNvPr>
          <p:cNvGraphicFramePr>
            <a:graphicFrameLocks noGrp="1"/>
          </p:cNvGraphicFramePr>
          <p:nvPr>
            <p:extLst>
              <p:ext uri="{D42A27DB-BD31-4B8C-83A1-F6EECF244321}">
                <p14:modId xmlns:p14="http://schemas.microsoft.com/office/powerpoint/2010/main" val="2595318445"/>
              </p:ext>
            </p:extLst>
          </p:nvPr>
        </p:nvGraphicFramePr>
        <p:xfrm>
          <a:off x="8506691" y="5230092"/>
          <a:ext cx="3564000" cy="102600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1246270390"/>
                    </a:ext>
                  </a:extLst>
                </a:gridCol>
                <a:gridCol w="1188000">
                  <a:extLst>
                    <a:ext uri="{9D8B030D-6E8A-4147-A177-3AD203B41FA5}">
                      <a16:colId xmlns:a16="http://schemas.microsoft.com/office/drawing/2014/main" val="149455495"/>
                    </a:ext>
                  </a:extLst>
                </a:gridCol>
                <a:gridCol w="1188000">
                  <a:extLst>
                    <a:ext uri="{9D8B030D-6E8A-4147-A177-3AD203B41FA5}">
                      <a16:colId xmlns:a16="http://schemas.microsoft.com/office/drawing/2014/main" val="1088512339"/>
                    </a:ext>
                  </a:extLst>
                </a:gridCol>
              </a:tblGrid>
              <a:tr h="306000">
                <a:tc>
                  <a:txBody>
                    <a:bodyPr/>
                    <a:lstStyle/>
                    <a:p>
                      <a:pPr algn="ctr"/>
                      <a:r>
                        <a:rPr lang="en-VN" sz="1400" dirty="0">
                          <a:latin typeface="Times New Roman" panose="02020603050405020304" pitchFamily="18" charset="0"/>
                          <a:cs typeface="Times New Roman" panose="02020603050405020304" pitchFamily="18" charset="0"/>
                        </a:rPr>
                        <a:t>Issued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11893"/>
                    </a:solidFill>
                  </a:tcPr>
                </a:tc>
                <a:tc>
                  <a:txBody>
                    <a:bodyPr/>
                    <a:lstStyle/>
                    <a:p>
                      <a:pPr algn="ctr"/>
                      <a:r>
                        <a:rPr lang="en-US" sz="1400" dirty="0">
                          <a:latin typeface="Times New Roman" panose="02020603050405020304" pitchFamily="18" charset="0"/>
                          <a:cs typeface="Times New Roman" panose="02020603050405020304" pitchFamily="18" charset="0"/>
                        </a:rPr>
                        <a:t>Confirmed</a:t>
                      </a: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11893"/>
                    </a:solidFill>
                  </a:tcPr>
                </a:tc>
                <a:tc>
                  <a:txBody>
                    <a:bodyPr/>
                    <a:lstStyle/>
                    <a:p>
                      <a:pPr algn="ctr"/>
                      <a:r>
                        <a:rPr lang="en-US" sz="1400" dirty="0">
                          <a:latin typeface="Times New Roman" panose="02020603050405020304" pitchFamily="18" charset="0"/>
                          <a:cs typeface="Times New Roman" panose="02020603050405020304" pitchFamily="18" charset="0"/>
                        </a:rPr>
                        <a:t>Approved</a:t>
                      </a: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11893"/>
                    </a:solidFill>
                  </a:tcPr>
                </a:tc>
                <a:extLst>
                  <a:ext uri="{0D108BD9-81ED-4DB2-BD59-A6C34878D82A}">
                    <a16:rowId xmlns:a16="http://schemas.microsoft.com/office/drawing/2014/main" val="1815325223"/>
                  </a:ext>
                </a:extLst>
              </a:tr>
              <a:tr h="360000">
                <a:tc>
                  <a:txBody>
                    <a:bodyPr/>
                    <a:lstStyle/>
                    <a:p>
                      <a:pPr algn="ct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202607"/>
                  </a:ext>
                </a:extLst>
              </a:tr>
              <a:tr h="360000">
                <a:tc>
                  <a:txBody>
                    <a:bodyPr/>
                    <a:lstStyle/>
                    <a:p>
                      <a:pPr algn="ctr"/>
                      <a:endParaRPr lang="en-VN" sz="140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V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5445632"/>
                  </a:ext>
                </a:extLst>
              </a:tr>
            </a:tbl>
          </a:graphicData>
        </a:graphic>
      </p:graphicFrame>
      <p:sp>
        <p:nvSpPr>
          <p:cNvPr id="3" name="TextBox 2">
            <a:extLst>
              <a:ext uri="{FF2B5EF4-FFF2-40B4-BE49-F238E27FC236}">
                <a16:creationId xmlns:a16="http://schemas.microsoft.com/office/drawing/2014/main" id="{86F5600A-63DA-A9C4-7E6F-277AD07E8F91}"/>
              </a:ext>
            </a:extLst>
          </p:cNvPr>
          <p:cNvSpPr txBox="1"/>
          <p:nvPr/>
        </p:nvSpPr>
        <p:spPr>
          <a:xfrm>
            <a:off x="8420564" y="4926228"/>
            <a:ext cx="3302000" cy="338554"/>
          </a:xfrm>
          <a:prstGeom prst="rect">
            <a:avLst/>
          </a:prstGeom>
          <a:noFill/>
        </p:spPr>
        <p:txBody>
          <a:bodyPr wrap="none" rtlCol="0">
            <a:spAutoFit/>
          </a:bodyPr>
          <a:lstStyle/>
          <a:p>
            <a:r>
              <a:rPr lang="en-VN" sz="1600">
                <a:latin typeface="Times New Roman" panose="02020603050405020304" pitchFamily="18" charset="0"/>
                <a:cs typeface="Times New Roman" panose="02020603050405020304" pitchFamily="18" charset="0"/>
              </a:rPr>
              <a:t>Doc No: </a:t>
            </a:r>
            <a:r>
              <a:rPr lang="en-VN" sz="1600">
                <a:solidFill>
                  <a:srgbClr val="FF0000"/>
                </a:solidFill>
                <a:latin typeface="Times New Roman" panose="02020603050405020304" pitchFamily="18" charset="0"/>
                <a:cs typeface="Times New Roman" panose="02020603050405020304" pitchFamily="18" charset="0"/>
              </a:rPr>
              <a:t>N-HD-NMIAVITEST-01</a:t>
            </a:r>
            <a:endParaRPr lang="en-VN" sz="16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0690847-84B3-5206-3A2A-BA72240AD8EE}"/>
              </a:ext>
            </a:extLst>
          </p:cNvPr>
          <p:cNvSpPr txBox="1"/>
          <p:nvPr/>
        </p:nvSpPr>
        <p:spPr>
          <a:xfrm>
            <a:off x="710136" y="1781247"/>
            <a:ext cx="7620000" cy="1077218"/>
          </a:xfrm>
          <a:prstGeom prst="rect">
            <a:avLst/>
          </a:prstGeom>
          <a:noFill/>
        </p:spPr>
        <p:txBody>
          <a:bodyPr wrap="square" rtlCol="0">
            <a:spAutoFit/>
          </a:bodyPr>
          <a:lstStyle/>
          <a:p>
            <a:r>
              <a:rPr lang="vi-VN" sz="3200" b="1">
                <a:latin typeface="Times New Roman" panose="02020603050405020304" pitchFamily="18" charset="0"/>
                <a:cs typeface="Times New Roman" panose="02020603050405020304" pitchFamily="18" charset="0"/>
              </a:rPr>
              <a:t>HƯỚNG DẪN LẬP BÁO CÁO TEST DỰ ÁN AVI BẰNG PHẦN MỀM</a:t>
            </a:r>
            <a:endParaRPr lang="en-V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03C4A7-F40F-5F4E-5A63-400BE86CE8AA}"/>
              </a:ext>
            </a:extLst>
          </p:cNvPr>
          <p:cNvSpPr txBox="1"/>
          <p:nvPr/>
        </p:nvSpPr>
        <p:spPr>
          <a:xfrm>
            <a:off x="711200" y="2921000"/>
            <a:ext cx="7112000" cy="330200"/>
          </a:xfrm>
          <a:prstGeom prst="rect">
            <a:avLst/>
          </a:prstGeom>
          <a:noFill/>
        </p:spPr>
        <p:txBody>
          <a:bodyPr vert="horz" wrap="square" lIns="25400" tIns="12700" rIns="25400" bIns="12700" rtlCol="0" anchor="t">
            <a:noAutofit/>
          </a:bodyPr>
          <a:lstStyle/>
          <a:p>
            <a:r>
              <a:rPr lang="vi-VN" b="1">
                <a:solidFill>
                  <a:srgbClr val="000000"/>
                </a:solidFill>
                <a:latin typeface="Times New Roman" panose="02020603050405020304" pitchFamily="18" charset="0"/>
              </a:rPr>
              <a:t>Quy trình thao tác từng bước</a:t>
            </a:r>
            <a:endParaRPr lang="en-US" b="1">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E678D19E-133B-B146-ACFE-12B89F5637BB}"/>
              </a:ext>
            </a:extLst>
          </p:cNvPr>
          <p:cNvSpPr txBox="1"/>
          <p:nvPr/>
        </p:nvSpPr>
        <p:spPr>
          <a:xfrm>
            <a:off x="711200" y="3327400"/>
            <a:ext cx="7112000" cy="1397000"/>
          </a:xfrm>
          <a:prstGeom prst="rect">
            <a:avLst/>
          </a:prstGeom>
          <a:noFill/>
        </p:spPr>
        <p:txBody>
          <a:bodyPr vert="horz" wrap="square" lIns="25400" tIns="12700" rIns="25400" bIns="12700" rtlCol="0" anchor="t">
            <a:noAutofit/>
          </a:bodyPr>
          <a:lstStyle/>
          <a:p>
            <a:pPr>
              <a:spcAft>
                <a:spcPts val="400"/>
              </a:spcAft>
            </a:pPr>
            <a:r>
              <a:rPr lang="vi-VN" sz="1400" b="1">
                <a:solidFill>
                  <a:srgbClr val="000000"/>
                </a:solidFill>
                <a:latin typeface="Times New Roman" panose="02020603050405020304" pitchFamily="18" charset="0"/>
              </a:rPr>
              <a:t>Mục đích: </a:t>
            </a:r>
            <a:r>
              <a:rPr lang="vi-VN" sz="1400">
                <a:solidFill>
                  <a:srgbClr val="000000"/>
                </a:solidFill>
                <a:latin typeface="Times New Roman" panose="02020603050405020304" pitchFamily="18" charset="0"/>
              </a:rPr>
              <a:t>hướng dẫn người dùng thao tác trên phần mềm để tạo hồ sơ dự án và hoàn thiện các nội dung báo cáo test AVI.</a:t>
            </a:r>
          </a:p>
          <a:p>
            <a:pPr>
              <a:spcAft>
                <a:spcPts val="400"/>
              </a:spcAft>
            </a:pPr>
            <a:r>
              <a:rPr lang="vi-VN" sz="1400" b="1">
                <a:solidFill>
                  <a:srgbClr val="000000"/>
                </a:solidFill>
                <a:latin typeface="Times New Roman" panose="02020603050405020304" pitchFamily="18" charset="0"/>
              </a:rPr>
              <a:t>Địa chỉ đăng nhập: </a:t>
            </a:r>
            <a:r>
              <a:rPr lang="vi-VN" sz="1400" u="words">
                <a:solidFill>
                  <a:srgbClr val="0000FF"/>
                </a:solidFill>
                <a:latin typeface="Times New Roman" panose="02020603050405020304" pitchFamily="18" charset="0"/>
                <a:hlinkClick r:id="rId3"/>
              </a:rPr>
              <a:t>https://edu.nmi.vn/</a:t>
            </a:r>
            <a:endParaRPr lang="vi-VN" sz="1400" u="words">
              <a:solidFill>
                <a:srgbClr val="0000FF"/>
              </a:solidFill>
              <a:latin typeface="Times New Roman" panose="02020603050405020304" pitchFamily="18" charset="0"/>
            </a:endParaRPr>
          </a:p>
          <a:p>
            <a:pPr>
              <a:spcAft>
                <a:spcPts val="400"/>
              </a:spcAft>
            </a:pPr>
            <a:r>
              <a:rPr lang="vi-VN" sz="1400" b="1">
                <a:solidFill>
                  <a:srgbClr val="000000"/>
                </a:solidFill>
                <a:latin typeface="Times New Roman" panose="02020603050405020304" pitchFamily="18" charset="0"/>
              </a:rPr>
              <a:t>Phiên bản: </a:t>
            </a:r>
            <a:r>
              <a:rPr lang="vi-VN" sz="1400">
                <a:solidFill>
                  <a:srgbClr val="000000"/>
                </a:solidFill>
                <a:latin typeface="Times New Roman" panose="02020603050405020304" pitchFamily="18" charset="0"/>
              </a:rPr>
              <a:t>1.0   ·   </a:t>
            </a:r>
            <a:r>
              <a:rPr lang="vi-VN" sz="1400" b="1">
                <a:solidFill>
                  <a:srgbClr val="000000"/>
                </a:solidFill>
                <a:latin typeface="Times New Roman" panose="02020603050405020304" pitchFamily="18" charset="0"/>
              </a:rPr>
              <a:t>Ngày ban hành: </a:t>
            </a:r>
            <a:r>
              <a:rPr lang="vi-VN" sz="1400">
                <a:solidFill>
                  <a:srgbClr val="000000"/>
                </a:solidFill>
                <a:latin typeface="Times New Roman" panose="02020603050405020304" pitchFamily="18" charset="0"/>
              </a:rPr>
              <a:t>09/10/2026</a:t>
            </a:r>
          </a:p>
          <a:p>
            <a:pPr>
              <a:spcAft>
                <a:spcPts val="400"/>
              </a:spcAft>
            </a:pPr>
            <a:r>
              <a:rPr lang="vi-VN" sz="1400" b="1">
                <a:solidFill>
                  <a:srgbClr val="000000"/>
                </a:solidFill>
                <a:latin typeface="Times New Roman" panose="02020603050405020304" pitchFamily="18" charset="0"/>
              </a:rPr>
              <a:t>Người soạn: </a:t>
            </a:r>
            <a:r>
              <a:rPr lang="vi-VN" sz="1400">
                <a:solidFill>
                  <a:srgbClr val="000000"/>
                </a:solidFill>
                <a:latin typeface="Times New Roman" panose="02020603050405020304" pitchFamily="18" charset="0"/>
              </a:rPr>
              <a:t>Hồ Thành Vinh, Nguyễn Tuấn Anh</a:t>
            </a:r>
            <a:endParaRPr 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939953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6F1C14-4B17-3387-410D-AC051C7A77B9}"/>
              </a:ext>
            </a:extLst>
          </p:cNvPr>
          <p:cNvSpPr txBox="1"/>
          <p:nvPr/>
        </p:nvSpPr>
        <p:spPr>
          <a:xfrm>
            <a:off x="716030" y="260102"/>
            <a:ext cx="1439818" cy="707886"/>
          </a:xfrm>
          <a:prstGeom prst="rect">
            <a:avLst/>
          </a:prstGeom>
          <a:noFill/>
        </p:spPr>
        <p:txBody>
          <a:bodyPr wrap="none" rtlCol="0">
            <a:spAutoFit/>
          </a:bodyPr>
          <a:lstStyle/>
          <a:p>
            <a:r>
              <a:rPr lang="en-VN" sz="4000" b="1" dirty="0">
                <a:latin typeface="Times New Roman" panose="02020603050405020304" pitchFamily="18" charset="0"/>
                <a:cs typeface="Times New Roman" panose="02020603050405020304" pitchFamily="18" charset="0"/>
              </a:rPr>
              <a:t>Index</a:t>
            </a:r>
          </a:p>
        </p:txBody>
      </p:sp>
      <p:sp>
        <p:nvSpPr>
          <p:cNvPr id="2" name="TextBox 1">
            <a:extLst>
              <a:ext uri="{FF2B5EF4-FFF2-40B4-BE49-F238E27FC236}">
                <a16:creationId xmlns:a16="http://schemas.microsoft.com/office/drawing/2014/main" id="{C2557B9C-D6FB-50A5-949B-8C25E1EBF273}"/>
              </a:ext>
            </a:extLst>
          </p:cNvPr>
          <p:cNvSpPr txBox="1"/>
          <p:nvPr/>
        </p:nvSpPr>
        <p:spPr>
          <a:xfrm>
            <a:off x="711200" y="1066800"/>
            <a:ext cx="10668000" cy="5080000"/>
          </a:xfrm>
          <a:prstGeom prst="rect">
            <a:avLst/>
          </a:prstGeom>
          <a:noFill/>
        </p:spPr>
        <p:txBody>
          <a:bodyPr vert="horz" wrap="square" lIns="25400" tIns="12700" rIns="25400" bIns="12700" rtlCol="0" anchor="t">
            <a:noAutofit/>
          </a:bodyPr>
          <a:lstStyle/>
          <a:p>
            <a:pPr>
              <a:spcAft>
                <a:spcPts val="200"/>
              </a:spcAft>
              <a:tabLst>
                <a:tab pos="558800" algn="l"/>
              </a:tabLst>
            </a:pPr>
            <a:r>
              <a:rPr lang="vi-VN" sz="2200" b="1">
                <a:solidFill>
                  <a:srgbClr val="000000"/>
                </a:solidFill>
                <a:latin typeface="Times New Roman" panose="02020603050405020304" pitchFamily="18" charset="0"/>
              </a:rPr>
              <a:t>I.	Chọn camera, lens</a:t>
            </a:r>
          </a:p>
          <a:p>
            <a:pPr>
              <a:spcAft>
                <a:spcPts val="200"/>
              </a:spcAft>
              <a:tabLst>
                <a:tab pos="558800" algn="l"/>
              </a:tabLst>
            </a:pPr>
            <a:r>
              <a:rPr lang="vi-VN" sz="2200" b="1">
                <a:solidFill>
                  <a:srgbClr val="000000"/>
                </a:solidFill>
                <a:latin typeface="Times New Roman" panose="02020603050405020304" pitchFamily="18" charset="0"/>
              </a:rPr>
              <a:t>II.	Khởi tạo dự án</a:t>
            </a:r>
          </a:p>
          <a:p>
            <a:pPr marL="889000">
              <a:spcAft>
                <a:spcPts val="200"/>
              </a:spcAft>
            </a:pPr>
            <a:r>
              <a:rPr lang="vi-VN" sz="1700" b="1">
                <a:solidFill>
                  <a:srgbClr val="000000"/>
                </a:solidFill>
                <a:latin typeface="Times New Roman" panose="02020603050405020304" pitchFamily="18" charset="0"/>
              </a:rPr>
              <a:t>1. Tạo dự án mới</a:t>
            </a:r>
          </a:p>
          <a:p>
            <a:pPr marL="889000">
              <a:spcAft>
                <a:spcPts val="200"/>
              </a:spcAft>
            </a:pPr>
            <a:r>
              <a:rPr lang="vi-VN" sz="1700" b="1">
                <a:solidFill>
                  <a:srgbClr val="000000"/>
                </a:solidFill>
                <a:latin typeface="Times New Roman" panose="02020603050405020304" pitchFamily="18" charset="0"/>
              </a:rPr>
              <a:t>2. Mở dự án và hoàn thiện 11 nội dung</a:t>
            </a:r>
          </a:p>
          <a:p>
            <a:pPr marL="889000">
              <a:spcAft>
                <a:spcPts val="200"/>
              </a:spcAft>
            </a:pPr>
            <a:r>
              <a:rPr lang="vi-VN" sz="1700" b="1">
                <a:solidFill>
                  <a:srgbClr val="000000"/>
                </a:solidFill>
                <a:latin typeface="Times New Roman" panose="02020603050405020304" pitchFamily="18" charset="0"/>
              </a:rPr>
              <a:t>3. Kiểm tra trước khi hoàn tất</a:t>
            </a:r>
          </a:p>
          <a:p>
            <a:pPr marL="889000">
              <a:spcAft>
                <a:spcPts val="200"/>
              </a:spcAft>
            </a:pPr>
            <a:r>
              <a:rPr lang="vi-VN" sz="1700" b="1">
                <a:solidFill>
                  <a:srgbClr val="000000"/>
                </a:solidFill>
                <a:latin typeface="Times New Roman" panose="02020603050405020304" pitchFamily="18" charset="0"/>
              </a:rPr>
              <a:t>4. Xuất báo cáo giải pháp</a:t>
            </a:r>
          </a:p>
          <a:p>
            <a:pPr>
              <a:spcAft>
                <a:spcPts val="200"/>
              </a:spcAft>
              <a:tabLst>
                <a:tab pos="558800" algn="l"/>
              </a:tabLst>
            </a:pPr>
            <a:r>
              <a:rPr lang="vi-VN" sz="2200" b="1">
                <a:solidFill>
                  <a:srgbClr val="000000"/>
                </a:solidFill>
                <a:latin typeface="Times New Roman" panose="02020603050405020304" pitchFamily="18" charset="0"/>
              </a:rPr>
              <a:t>III.	Phần mềm quản lý dữ liệu ảnh – Vision Image Tool</a:t>
            </a:r>
          </a:p>
          <a:p>
            <a:pPr marL="889000">
              <a:spcAft>
                <a:spcPts val="200"/>
              </a:spcAft>
            </a:pPr>
            <a:r>
              <a:rPr lang="vi-VN" sz="1700" b="1">
                <a:solidFill>
                  <a:srgbClr val="000000"/>
                </a:solidFill>
                <a:latin typeface="Times New Roman" panose="02020603050405020304" pitchFamily="18" charset="0"/>
              </a:rPr>
              <a:t>1. Giới thiệu phần mềm và quy trình 4 bước</a:t>
            </a:r>
          </a:p>
          <a:p>
            <a:pPr marL="889000">
              <a:spcAft>
                <a:spcPts val="200"/>
              </a:spcAft>
            </a:pPr>
            <a:r>
              <a:rPr lang="vi-VN" sz="1700" b="1">
                <a:solidFill>
                  <a:srgbClr val="000000"/>
                </a:solidFill>
                <a:latin typeface="Times New Roman" panose="02020603050405020304" pitchFamily="18" charset="0"/>
              </a:rPr>
              <a:t>2. Luồng thu thập dữ liệu</a:t>
            </a:r>
          </a:p>
          <a:p>
            <a:pPr marL="889000">
              <a:spcAft>
                <a:spcPts val="200"/>
              </a:spcAft>
            </a:pPr>
            <a:r>
              <a:rPr lang="vi-VN" sz="1700" b="1">
                <a:solidFill>
                  <a:srgbClr val="000000"/>
                </a:solidFill>
                <a:latin typeface="Times New Roman" panose="02020603050405020304" pitchFamily="18" charset="0"/>
              </a:rPr>
              <a:t>3. Bước 1 – Chuẩn bị dữ liệu</a:t>
            </a:r>
          </a:p>
          <a:p>
            <a:pPr marL="889000">
              <a:spcAft>
                <a:spcPts val="200"/>
              </a:spcAft>
            </a:pPr>
            <a:r>
              <a:rPr lang="vi-VN" sz="1700" b="1">
                <a:solidFill>
                  <a:srgbClr val="000000"/>
                </a:solidFill>
                <a:latin typeface="Times New Roman" panose="02020603050405020304" pitchFamily="18" charset="0"/>
              </a:rPr>
              <a:t>4. Bước 2 – Nhập Schema cấu trúc tập dữ liệu</a:t>
            </a:r>
          </a:p>
          <a:p>
            <a:pPr marL="889000">
              <a:spcAft>
                <a:spcPts val="200"/>
              </a:spcAft>
            </a:pPr>
            <a:r>
              <a:rPr lang="vi-VN" sz="1700" b="1">
                <a:solidFill>
                  <a:srgbClr val="000000"/>
                </a:solidFill>
                <a:latin typeface="Times New Roman" panose="02020603050405020304" pitchFamily="18" charset="0"/>
              </a:rPr>
              <a:t>5. Bước 3 – Xuất dữ liệu</a:t>
            </a:r>
          </a:p>
          <a:p>
            <a:pPr marL="889000">
              <a:spcAft>
                <a:spcPts val="200"/>
              </a:spcAft>
            </a:pPr>
            <a:r>
              <a:rPr lang="vi-VN" sz="1700" b="1">
                <a:solidFill>
                  <a:srgbClr val="000000"/>
                </a:solidFill>
                <a:latin typeface="Times New Roman" panose="02020603050405020304" pitchFamily="18" charset="0"/>
              </a:rPr>
              <a:t>6. Bước 4 – Nhập dữ liệu lên Q One Edu</a:t>
            </a:r>
          </a:p>
          <a:p>
            <a:pPr>
              <a:spcAft>
                <a:spcPts val="200"/>
              </a:spcAft>
              <a:tabLst>
                <a:tab pos="558800" algn="l"/>
              </a:tabLst>
            </a:pPr>
            <a:r>
              <a:rPr lang="vi-VN" sz="2200" b="1">
                <a:solidFill>
                  <a:srgbClr val="000000"/>
                </a:solidFill>
                <a:latin typeface="Times New Roman" panose="02020603050405020304" pitchFamily="18" charset="0"/>
              </a:rPr>
              <a:t>IV.	Tổng kết</a:t>
            </a:r>
            <a:endParaRPr lang="en-US" sz="2200" b="1">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29700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 CHỌN CAMERA, LENS</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896ADB3-15C1-601E-0027-ED7F7E418F69}"/>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1. Chọn Vision Advisor  ·  2. Điền thông tin để tính toán camera và lens</a:t>
            </a:r>
          </a:p>
        </p:txBody>
      </p:sp>
      <p:sp>
        <p:nvSpPr>
          <p:cNvPr id="3" name="Oval 2">
            <a:extLst>
              <a:ext uri="{FF2B5EF4-FFF2-40B4-BE49-F238E27FC236}">
                <a16:creationId xmlns:a16="http://schemas.microsoft.com/office/drawing/2014/main" id="{7117FECA-3E4F-C17D-5DD0-5ECCEC7ADF28}"/>
              </a:ext>
            </a:extLst>
          </p:cNvPr>
          <p:cNvSpPr/>
          <p:nvPr/>
        </p:nvSpPr>
        <p:spPr>
          <a:xfrm>
            <a:off x="698500" y="12827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9" name="TextBox 8">
            <a:extLst>
              <a:ext uri="{FF2B5EF4-FFF2-40B4-BE49-F238E27FC236}">
                <a16:creationId xmlns:a16="http://schemas.microsoft.com/office/drawing/2014/main" id="{8B9194F9-20C1-0CFE-B350-6706031264CB}"/>
              </a:ext>
            </a:extLst>
          </p:cNvPr>
          <p:cNvSpPr txBox="1"/>
          <p:nvPr/>
        </p:nvSpPr>
        <p:spPr>
          <a:xfrm>
            <a:off x="1054100" y="1270000"/>
            <a:ext cx="4889500" cy="484632"/>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Chọn Vision Advisor</a:t>
            </a:r>
            <a:r>
              <a:rPr lang="en-US" sz="1400">
                <a:solidFill>
                  <a:srgbClr val="000000"/>
                </a:solidFill>
                <a:latin typeface="Times New Roman" panose="02020603050405020304" pitchFamily="18" charset="0"/>
              </a:rPr>
              <a:t> – mở mục Vision Advisor trong menu bên trái</a:t>
            </a:r>
          </a:p>
        </p:txBody>
      </p:sp>
      <p:sp>
        <p:nvSpPr>
          <p:cNvPr id="10" name="Oval 9">
            <a:extLst>
              <a:ext uri="{FF2B5EF4-FFF2-40B4-BE49-F238E27FC236}">
                <a16:creationId xmlns:a16="http://schemas.microsoft.com/office/drawing/2014/main" id="{ECBF2813-003C-303D-CE59-BF1AA906DC81}"/>
              </a:ext>
            </a:extLst>
          </p:cNvPr>
          <p:cNvSpPr/>
          <p:nvPr/>
        </p:nvSpPr>
        <p:spPr>
          <a:xfrm>
            <a:off x="6248400" y="12827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2" name="TextBox 11">
            <a:extLst>
              <a:ext uri="{FF2B5EF4-FFF2-40B4-BE49-F238E27FC236}">
                <a16:creationId xmlns:a16="http://schemas.microsoft.com/office/drawing/2014/main" id="{9E79A067-D801-D175-254A-F79DB717FF6D}"/>
              </a:ext>
            </a:extLst>
          </p:cNvPr>
          <p:cNvSpPr txBox="1"/>
          <p:nvPr/>
        </p:nvSpPr>
        <p:spPr>
          <a:xfrm>
            <a:off x="6604000" y="1270000"/>
            <a:ext cx="4889500" cy="484632"/>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Điền các thông tin cần thiết</a:t>
            </a:r>
            <a:r>
              <a:rPr lang="en-US" sz="1400">
                <a:solidFill>
                  <a:srgbClr val="000000"/>
                </a:solidFill>
                <a:latin typeface="Times New Roman" panose="02020603050405020304" pitchFamily="18" charset="0"/>
              </a:rPr>
              <a:t> – phần mềm tính toán camera và lens phù hợp</a:t>
            </a:r>
          </a:p>
        </p:txBody>
      </p:sp>
      <p:pic>
        <p:nvPicPr>
          <p:cNvPr id="14" name="Picture 13">
            <a:extLst>
              <a:ext uri="{FF2B5EF4-FFF2-40B4-BE49-F238E27FC236}">
                <a16:creationId xmlns:a16="http://schemas.microsoft.com/office/drawing/2014/main" id="{3BF90D7D-0A65-5752-DB8D-4D531E8144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778000"/>
            <a:ext cx="5245100" cy="2546247"/>
          </a:xfrm>
          <a:prstGeom prst="rect">
            <a:avLst/>
          </a:prstGeom>
          <a:ln w="9525">
            <a:solidFill>
              <a:srgbClr val="BFBFBF"/>
            </a:solidFill>
          </a:ln>
        </p:spPr>
      </p:pic>
      <p:pic>
        <p:nvPicPr>
          <p:cNvPr id="16" name="Picture 15">
            <a:extLst>
              <a:ext uri="{FF2B5EF4-FFF2-40B4-BE49-F238E27FC236}">
                <a16:creationId xmlns:a16="http://schemas.microsoft.com/office/drawing/2014/main" id="{1026A560-4632-1223-0E9D-92507E50DA4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48400" y="1778000"/>
            <a:ext cx="5245100" cy="2509723"/>
          </a:xfrm>
          <a:prstGeom prst="rect">
            <a:avLst/>
          </a:prstGeom>
          <a:ln w="9525">
            <a:solidFill>
              <a:srgbClr val="BFBFBF"/>
            </a:solidFill>
          </a:ln>
        </p:spPr>
      </p:pic>
    </p:spTree>
    <p:extLst>
      <p:ext uri="{BB962C8B-B14F-4D97-AF65-F5344CB8AC3E}">
        <p14:creationId xmlns:p14="http://schemas.microsoft.com/office/powerpoint/2010/main" val="2032188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E8D7F28-2FD1-314A-ECD5-6565BB07F1BA}"/>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1. Tạo dự án mới</a:t>
            </a:r>
          </a:p>
        </p:txBody>
      </p:sp>
      <p:pic>
        <p:nvPicPr>
          <p:cNvPr id="9" name="Picture 8">
            <a:extLst>
              <a:ext uri="{FF2B5EF4-FFF2-40B4-BE49-F238E27FC236}">
                <a16:creationId xmlns:a16="http://schemas.microsoft.com/office/drawing/2014/main" id="{7EEBB894-79AD-48DF-BCFA-B9DCC20B6692}"/>
              </a:ext>
            </a:extLst>
          </p:cNvPr>
          <p:cNvPicPr>
            <a:picLocks/>
          </p:cNvPicPr>
          <p:nvPr/>
        </p:nvPicPr>
        <p:blipFill>
          <a:blip r:embed="rId3">
            <a:extLst>
              <a:ext uri="{28A0092B-C50C-407E-A947-70E740481C1C}">
                <a14:useLocalDpi xmlns:a14="http://schemas.microsoft.com/office/drawing/2010/main" val="0"/>
              </a:ext>
            </a:extLst>
          </a:blip>
          <a:srcRect l="16301" t="10068" r="1154" b="9044"/>
          <a:stretch>
            <a:fillRect/>
          </a:stretch>
        </p:blipFill>
        <p:spPr>
          <a:xfrm>
            <a:off x="850900" y="1269999"/>
            <a:ext cx="6497962" cy="3033059"/>
          </a:xfrm>
          <a:prstGeom prst="rect">
            <a:avLst/>
          </a:prstGeom>
          <a:ln w="9525">
            <a:solidFill>
              <a:srgbClr val="BFBFBF"/>
            </a:solidFill>
          </a:ln>
        </p:spPr>
      </p:pic>
      <p:sp>
        <p:nvSpPr>
          <p:cNvPr id="10" name="TextBox 9">
            <a:extLst>
              <a:ext uri="{FF2B5EF4-FFF2-40B4-BE49-F238E27FC236}">
                <a16:creationId xmlns:a16="http://schemas.microsoft.com/office/drawing/2014/main" id="{A48DBD4D-B9AA-F59D-DB03-80AF6C407213}"/>
              </a:ext>
            </a:extLst>
          </p:cNvPr>
          <p:cNvSpPr txBox="1"/>
          <p:nvPr/>
        </p:nvSpPr>
        <p:spPr>
          <a:xfrm>
            <a:off x="698500" y="4441154"/>
            <a:ext cx="6604000" cy="203200"/>
          </a:xfrm>
          <a:prstGeom prst="rect">
            <a:avLst/>
          </a:prstGeom>
          <a:noFill/>
        </p:spPr>
        <p:txBody>
          <a:bodyPr vert="horz" wrap="square" lIns="25400" tIns="12700" rIns="25400" bIns="12700" rtlCol="0" anchor="t">
            <a:noAutofit/>
          </a:bodyPr>
          <a:lstStyle/>
          <a:p>
            <a:pPr algn="ctr"/>
            <a:r>
              <a:rPr lang="vi-VN" sz="1100" i="1">
                <a:solidFill>
                  <a:srgbClr val="595959"/>
                </a:solidFill>
                <a:latin typeface="Times New Roman" panose="02020603050405020304" pitchFamily="18" charset="0"/>
              </a:rPr>
              <a:t>Hồ sơ thiết kế điều kiện test → Dự án mới</a:t>
            </a:r>
            <a:endParaRPr lang="en-US" sz="1100" i="1">
              <a:solidFill>
                <a:srgbClr val="595959"/>
              </a:solidFill>
              <a:latin typeface="Times New Roman" panose="02020603050405020304" pitchFamily="18" charset="0"/>
            </a:endParaRPr>
          </a:p>
        </p:txBody>
      </p:sp>
      <p:pic>
        <p:nvPicPr>
          <p:cNvPr id="13" name="Picture 12">
            <a:extLst>
              <a:ext uri="{FF2B5EF4-FFF2-40B4-BE49-F238E27FC236}">
                <a16:creationId xmlns:a16="http://schemas.microsoft.com/office/drawing/2014/main" id="{A0F33125-EBA4-6B4C-402E-F005074362D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556500" y="1270000"/>
            <a:ext cx="3937000" cy="3416671"/>
          </a:xfrm>
          <a:prstGeom prst="rect">
            <a:avLst/>
          </a:prstGeom>
          <a:ln w="9525">
            <a:solidFill>
              <a:srgbClr val="BFBFBF"/>
            </a:solidFill>
          </a:ln>
        </p:spPr>
      </p:pic>
      <p:sp>
        <p:nvSpPr>
          <p:cNvPr id="14" name="TextBox 13">
            <a:extLst>
              <a:ext uri="{FF2B5EF4-FFF2-40B4-BE49-F238E27FC236}">
                <a16:creationId xmlns:a16="http://schemas.microsoft.com/office/drawing/2014/main" id="{F84190D5-E88F-9450-983B-280765FCA712}"/>
              </a:ext>
            </a:extLst>
          </p:cNvPr>
          <p:cNvSpPr txBox="1"/>
          <p:nvPr/>
        </p:nvSpPr>
        <p:spPr>
          <a:xfrm>
            <a:off x="7556500" y="4712071"/>
            <a:ext cx="3937000" cy="203200"/>
          </a:xfrm>
          <a:prstGeom prst="rect">
            <a:avLst/>
          </a:prstGeom>
          <a:noFill/>
        </p:spPr>
        <p:txBody>
          <a:bodyPr vert="horz" wrap="square" lIns="25400" tIns="12700" rIns="25400" bIns="12700" rtlCol="0" anchor="t">
            <a:noAutofit/>
          </a:bodyPr>
          <a:lstStyle/>
          <a:p>
            <a:pPr algn="ctr"/>
            <a:r>
              <a:rPr lang="en-US" sz="1100" i="1">
                <a:solidFill>
                  <a:srgbClr val="595959"/>
                </a:solidFill>
                <a:latin typeface="Times New Roman" panose="02020603050405020304" pitchFamily="18" charset="0"/>
              </a:rPr>
              <a:t>Biểu mẫu Dự án mới: điền thông tin dự án</a:t>
            </a:r>
          </a:p>
        </p:txBody>
      </p:sp>
      <p:sp>
        <p:nvSpPr>
          <p:cNvPr id="15" name="Rectangle 14">
            <a:extLst>
              <a:ext uri="{FF2B5EF4-FFF2-40B4-BE49-F238E27FC236}">
                <a16:creationId xmlns:a16="http://schemas.microsoft.com/office/drawing/2014/main" id="{F2EE1376-5B85-6D06-696C-279056DE5115}"/>
              </a:ext>
            </a:extLst>
          </p:cNvPr>
          <p:cNvSpPr/>
          <p:nvPr/>
        </p:nvSpPr>
        <p:spPr>
          <a:xfrm>
            <a:off x="698500" y="5308600"/>
            <a:ext cx="6604000" cy="660400"/>
          </a:xfrm>
          <a:prstGeom prst="rect">
            <a:avLst/>
          </a:prstGeom>
          <a:solidFill>
            <a:srgbClr val="E7EEF8"/>
          </a:solidFill>
          <a:ln w="9525">
            <a:solidFill>
              <a:srgbClr val="B4C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F94676-EBE5-CDFB-597D-BCB335C0CE1E}"/>
              </a:ext>
            </a:extLst>
          </p:cNvPr>
          <p:cNvSpPr/>
          <p:nvPr/>
        </p:nvSpPr>
        <p:spPr>
          <a:xfrm>
            <a:off x="698500" y="5308600"/>
            <a:ext cx="50800" cy="660400"/>
          </a:xfrm>
          <a:prstGeom prst="rect">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0FAECAC-C95A-C540-F0C3-E6B336B93510}"/>
              </a:ext>
            </a:extLst>
          </p:cNvPr>
          <p:cNvSpPr txBox="1"/>
          <p:nvPr/>
        </p:nvSpPr>
        <p:spPr>
          <a:xfrm>
            <a:off x="850900" y="5359400"/>
            <a:ext cx="6375400" cy="558800"/>
          </a:xfrm>
          <a:prstGeom prst="rect">
            <a:avLst/>
          </a:prstGeom>
          <a:noFill/>
        </p:spPr>
        <p:txBody>
          <a:bodyPr vert="horz" wrap="square" lIns="25400" tIns="12700" rIns="25400" bIns="12700" rtlCol="0" anchor="ctr">
            <a:noAutofit/>
          </a:bodyPr>
          <a:lstStyle/>
          <a:p>
            <a:r>
              <a:rPr lang="vi-VN" sz="1300" b="1">
                <a:solidFill>
                  <a:srgbClr val="002060"/>
                </a:solidFill>
                <a:latin typeface="Times New Roman" panose="02020603050405020304" pitchFamily="18" charset="0"/>
              </a:rPr>
              <a:t>LƯU Ý</a:t>
            </a:r>
          </a:p>
          <a:p>
            <a:r>
              <a:rPr lang="vi-VN" sz="1300">
                <a:solidFill>
                  <a:srgbClr val="000000"/>
                </a:solidFill>
                <a:latin typeface="Times New Roman" panose="02020603050405020304" pitchFamily="18" charset="0"/>
              </a:rPr>
              <a:t>Nhập đủ các trường hiển thị trên biểu mẫu.</a:t>
            </a:r>
            <a:endParaRPr lang="en-US" sz="13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44071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753120E-5AD7-2DB2-7C25-AFC81E6DFFDA}"/>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2. Mở dự án đã tạo – hồ sơ gồm 11 nội dung</a:t>
            </a:r>
            <a:endParaRPr lang="en-US" sz="1600" b="1">
              <a:solidFill>
                <a:srgbClr val="002060"/>
              </a:solidFill>
              <a:latin typeface="Times New Roman" panose="02020603050405020304" pitchFamily="18" charset="0"/>
            </a:endParaRPr>
          </a:p>
        </p:txBody>
      </p:sp>
      <p:pic>
        <p:nvPicPr>
          <p:cNvPr id="9" name="Picture 8">
            <a:extLst>
              <a:ext uri="{FF2B5EF4-FFF2-40B4-BE49-F238E27FC236}">
                <a16:creationId xmlns:a16="http://schemas.microsoft.com/office/drawing/2014/main" id="{29126D63-2E90-BE37-1064-7E41DDB73E57}"/>
              </a:ext>
            </a:extLst>
          </p:cNvPr>
          <p:cNvPicPr>
            <a:picLocks/>
          </p:cNvPicPr>
          <p:nvPr/>
        </p:nvPicPr>
        <p:blipFill>
          <a:blip r:embed="rId3">
            <a:extLst>
              <a:ext uri="{28A0092B-C50C-407E-A947-70E740481C1C}">
                <a14:useLocalDpi xmlns:a14="http://schemas.microsoft.com/office/drawing/2010/main" val="0"/>
              </a:ext>
            </a:extLst>
          </a:blip>
          <a:srcRect l="19250" t="9007" b="1452"/>
          <a:stretch>
            <a:fillRect/>
          </a:stretch>
        </p:blipFill>
        <p:spPr>
          <a:xfrm>
            <a:off x="277556" y="1270000"/>
            <a:ext cx="5630695" cy="3190200"/>
          </a:xfrm>
          <a:prstGeom prst="rect">
            <a:avLst/>
          </a:prstGeom>
          <a:ln w="9525">
            <a:solidFill>
              <a:srgbClr val="BFBFBF"/>
            </a:solidFill>
          </a:ln>
        </p:spPr>
      </p:pic>
      <p:sp>
        <p:nvSpPr>
          <p:cNvPr id="10" name="TextBox 9">
            <a:extLst>
              <a:ext uri="{FF2B5EF4-FFF2-40B4-BE49-F238E27FC236}">
                <a16:creationId xmlns:a16="http://schemas.microsoft.com/office/drawing/2014/main" id="{5CF3A80C-4069-F2B9-6813-FE2A9E8274DE}"/>
              </a:ext>
            </a:extLst>
          </p:cNvPr>
          <p:cNvSpPr txBox="1"/>
          <p:nvPr/>
        </p:nvSpPr>
        <p:spPr>
          <a:xfrm>
            <a:off x="277555" y="4587200"/>
            <a:ext cx="5579896" cy="228600"/>
          </a:xfrm>
          <a:prstGeom prst="rect">
            <a:avLst/>
          </a:prstGeom>
          <a:noFill/>
        </p:spPr>
        <p:txBody>
          <a:bodyPr vert="horz" wrap="square" lIns="25400" tIns="12700" rIns="25400" bIns="12700" rtlCol="0" anchor="t">
            <a:noAutofit/>
          </a:bodyPr>
          <a:lstStyle/>
          <a:p>
            <a:pPr algn="ctr"/>
            <a:r>
              <a:rPr lang="en-US" sz="1100" i="1" dirty="0">
                <a:solidFill>
                  <a:srgbClr val="595959"/>
                </a:solidFill>
                <a:latin typeface="Times New Roman" panose="02020603050405020304" pitchFamily="18" charset="0"/>
              </a:rPr>
              <a:t>Danh </a:t>
            </a:r>
            <a:r>
              <a:rPr lang="en-US" sz="1100" i="1" dirty="0" err="1">
                <a:solidFill>
                  <a:srgbClr val="595959"/>
                </a:solidFill>
                <a:latin typeface="Times New Roman" panose="02020603050405020304" pitchFamily="18" charset="0"/>
              </a:rPr>
              <a:t>sách</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dự</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án</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đã</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tạo</a:t>
            </a:r>
            <a:endParaRPr lang="en-US" sz="1100" i="1" dirty="0">
              <a:solidFill>
                <a:srgbClr val="595959"/>
              </a:solidFill>
              <a:latin typeface="Times New Roman" panose="02020603050405020304" pitchFamily="18" charset="0"/>
            </a:endParaRPr>
          </a:p>
        </p:txBody>
      </p:sp>
      <p:graphicFrame>
        <p:nvGraphicFramePr>
          <p:cNvPr id="12" name="Table 11">
            <a:extLst>
              <a:ext uri="{FF2B5EF4-FFF2-40B4-BE49-F238E27FC236}">
                <a16:creationId xmlns:a16="http://schemas.microsoft.com/office/drawing/2014/main" id="{592665F1-4B20-595A-82ED-7F4D0385D8FF}"/>
              </a:ext>
            </a:extLst>
          </p:cNvPr>
          <p:cNvGraphicFramePr>
            <a:graphicFrameLocks noGrp="1"/>
          </p:cNvGraphicFramePr>
          <p:nvPr>
            <p:extLst>
              <p:ext uri="{D42A27DB-BD31-4B8C-83A1-F6EECF244321}">
                <p14:modId xmlns:p14="http://schemas.microsoft.com/office/powerpoint/2010/main" val="203157402"/>
              </p:ext>
            </p:extLst>
          </p:nvPr>
        </p:nvGraphicFramePr>
        <p:xfrm>
          <a:off x="6032500" y="1270000"/>
          <a:ext cx="5461000" cy="3683000"/>
        </p:xfrm>
        <a:graphic>
          <a:graphicData uri="http://schemas.openxmlformats.org/drawingml/2006/table">
            <a:tbl>
              <a:tblPr firstRow="1" bandRow="1">
                <a:tableStyleId>{5940675A-B579-460E-94D1-54222C63F5DA}</a:tableStyleId>
              </a:tblPr>
              <a:tblGrid>
                <a:gridCol w="508000">
                  <a:extLst>
                    <a:ext uri="{9D8B030D-6E8A-4147-A177-3AD203B41FA5}">
                      <a16:colId xmlns:a16="http://schemas.microsoft.com/office/drawing/2014/main" val="1683547055"/>
                    </a:ext>
                  </a:extLst>
                </a:gridCol>
                <a:gridCol w="3175000">
                  <a:extLst>
                    <a:ext uri="{9D8B030D-6E8A-4147-A177-3AD203B41FA5}">
                      <a16:colId xmlns:a16="http://schemas.microsoft.com/office/drawing/2014/main" val="3372364984"/>
                    </a:ext>
                  </a:extLst>
                </a:gridCol>
                <a:gridCol w="1778000">
                  <a:extLst>
                    <a:ext uri="{9D8B030D-6E8A-4147-A177-3AD203B41FA5}">
                      <a16:colId xmlns:a16="http://schemas.microsoft.com/office/drawing/2014/main" val="1881666072"/>
                    </a:ext>
                  </a:extLst>
                </a:gridCol>
              </a:tblGrid>
              <a:tr h="330200">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Nội dung</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Thực hiện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76345783"/>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1</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Tài liệu khách hàng cung cấp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Sale cung cấp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905588907"/>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2</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Báo cáo khảo sát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Sale cung cấp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4057005654"/>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3</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Chọn điều kiện test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Người dùng nhập</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174468448"/>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4</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Mô phỏng bố trí</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Tự hiển thị</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2216148702"/>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5</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Vị trí kiểm tra</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Người dùng nhập</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827603754"/>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6</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Bom list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Người dùng nhập</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4157073329"/>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7</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Sơ đồ kết nối hệ thống</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Người dùng nhập</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962370997"/>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8</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Cycle time</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Người dùng nhập</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2200011582"/>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9</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Thông tin / ảnh đánh giá</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Nhập / import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613520470"/>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10</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Đánh giá</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Nhập / tự chuyển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3165671801"/>
                  </a:ext>
                </a:extLst>
              </a:tr>
              <a:tr h="304800">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11</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Kết quả đánh giá tự động</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Tự tổng hợp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995174836"/>
                  </a:ext>
                </a:extLst>
              </a:tr>
            </a:tbl>
          </a:graphicData>
        </a:graphic>
      </p:graphicFrame>
      <p:sp>
        <p:nvSpPr>
          <p:cNvPr id="13" name="Rectangle 12">
            <a:extLst>
              <a:ext uri="{FF2B5EF4-FFF2-40B4-BE49-F238E27FC236}">
                <a16:creationId xmlns:a16="http://schemas.microsoft.com/office/drawing/2014/main" id="{DD1A1E59-7036-5FFC-149B-BDEC6EFD0750}"/>
              </a:ext>
            </a:extLst>
          </p:cNvPr>
          <p:cNvSpPr/>
          <p:nvPr/>
        </p:nvSpPr>
        <p:spPr>
          <a:xfrm>
            <a:off x="698500" y="5080000"/>
            <a:ext cx="5080000" cy="889000"/>
          </a:xfrm>
          <a:prstGeom prst="rect">
            <a:avLst/>
          </a:prstGeom>
          <a:solidFill>
            <a:srgbClr val="E7EEF8"/>
          </a:solidFill>
          <a:ln w="9525">
            <a:solidFill>
              <a:srgbClr val="B4C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AB92D7C-A060-5484-48CD-97C92B3850D4}"/>
              </a:ext>
            </a:extLst>
          </p:cNvPr>
          <p:cNvSpPr/>
          <p:nvPr/>
        </p:nvSpPr>
        <p:spPr>
          <a:xfrm>
            <a:off x="698500" y="5080000"/>
            <a:ext cx="50800" cy="889000"/>
          </a:xfrm>
          <a:prstGeom prst="rect">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1FB93A9-9073-A683-3ECE-026671EEE9F0}"/>
              </a:ext>
            </a:extLst>
          </p:cNvPr>
          <p:cNvSpPr txBox="1"/>
          <p:nvPr/>
        </p:nvSpPr>
        <p:spPr>
          <a:xfrm>
            <a:off x="850900" y="5130800"/>
            <a:ext cx="4851400" cy="787400"/>
          </a:xfrm>
          <a:prstGeom prst="rect">
            <a:avLst/>
          </a:prstGeom>
          <a:noFill/>
        </p:spPr>
        <p:txBody>
          <a:bodyPr vert="horz" wrap="square" lIns="25400" tIns="12700" rIns="25400" bIns="12700" rtlCol="0" anchor="ctr">
            <a:noAutofit/>
          </a:bodyPr>
          <a:lstStyle/>
          <a:p>
            <a:r>
              <a:rPr lang="vi-VN" sz="1300" b="1">
                <a:solidFill>
                  <a:srgbClr val="002060"/>
                </a:solidFill>
                <a:latin typeface="Times New Roman" panose="02020603050405020304" pitchFamily="18" charset="0"/>
              </a:rPr>
              <a:t>LƯU Ý</a:t>
            </a:r>
          </a:p>
          <a:p>
            <a:r>
              <a:rPr lang="vi-VN" sz="1300">
                <a:solidFill>
                  <a:srgbClr val="000000"/>
                </a:solidFill>
                <a:latin typeface="Times New Roman" panose="02020603050405020304" pitchFamily="18" charset="0"/>
              </a:rPr>
              <a:t>Nội dung 1 và 2: liên hệ bộ phận sale cung cấp thông tin.</a:t>
            </a:r>
            <a:endParaRPr lang="en-US" sz="13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220639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0EAC849-BEF1-F0F1-2566-8404CD0B935F}"/>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2.3. Nội dung 3 – Chọn điều kiện test</a:t>
            </a:r>
          </a:p>
        </p:txBody>
      </p:sp>
      <p:sp>
        <p:nvSpPr>
          <p:cNvPr id="3" name="TextBox 2">
            <a:extLst>
              <a:ext uri="{FF2B5EF4-FFF2-40B4-BE49-F238E27FC236}">
                <a16:creationId xmlns:a16="http://schemas.microsoft.com/office/drawing/2014/main" id="{45BF4028-DC57-75CB-49E2-3831CE38051F}"/>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Thao tác: </a:t>
            </a:r>
            <a:r>
              <a:rPr lang="en-US" sz="1400">
                <a:solidFill>
                  <a:srgbClr val="000000"/>
                </a:solidFill>
                <a:latin typeface="Times New Roman" panose="02020603050405020304" pitchFamily="18" charset="0"/>
              </a:rPr>
              <a:t>điền đầy đủ thông tin đã chọn.</a:t>
            </a:r>
          </a:p>
        </p:txBody>
      </p:sp>
      <p:pic>
        <p:nvPicPr>
          <p:cNvPr id="10" name="Picture 9">
            <a:extLst>
              <a:ext uri="{FF2B5EF4-FFF2-40B4-BE49-F238E27FC236}">
                <a16:creationId xmlns:a16="http://schemas.microsoft.com/office/drawing/2014/main" id="{6859282C-BC8F-497F-28D0-D9297ED8F82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600200"/>
            <a:ext cx="5207000" cy="2521367"/>
          </a:xfrm>
          <a:prstGeom prst="rect">
            <a:avLst/>
          </a:prstGeom>
          <a:ln w="9525">
            <a:solidFill>
              <a:srgbClr val="BFBFBF"/>
            </a:solidFill>
          </a:ln>
        </p:spPr>
      </p:pic>
      <p:sp>
        <p:nvSpPr>
          <p:cNvPr id="12" name="TextBox 11">
            <a:extLst>
              <a:ext uri="{FF2B5EF4-FFF2-40B4-BE49-F238E27FC236}">
                <a16:creationId xmlns:a16="http://schemas.microsoft.com/office/drawing/2014/main" id="{D5A51C12-B3BD-1AB5-FFB2-BE66FFE58FA9}"/>
              </a:ext>
            </a:extLst>
          </p:cNvPr>
          <p:cNvSpPr txBox="1"/>
          <p:nvPr/>
        </p:nvSpPr>
        <p:spPr>
          <a:xfrm>
            <a:off x="698500" y="4146967"/>
            <a:ext cx="5207000" cy="203200"/>
          </a:xfrm>
          <a:prstGeom prst="rect">
            <a:avLst/>
          </a:prstGeom>
          <a:noFill/>
        </p:spPr>
        <p:txBody>
          <a:bodyPr vert="horz" wrap="square" lIns="25400" tIns="12700" rIns="25400" bIns="12700" rtlCol="0" anchor="t">
            <a:noAutofit/>
          </a:bodyPr>
          <a:lstStyle/>
          <a:p>
            <a:pPr algn="ctr"/>
            <a:r>
              <a:rPr lang="en-US" sz="1100" i="1">
                <a:solidFill>
                  <a:srgbClr val="595959"/>
                </a:solidFill>
                <a:latin typeface="Times New Roman" panose="02020603050405020304" pitchFamily="18" charset="0"/>
              </a:rPr>
              <a:t>Nhập điều kiện test</a:t>
            </a:r>
          </a:p>
        </p:txBody>
      </p:sp>
      <p:pic>
        <p:nvPicPr>
          <p:cNvPr id="14" name="Picture 13">
            <a:extLst>
              <a:ext uri="{FF2B5EF4-FFF2-40B4-BE49-F238E27FC236}">
                <a16:creationId xmlns:a16="http://schemas.microsoft.com/office/drawing/2014/main" id="{F99FBC0F-659B-44D5-4D7A-E9FAA8F07830}"/>
              </a:ext>
            </a:extLst>
          </p:cNvPr>
          <p:cNvPicPr>
            <a:picLocks/>
          </p:cNvPicPr>
          <p:nvPr/>
        </p:nvPicPr>
        <p:blipFill>
          <a:blip r:embed="rId4">
            <a:extLst>
              <a:ext uri="{28A0092B-C50C-407E-A947-70E740481C1C}">
                <a14:useLocalDpi xmlns:a14="http://schemas.microsoft.com/office/drawing/2010/main" val="0"/>
              </a:ext>
            </a:extLst>
          </a:blip>
          <a:srcRect l="17465"/>
          <a:stretch>
            <a:fillRect/>
          </a:stretch>
        </p:blipFill>
        <p:spPr>
          <a:xfrm>
            <a:off x="6069438" y="1650999"/>
            <a:ext cx="5849740" cy="2470567"/>
          </a:xfrm>
          <a:prstGeom prst="rect">
            <a:avLst/>
          </a:prstGeom>
          <a:ln w="9525">
            <a:solidFill>
              <a:srgbClr val="BFBFBF"/>
            </a:solidFill>
          </a:ln>
        </p:spPr>
      </p:pic>
      <p:sp>
        <p:nvSpPr>
          <p:cNvPr id="15" name="TextBox 14">
            <a:extLst>
              <a:ext uri="{FF2B5EF4-FFF2-40B4-BE49-F238E27FC236}">
                <a16:creationId xmlns:a16="http://schemas.microsoft.com/office/drawing/2014/main" id="{9A5D9266-C601-1494-BABB-788637D25C52}"/>
              </a:ext>
            </a:extLst>
          </p:cNvPr>
          <p:cNvSpPr txBox="1"/>
          <p:nvPr/>
        </p:nvSpPr>
        <p:spPr>
          <a:xfrm>
            <a:off x="6159500" y="4146967"/>
            <a:ext cx="5334000" cy="203200"/>
          </a:xfrm>
          <a:prstGeom prst="rect">
            <a:avLst/>
          </a:prstGeom>
          <a:noFill/>
        </p:spPr>
        <p:txBody>
          <a:bodyPr vert="horz" wrap="square" lIns="25400" tIns="12700" rIns="25400" bIns="12700" rtlCol="0" anchor="t">
            <a:noAutofit/>
          </a:bodyPr>
          <a:lstStyle/>
          <a:p>
            <a:pPr algn="ctr"/>
            <a:r>
              <a:rPr lang="en-US" sz="1100" i="1" dirty="0" err="1">
                <a:solidFill>
                  <a:srgbClr val="595959"/>
                </a:solidFill>
                <a:latin typeface="Times New Roman" panose="02020603050405020304" pitchFamily="18" charset="0"/>
              </a:rPr>
              <a:t>Kết</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quả</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sau</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khi</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nhập</a:t>
            </a:r>
            <a:endParaRPr lang="en-US" sz="1100" i="1" dirty="0">
              <a:solidFill>
                <a:srgbClr val="595959"/>
              </a:solidFill>
              <a:latin typeface="Times New Roman" panose="02020603050405020304" pitchFamily="18" charset="0"/>
            </a:endParaRPr>
          </a:p>
        </p:txBody>
      </p:sp>
      <p:sp>
        <p:nvSpPr>
          <p:cNvPr id="16" name="Rectangle 15">
            <a:extLst>
              <a:ext uri="{FF2B5EF4-FFF2-40B4-BE49-F238E27FC236}">
                <a16:creationId xmlns:a16="http://schemas.microsoft.com/office/drawing/2014/main" id="{A06BDD29-12E6-5F84-0A21-596F92FD43DD}"/>
              </a:ext>
            </a:extLst>
          </p:cNvPr>
          <p:cNvSpPr/>
          <p:nvPr/>
        </p:nvSpPr>
        <p:spPr>
          <a:xfrm>
            <a:off x="698500" y="5232400"/>
            <a:ext cx="10795000" cy="762000"/>
          </a:xfrm>
          <a:prstGeom prst="rect">
            <a:avLst/>
          </a:prstGeom>
          <a:solidFill>
            <a:srgbClr val="FDECEA"/>
          </a:solidFill>
          <a:ln w="9525">
            <a:solidFill>
              <a:srgbClr val="F4B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EFE3ACE-E425-8F80-CA27-6C27D4EB34BF}"/>
              </a:ext>
            </a:extLst>
          </p:cNvPr>
          <p:cNvSpPr/>
          <p:nvPr/>
        </p:nvSpPr>
        <p:spPr>
          <a:xfrm>
            <a:off x="698500" y="5232400"/>
            <a:ext cx="50800" cy="7620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15F6C78-46AE-0F66-FA5D-6C210EED687B}"/>
              </a:ext>
            </a:extLst>
          </p:cNvPr>
          <p:cNvSpPr txBox="1"/>
          <p:nvPr/>
        </p:nvSpPr>
        <p:spPr>
          <a:xfrm>
            <a:off x="850900" y="5283200"/>
            <a:ext cx="10566400" cy="660400"/>
          </a:xfrm>
          <a:prstGeom prst="rect">
            <a:avLst/>
          </a:prstGeom>
          <a:noFill/>
        </p:spPr>
        <p:txBody>
          <a:bodyPr vert="horz" wrap="square" lIns="25400" tIns="12700" rIns="25400" bIns="12700" rtlCol="0" anchor="ctr">
            <a:noAutofit/>
          </a:bodyPr>
          <a:lstStyle/>
          <a:p>
            <a:r>
              <a:rPr lang="vi-VN" sz="1300" b="1">
                <a:solidFill>
                  <a:srgbClr val="C00000"/>
                </a:solidFill>
                <a:latin typeface="Times New Roman" panose="02020603050405020304" pitchFamily="18" charset="0"/>
              </a:rPr>
              <a:t>CẢNH BÁO</a:t>
            </a:r>
          </a:p>
          <a:p>
            <a:r>
              <a:rPr lang="vi-VN" sz="1300">
                <a:solidFill>
                  <a:srgbClr val="000000"/>
                </a:solidFill>
                <a:latin typeface="Times New Roman" panose="02020603050405020304" pitchFamily="18" charset="0"/>
              </a:rPr>
              <a:t>Không bỏ trống trường bắt buộc; kiểm tra thông tin đã chọn trước khi lưu. Những thông tin không có cần báo leader tạo thêm thiết bị bổ sung hệ thống.</a:t>
            </a:r>
            <a:endParaRPr lang="en-US" sz="13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9352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D86A2CC-3355-25F7-FA0F-3E97BF0552DC}"/>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2.4. Nội dung 4 – Mô phỏng bố trí</a:t>
            </a:r>
          </a:p>
        </p:txBody>
      </p:sp>
      <p:sp>
        <p:nvSpPr>
          <p:cNvPr id="3" name="TextBox 2">
            <a:extLst>
              <a:ext uri="{FF2B5EF4-FFF2-40B4-BE49-F238E27FC236}">
                <a16:creationId xmlns:a16="http://schemas.microsoft.com/office/drawing/2014/main" id="{ED02329F-030B-2419-63F0-BCDF08259D1E}"/>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Sau khi hoàn thành Nội dung 3, phần mềm sẽ hiển thị mô phỏng bố trí.</a:t>
            </a:r>
          </a:p>
        </p:txBody>
      </p:sp>
      <p:pic>
        <p:nvPicPr>
          <p:cNvPr id="10" name="Picture 9">
            <a:extLst>
              <a:ext uri="{FF2B5EF4-FFF2-40B4-BE49-F238E27FC236}">
                <a16:creationId xmlns:a16="http://schemas.microsoft.com/office/drawing/2014/main" id="{52126DA4-128D-312B-49AC-C211BD4C3792}"/>
              </a:ext>
            </a:extLst>
          </p:cNvPr>
          <p:cNvPicPr>
            <a:picLocks/>
          </p:cNvPicPr>
          <p:nvPr/>
        </p:nvPicPr>
        <p:blipFill>
          <a:blip r:embed="rId3">
            <a:extLst>
              <a:ext uri="{28A0092B-C50C-407E-A947-70E740481C1C}">
                <a14:useLocalDpi xmlns:a14="http://schemas.microsoft.com/office/drawing/2010/main" val="0"/>
              </a:ext>
            </a:extLst>
          </a:blip>
          <a:srcRect l="19905" t="13336"/>
          <a:stretch>
            <a:fillRect/>
          </a:stretch>
        </p:blipFill>
        <p:spPr>
          <a:xfrm>
            <a:off x="1750201" y="1651000"/>
            <a:ext cx="8690153" cy="4657165"/>
          </a:xfrm>
          <a:prstGeom prst="rect">
            <a:avLst/>
          </a:prstGeom>
          <a:ln w="9525">
            <a:solidFill>
              <a:srgbClr val="BFBFBF"/>
            </a:solidFill>
          </a:ln>
        </p:spPr>
      </p:pic>
    </p:spTree>
    <p:extLst>
      <p:ext uri="{BB962C8B-B14F-4D97-AF65-F5344CB8AC3E}">
        <p14:creationId xmlns:p14="http://schemas.microsoft.com/office/powerpoint/2010/main" val="4040611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D010AA1-BC9A-8AE0-4DE6-96CDB7434478}"/>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2.5. Nội dung 5 – Vị trí kiểm tra</a:t>
            </a:r>
          </a:p>
        </p:txBody>
      </p:sp>
      <p:sp>
        <p:nvSpPr>
          <p:cNvPr id="3" name="Oval 2">
            <a:extLst>
              <a:ext uri="{FF2B5EF4-FFF2-40B4-BE49-F238E27FC236}">
                <a16:creationId xmlns:a16="http://schemas.microsoft.com/office/drawing/2014/main" id="{DC057B29-F7FF-CD47-8EBD-E1900EF294FE}"/>
              </a:ext>
            </a:extLst>
          </p:cNvPr>
          <p:cNvSpPr/>
          <p:nvPr/>
        </p:nvSpPr>
        <p:spPr>
          <a:xfrm>
            <a:off x="698500" y="16637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9" name="TextBox 8">
            <a:extLst>
              <a:ext uri="{FF2B5EF4-FFF2-40B4-BE49-F238E27FC236}">
                <a16:creationId xmlns:a16="http://schemas.microsoft.com/office/drawing/2014/main" id="{165171E2-A6C8-6EAE-05A2-4A5727E955F7}"/>
              </a:ext>
            </a:extLst>
          </p:cNvPr>
          <p:cNvSpPr txBox="1"/>
          <p:nvPr/>
        </p:nvSpPr>
        <p:spPr>
          <a:xfrm>
            <a:off x="1054100" y="1651000"/>
            <a:ext cx="2184400" cy="484632"/>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Điền đủ các trường thông tin</a:t>
            </a:r>
            <a:endParaRPr lang="en-US" sz="1400" b="1">
              <a:solidFill>
                <a:srgbClr val="000000"/>
              </a:solidFill>
              <a:latin typeface="Times New Roman" panose="02020603050405020304" pitchFamily="18" charset="0"/>
            </a:endParaRPr>
          </a:p>
        </p:txBody>
      </p:sp>
      <p:pic>
        <p:nvPicPr>
          <p:cNvPr id="12" name="Picture 11">
            <a:extLst>
              <a:ext uri="{FF2B5EF4-FFF2-40B4-BE49-F238E27FC236}">
                <a16:creationId xmlns:a16="http://schemas.microsoft.com/office/drawing/2014/main" id="{A18B60C4-BD32-F2B4-40F1-8BD9AAEBB0C1}"/>
              </a:ext>
            </a:extLst>
          </p:cNvPr>
          <p:cNvPicPr>
            <a:picLocks/>
          </p:cNvPicPr>
          <p:nvPr/>
        </p:nvPicPr>
        <p:blipFill>
          <a:blip r:embed="rId3">
            <a:extLst>
              <a:ext uri="{28A0092B-C50C-407E-A947-70E740481C1C}">
                <a14:useLocalDpi xmlns:a14="http://schemas.microsoft.com/office/drawing/2010/main" val="0"/>
              </a:ext>
            </a:extLst>
          </a:blip>
          <a:srcRect l="16620"/>
          <a:stretch>
            <a:fillRect/>
          </a:stretch>
        </p:blipFill>
        <p:spPr>
          <a:xfrm>
            <a:off x="3892970" y="833099"/>
            <a:ext cx="6215069" cy="2707959"/>
          </a:xfrm>
          <a:prstGeom prst="rect">
            <a:avLst/>
          </a:prstGeom>
          <a:ln w="9525">
            <a:solidFill>
              <a:srgbClr val="BFBFBF"/>
            </a:solidFill>
          </a:ln>
        </p:spPr>
      </p:pic>
      <p:sp>
        <p:nvSpPr>
          <p:cNvPr id="13" name="Oval 12">
            <a:extLst>
              <a:ext uri="{FF2B5EF4-FFF2-40B4-BE49-F238E27FC236}">
                <a16:creationId xmlns:a16="http://schemas.microsoft.com/office/drawing/2014/main" id="{6E47C2C3-5383-A233-5A4F-D7ABF8A19E47}"/>
              </a:ext>
            </a:extLst>
          </p:cNvPr>
          <p:cNvSpPr/>
          <p:nvPr/>
        </p:nvSpPr>
        <p:spPr>
          <a:xfrm>
            <a:off x="698500" y="40767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4" name="TextBox 13">
            <a:extLst>
              <a:ext uri="{FF2B5EF4-FFF2-40B4-BE49-F238E27FC236}">
                <a16:creationId xmlns:a16="http://schemas.microsoft.com/office/drawing/2014/main" id="{D24E3776-11D6-964F-7F39-D0DBF222A7D1}"/>
              </a:ext>
            </a:extLst>
          </p:cNvPr>
          <p:cNvSpPr txBox="1"/>
          <p:nvPr/>
        </p:nvSpPr>
        <p:spPr>
          <a:xfrm>
            <a:off x="1054100" y="4064000"/>
            <a:ext cx="2184400" cy="484632"/>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Kết quả sau khi điền thông tin</a:t>
            </a:r>
          </a:p>
        </p:txBody>
      </p:sp>
      <p:pic>
        <p:nvPicPr>
          <p:cNvPr id="16" name="Picture 15">
            <a:extLst>
              <a:ext uri="{FF2B5EF4-FFF2-40B4-BE49-F238E27FC236}">
                <a16:creationId xmlns:a16="http://schemas.microsoft.com/office/drawing/2014/main" id="{7C54C1E2-9517-8D9E-24A2-CDD3BA07471D}"/>
              </a:ext>
            </a:extLst>
          </p:cNvPr>
          <p:cNvPicPr>
            <a:picLocks/>
          </p:cNvPicPr>
          <p:nvPr/>
        </p:nvPicPr>
        <p:blipFill>
          <a:blip r:embed="rId4">
            <a:extLst>
              <a:ext uri="{28A0092B-C50C-407E-A947-70E740481C1C}">
                <a14:useLocalDpi xmlns:a14="http://schemas.microsoft.com/office/drawing/2010/main" val="0"/>
              </a:ext>
            </a:extLst>
          </a:blip>
          <a:srcRect l="28434" t="18328" b="14007"/>
          <a:stretch>
            <a:fillRect/>
          </a:stretch>
        </p:blipFill>
        <p:spPr>
          <a:xfrm>
            <a:off x="3892969" y="3563261"/>
            <a:ext cx="5470113" cy="2568597"/>
          </a:xfrm>
          <a:prstGeom prst="rect">
            <a:avLst/>
          </a:prstGeom>
          <a:ln w="9525">
            <a:solidFill>
              <a:srgbClr val="BFBFBF"/>
            </a:solidFill>
          </a:ln>
        </p:spPr>
      </p:pic>
    </p:spTree>
    <p:extLst>
      <p:ext uri="{BB962C8B-B14F-4D97-AF65-F5344CB8AC3E}">
        <p14:creationId xmlns:p14="http://schemas.microsoft.com/office/powerpoint/2010/main" val="1579115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600C69A-53A1-4A44-8ACB-2196D93FBC4F}"/>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2.6. Nội dung 6 – Bom list</a:t>
            </a:r>
          </a:p>
        </p:txBody>
      </p:sp>
      <p:sp>
        <p:nvSpPr>
          <p:cNvPr id="3" name="TextBox 2">
            <a:extLst>
              <a:ext uri="{FF2B5EF4-FFF2-40B4-BE49-F238E27FC236}">
                <a16:creationId xmlns:a16="http://schemas.microsoft.com/office/drawing/2014/main" id="{AF88E283-1669-800F-EE65-1A8C301C3D54}"/>
              </a:ext>
            </a:extLst>
          </p:cNvPr>
          <p:cNvSpPr txBox="1"/>
          <p:nvPr/>
        </p:nvSpPr>
        <p:spPr>
          <a:xfrm>
            <a:off x="698500" y="1270000"/>
            <a:ext cx="3810000" cy="254000"/>
          </a:xfrm>
          <a:prstGeom prst="rect">
            <a:avLst/>
          </a:prstGeom>
          <a:noFill/>
        </p:spPr>
        <p:txBody>
          <a:bodyPr vert="horz" wrap="square" lIns="25400" tIns="12700" rIns="25400" bIns="12700" rtlCol="0" anchor="t">
            <a:noAutofit/>
          </a:bodyPr>
          <a:lstStyle/>
          <a:p>
            <a:r>
              <a:rPr lang="en-US" sz="1400" b="1">
                <a:solidFill>
                  <a:srgbClr val="002060"/>
                </a:solidFill>
                <a:latin typeface="Times New Roman" panose="02020603050405020304" pitchFamily="18" charset="0"/>
              </a:rPr>
              <a:t>Có 2 cách:</a:t>
            </a:r>
          </a:p>
        </p:txBody>
      </p:sp>
      <p:sp>
        <p:nvSpPr>
          <p:cNvPr id="9" name="Oval 8">
            <a:extLst>
              <a:ext uri="{FF2B5EF4-FFF2-40B4-BE49-F238E27FC236}">
                <a16:creationId xmlns:a16="http://schemas.microsoft.com/office/drawing/2014/main" id="{1916A18B-93DB-309A-87F4-509A6D0467C1}"/>
              </a:ext>
            </a:extLst>
          </p:cNvPr>
          <p:cNvSpPr/>
          <p:nvPr/>
        </p:nvSpPr>
        <p:spPr>
          <a:xfrm>
            <a:off x="698500" y="16129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0" name="TextBox 9">
            <a:extLst>
              <a:ext uri="{FF2B5EF4-FFF2-40B4-BE49-F238E27FC236}">
                <a16:creationId xmlns:a16="http://schemas.microsoft.com/office/drawing/2014/main" id="{656EC3AC-1267-E50F-D383-EBF8742B5279}"/>
              </a:ext>
            </a:extLst>
          </p:cNvPr>
          <p:cNvSpPr txBox="1"/>
          <p:nvPr/>
        </p:nvSpPr>
        <p:spPr>
          <a:xfrm>
            <a:off x="1054100" y="1600200"/>
            <a:ext cx="3454400" cy="267716"/>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Thêm dòng BOM</a:t>
            </a:r>
            <a:r>
              <a:rPr lang="en-US" sz="1400">
                <a:solidFill>
                  <a:srgbClr val="000000"/>
                </a:solidFill>
                <a:latin typeface="Times New Roman" panose="02020603050405020304" pitchFamily="18" charset="0"/>
              </a:rPr>
              <a:t> và nhập thông tin</a:t>
            </a:r>
          </a:p>
        </p:txBody>
      </p:sp>
      <p:sp>
        <p:nvSpPr>
          <p:cNvPr id="12" name="Oval 11">
            <a:extLst>
              <a:ext uri="{FF2B5EF4-FFF2-40B4-BE49-F238E27FC236}">
                <a16:creationId xmlns:a16="http://schemas.microsoft.com/office/drawing/2014/main" id="{217111F7-8A54-1556-1E01-EC752751256F}"/>
              </a:ext>
            </a:extLst>
          </p:cNvPr>
          <p:cNvSpPr/>
          <p:nvPr/>
        </p:nvSpPr>
        <p:spPr>
          <a:xfrm>
            <a:off x="698500" y="2007616"/>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3" name="TextBox 12">
            <a:extLst>
              <a:ext uri="{FF2B5EF4-FFF2-40B4-BE49-F238E27FC236}">
                <a16:creationId xmlns:a16="http://schemas.microsoft.com/office/drawing/2014/main" id="{8A1032B2-9C5E-4147-FFB6-76261AC593FD}"/>
              </a:ext>
            </a:extLst>
          </p:cNvPr>
          <p:cNvSpPr txBox="1"/>
          <p:nvPr/>
        </p:nvSpPr>
        <p:spPr>
          <a:xfrm>
            <a:off x="1054100" y="1994916"/>
            <a:ext cx="3454400" cy="267716"/>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Chọn chức năng dựng từ Bước 3</a:t>
            </a:r>
            <a:endParaRPr lang="en-US" sz="1400" b="1">
              <a:solidFill>
                <a:srgbClr val="000000"/>
              </a:solidFill>
              <a:latin typeface="Times New Roman" panose="02020603050405020304" pitchFamily="18" charset="0"/>
            </a:endParaRPr>
          </a:p>
        </p:txBody>
      </p:sp>
      <p:sp>
        <p:nvSpPr>
          <p:cNvPr id="14" name="TextBox 13">
            <a:extLst>
              <a:ext uri="{FF2B5EF4-FFF2-40B4-BE49-F238E27FC236}">
                <a16:creationId xmlns:a16="http://schemas.microsoft.com/office/drawing/2014/main" id="{1087D290-DD5E-0ADD-D167-DA2CA80C4214}"/>
              </a:ext>
            </a:extLst>
          </p:cNvPr>
          <p:cNvSpPr txBox="1"/>
          <p:nvPr/>
        </p:nvSpPr>
        <p:spPr>
          <a:xfrm>
            <a:off x="698500" y="2667000"/>
            <a:ext cx="3810000" cy="762000"/>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Sau đó: kiểm tra danh sách BOM, bổ sung các thông tin còn thiếu và cập nhật kết quả.</a:t>
            </a:r>
          </a:p>
        </p:txBody>
      </p:sp>
      <p:sp>
        <p:nvSpPr>
          <p:cNvPr id="15" name="Rectangle 14">
            <a:extLst>
              <a:ext uri="{FF2B5EF4-FFF2-40B4-BE49-F238E27FC236}">
                <a16:creationId xmlns:a16="http://schemas.microsoft.com/office/drawing/2014/main" id="{5A6C77F2-3CEA-D545-2CD6-E58C2707D530}"/>
              </a:ext>
            </a:extLst>
          </p:cNvPr>
          <p:cNvSpPr/>
          <p:nvPr/>
        </p:nvSpPr>
        <p:spPr>
          <a:xfrm>
            <a:off x="698500" y="5080000"/>
            <a:ext cx="3810000" cy="889000"/>
          </a:xfrm>
          <a:prstGeom prst="rect">
            <a:avLst/>
          </a:prstGeom>
          <a:solidFill>
            <a:srgbClr val="FDECEA"/>
          </a:solidFill>
          <a:ln w="9525">
            <a:solidFill>
              <a:srgbClr val="F4B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940E1C-B7F1-43E8-F03D-334F0E1A959F}"/>
              </a:ext>
            </a:extLst>
          </p:cNvPr>
          <p:cNvSpPr/>
          <p:nvPr/>
        </p:nvSpPr>
        <p:spPr>
          <a:xfrm>
            <a:off x="698500" y="5080000"/>
            <a:ext cx="50800" cy="8890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B37F614-2BC6-94A0-E8D1-5AC0A03185B3}"/>
              </a:ext>
            </a:extLst>
          </p:cNvPr>
          <p:cNvSpPr txBox="1"/>
          <p:nvPr/>
        </p:nvSpPr>
        <p:spPr>
          <a:xfrm>
            <a:off x="850900" y="5130800"/>
            <a:ext cx="3581400" cy="787400"/>
          </a:xfrm>
          <a:prstGeom prst="rect">
            <a:avLst/>
          </a:prstGeom>
          <a:noFill/>
        </p:spPr>
        <p:txBody>
          <a:bodyPr vert="horz" wrap="square" lIns="25400" tIns="12700" rIns="25400" bIns="12700" rtlCol="0" anchor="ctr">
            <a:noAutofit/>
          </a:bodyPr>
          <a:lstStyle/>
          <a:p>
            <a:r>
              <a:rPr lang="vi-VN" sz="1300" b="1">
                <a:solidFill>
                  <a:srgbClr val="C00000"/>
                </a:solidFill>
                <a:latin typeface="Times New Roman" panose="02020603050405020304" pitchFamily="18" charset="0"/>
              </a:rPr>
              <a:t>CẢNH BÁO</a:t>
            </a:r>
          </a:p>
          <a:p>
            <a:r>
              <a:rPr lang="vi-VN" sz="1300">
                <a:solidFill>
                  <a:srgbClr val="000000"/>
                </a:solidFill>
                <a:latin typeface="Times New Roman" panose="02020603050405020304" pitchFamily="18" charset="0"/>
              </a:rPr>
              <a:t>Không nên bỏ qua bước rà soát BOM sau khi dựng tự động.</a:t>
            </a:r>
            <a:endParaRPr lang="en-US" sz="1300">
              <a:solidFill>
                <a:srgbClr val="000000"/>
              </a:solidFill>
              <a:latin typeface="Times New Roman" panose="02020603050405020304" pitchFamily="18" charset="0"/>
            </a:endParaRPr>
          </a:p>
        </p:txBody>
      </p:sp>
      <p:pic>
        <p:nvPicPr>
          <p:cNvPr id="19" name="Picture 18">
            <a:extLst>
              <a:ext uri="{FF2B5EF4-FFF2-40B4-BE49-F238E27FC236}">
                <a16:creationId xmlns:a16="http://schemas.microsoft.com/office/drawing/2014/main" id="{C923AAFE-F9AC-F6BF-A166-E978D413CD97}"/>
              </a:ext>
            </a:extLst>
          </p:cNvPr>
          <p:cNvPicPr>
            <a:picLocks/>
          </p:cNvPicPr>
          <p:nvPr/>
        </p:nvPicPr>
        <p:blipFill>
          <a:blip r:embed="rId3">
            <a:extLst>
              <a:ext uri="{28A0092B-C50C-407E-A947-70E740481C1C}">
                <a14:useLocalDpi xmlns:a14="http://schemas.microsoft.com/office/drawing/2010/main" val="0"/>
              </a:ext>
            </a:extLst>
          </a:blip>
          <a:srcRect l="19178"/>
          <a:stretch>
            <a:fillRect/>
          </a:stretch>
        </p:blipFill>
        <p:spPr>
          <a:xfrm>
            <a:off x="4813300" y="380458"/>
            <a:ext cx="5108182" cy="2221615"/>
          </a:xfrm>
          <a:prstGeom prst="rect">
            <a:avLst/>
          </a:prstGeom>
          <a:ln w="9525">
            <a:solidFill>
              <a:srgbClr val="BFBFBF"/>
            </a:solidFill>
          </a:ln>
        </p:spPr>
      </p:pic>
      <p:pic>
        <p:nvPicPr>
          <p:cNvPr id="21" name="Picture 20">
            <a:extLst>
              <a:ext uri="{FF2B5EF4-FFF2-40B4-BE49-F238E27FC236}">
                <a16:creationId xmlns:a16="http://schemas.microsoft.com/office/drawing/2014/main" id="{8D9BB4CC-64A5-683E-67CE-28CDB1F3CA8F}"/>
              </a:ext>
            </a:extLst>
          </p:cNvPr>
          <p:cNvPicPr>
            <a:picLocks/>
          </p:cNvPicPr>
          <p:nvPr/>
        </p:nvPicPr>
        <p:blipFill>
          <a:blip r:embed="rId4">
            <a:extLst>
              <a:ext uri="{28A0092B-C50C-407E-A947-70E740481C1C}">
                <a14:useLocalDpi xmlns:a14="http://schemas.microsoft.com/office/drawing/2010/main" val="0"/>
              </a:ext>
            </a:extLst>
          </a:blip>
          <a:srcRect l="30084" t="10637"/>
          <a:stretch>
            <a:fillRect/>
          </a:stretch>
        </p:blipFill>
        <p:spPr>
          <a:xfrm>
            <a:off x="4813300" y="2602073"/>
            <a:ext cx="5098780" cy="3304103"/>
          </a:xfrm>
          <a:prstGeom prst="rect">
            <a:avLst/>
          </a:prstGeom>
          <a:ln w="9525">
            <a:solidFill>
              <a:srgbClr val="BFBFBF"/>
            </a:solidFill>
          </a:ln>
        </p:spPr>
      </p:pic>
      <p:sp>
        <p:nvSpPr>
          <p:cNvPr id="22" name="TextBox 21">
            <a:extLst>
              <a:ext uri="{FF2B5EF4-FFF2-40B4-BE49-F238E27FC236}">
                <a16:creationId xmlns:a16="http://schemas.microsoft.com/office/drawing/2014/main" id="{0EE441F8-8F2B-A0A9-4CD7-4BCD62A6F28D}"/>
              </a:ext>
            </a:extLst>
          </p:cNvPr>
          <p:cNvSpPr txBox="1"/>
          <p:nvPr/>
        </p:nvSpPr>
        <p:spPr>
          <a:xfrm>
            <a:off x="4813300" y="5932326"/>
            <a:ext cx="5098780" cy="101600"/>
          </a:xfrm>
          <a:prstGeom prst="rect">
            <a:avLst/>
          </a:prstGeom>
          <a:noFill/>
        </p:spPr>
        <p:txBody>
          <a:bodyPr vert="horz" wrap="square" lIns="25400" tIns="12700" rIns="25400" bIns="12700" rtlCol="0" anchor="t">
            <a:noAutofit/>
          </a:bodyPr>
          <a:lstStyle/>
          <a:p>
            <a:pPr algn="ctr"/>
            <a:r>
              <a:rPr lang="en-US" sz="1100" i="1" dirty="0">
                <a:solidFill>
                  <a:srgbClr val="595959"/>
                </a:solidFill>
                <a:latin typeface="Times New Roman" panose="02020603050405020304" pitchFamily="18" charset="0"/>
              </a:rPr>
              <a:t>Danh </a:t>
            </a:r>
            <a:r>
              <a:rPr lang="en-US" sz="1100" i="1" dirty="0" err="1">
                <a:solidFill>
                  <a:srgbClr val="595959"/>
                </a:solidFill>
                <a:latin typeface="Times New Roman" panose="02020603050405020304" pitchFamily="18" charset="0"/>
              </a:rPr>
              <a:t>sách</a:t>
            </a:r>
            <a:r>
              <a:rPr lang="en-US" sz="1100" i="1" dirty="0">
                <a:solidFill>
                  <a:srgbClr val="595959"/>
                </a:solidFill>
                <a:latin typeface="Times New Roman" panose="02020603050405020304" pitchFamily="18" charset="0"/>
              </a:rPr>
              <a:t> BOM </a:t>
            </a:r>
            <a:r>
              <a:rPr lang="en-US" sz="1100" i="1" dirty="0" err="1">
                <a:solidFill>
                  <a:srgbClr val="595959"/>
                </a:solidFill>
                <a:latin typeface="Times New Roman" panose="02020603050405020304" pitchFamily="18" charset="0"/>
              </a:rPr>
              <a:t>sau</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khi</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dựng</a:t>
            </a:r>
            <a:endParaRPr lang="en-US" sz="1100" i="1" dirty="0">
              <a:solidFill>
                <a:srgbClr val="595959"/>
              </a:solidFill>
              <a:latin typeface="Times New Roman" panose="02020603050405020304" pitchFamily="18" charset="0"/>
            </a:endParaRPr>
          </a:p>
        </p:txBody>
      </p:sp>
    </p:spTree>
    <p:extLst>
      <p:ext uri="{BB962C8B-B14F-4D97-AF65-F5344CB8AC3E}">
        <p14:creationId xmlns:p14="http://schemas.microsoft.com/office/powerpoint/2010/main" val="1925549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38CD739-28F3-B1A5-AD3A-C2E092DA1A5A}"/>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2.7. Nội dung 7 – Sơ đồ kết nối hệ thống</a:t>
            </a:r>
            <a:endParaRPr lang="en-US" sz="1600" b="1">
              <a:solidFill>
                <a:srgbClr val="002060"/>
              </a:solidFill>
              <a:latin typeface="Times New Roman" panose="02020603050405020304" pitchFamily="18" charset="0"/>
            </a:endParaRPr>
          </a:p>
        </p:txBody>
      </p:sp>
      <p:sp>
        <p:nvSpPr>
          <p:cNvPr id="3" name="Oval 2">
            <a:extLst>
              <a:ext uri="{FF2B5EF4-FFF2-40B4-BE49-F238E27FC236}">
                <a16:creationId xmlns:a16="http://schemas.microsoft.com/office/drawing/2014/main" id="{347EE8F2-016B-76DB-6F2F-5C4DD1725E33}"/>
              </a:ext>
            </a:extLst>
          </p:cNvPr>
          <p:cNvSpPr/>
          <p:nvPr/>
        </p:nvSpPr>
        <p:spPr>
          <a:xfrm>
            <a:off x="698500" y="12827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9" name="TextBox 8">
            <a:extLst>
              <a:ext uri="{FF2B5EF4-FFF2-40B4-BE49-F238E27FC236}">
                <a16:creationId xmlns:a16="http://schemas.microsoft.com/office/drawing/2014/main" id="{64A617CB-B667-6ADD-1999-674D58F7898C}"/>
              </a:ext>
            </a:extLst>
          </p:cNvPr>
          <p:cNvSpPr txBox="1"/>
          <p:nvPr/>
        </p:nvSpPr>
        <p:spPr>
          <a:xfrm>
            <a:off x="1054100" y="1270000"/>
            <a:ext cx="4851400" cy="484632"/>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Nhập thông tin điều kiện, sau đó chọn chức năng </a:t>
            </a:r>
            <a:r>
              <a:rPr lang="en-US" sz="1400" b="1">
                <a:solidFill>
                  <a:srgbClr val="000000"/>
                </a:solidFill>
                <a:latin typeface="Times New Roman" panose="02020603050405020304" pitchFamily="18" charset="0"/>
              </a:rPr>
              <a:t>dựng từ BOM</a:t>
            </a:r>
            <a:r>
              <a:rPr lang="en-US" sz="1400">
                <a:solidFill>
                  <a:srgbClr val="000000"/>
                </a:solidFill>
                <a:latin typeface="Times New Roman" panose="02020603050405020304" pitchFamily="18" charset="0"/>
              </a:rPr>
              <a:t>.</a:t>
            </a:r>
          </a:p>
        </p:txBody>
      </p:sp>
      <p:sp>
        <p:nvSpPr>
          <p:cNvPr id="10" name="Oval 9">
            <a:extLst>
              <a:ext uri="{FF2B5EF4-FFF2-40B4-BE49-F238E27FC236}">
                <a16:creationId xmlns:a16="http://schemas.microsoft.com/office/drawing/2014/main" id="{282725DD-E006-C230-FC0E-040727D969F6}"/>
              </a:ext>
            </a:extLst>
          </p:cNvPr>
          <p:cNvSpPr/>
          <p:nvPr/>
        </p:nvSpPr>
        <p:spPr>
          <a:xfrm>
            <a:off x="6286500" y="12827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2" name="TextBox 11">
            <a:extLst>
              <a:ext uri="{FF2B5EF4-FFF2-40B4-BE49-F238E27FC236}">
                <a16:creationId xmlns:a16="http://schemas.microsoft.com/office/drawing/2014/main" id="{EB53B8C0-A756-73A3-D599-069247A9C988}"/>
              </a:ext>
            </a:extLst>
          </p:cNvPr>
          <p:cNvSpPr txBox="1"/>
          <p:nvPr/>
        </p:nvSpPr>
        <p:spPr>
          <a:xfrm>
            <a:off x="6642100" y="1270000"/>
            <a:ext cx="4851400" cy="484632"/>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Kéo thả</a:t>
            </a:r>
            <a:r>
              <a:rPr lang="vi-VN" sz="1400">
                <a:solidFill>
                  <a:srgbClr val="000000"/>
                </a:solidFill>
                <a:latin typeface="Times New Roman" panose="02020603050405020304" pitchFamily="18" charset="0"/>
              </a:rPr>
              <a:t> các thành phần trên sơ đồ, chỉnh sửa thông tin theo cấu hình thực tế.</a:t>
            </a:r>
            <a:endParaRPr lang="en-US" sz="1400">
              <a:solidFill>
                <a:srgbClr val="000000"/>
              </a:solidFill>
              <a:latin typeface="Times New Roman" panose="02020603050405020304" pitchFamily="18" charset="0"/>
            </a:endParaRPr>
          </a:p>
        </p:txBody>
      </p:sp>
      <p:pic>
        <p:nvPicPr>
          <p:cNvPr id="14" name="Picture 13">
            <a:extLst>
              <a:ext uri="{FF2B5EF4-FFF2-40B4-BE49-F238E27FC236}">
                <a16:creationId xmlns:a16="http://schemas.microsoft.com/office/drawing/2014/main" id="{48D57D93-C0FE-C03C-8884-71EBE228C1DF}"/>
              </a:ext>
            </a:extLst>
          </p:cNvPr>
          <p:cNvPicPr>
            <a:picLocks/>
          </p:cNvPicPr>
          <p:nvPr/>
        </p:nvPicPr>
        <p:blipFill>
          <a:blip r:embed="rId3">
            <a:extLst>
              <a:ext uri="{28A0092B-C50C-407E-A947-70E740481C1C}">
                <a14:useLocalDpi xmlns:a14="http://schemas.microsoft.com/office/drawing/2010/main" val="0"/>
              </a:ext>
            </a:extLst>
          </a:blip>
          <a:srcRect l="19469"/>
          <a:stretch>
            <a:fillRect/>
          </a:stretch>
        </p:blipFill>
        <p:spPr>
          <a:xfrm>
            <a:off x="128066" y="1881632"/>
            <a:ext cx="5967934" cy="2873188"/>
          </a:xfrm>
          <a:prstGeom prst="rect">
            <a:avLst/>
          </a:prstGeom>
          <a:ln w="9525">
            <a:solidFill>
              <a:srgbClr val="BFBFBF"/>
            </a:solidFill>
          </a:ln>
        </p:spPr>
      </p:pic>
      <p:pic>
        <p:nvPicPr>
          <p:cNvPr id="16" name="Picture 15">
            <a:extLst>
              <a:ext uri="{FF2B5EF4-FFF2-40B4-BE49-F238E27FC236}">
                <a16:creationId xmlns:a16="http://schemas.microsoft.com/office/drawing/2014/main" id="{014AF235-54A0-B4DD-BC30-0CA6739E5D0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86500" y="1881632"/>
            <a:ext cx="5678022" cy="2873188"/>
          </a:xfrm>
          <a:prstGeom prst="rect">
            <a:avLst/>
          </a:prstGeom>
          <a:ln w="9525">
            <a:solidFill>
              <a:srgbClr val="BFBFBF"/>
            </a:solidFill>
          </a:ln>
        </p:spPr>
      </p:pic>
    </p:spTree>
    <p:extLst>
      <p:ext uri="{BB962C8B-B14F-4D97-AF65-F5344CB8AC3E}">
        <p14:creationId xmlns:p14="http://schemas.microsoft.com/office/powerpoint/2010/main" val="287655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dirty="0">
                <a:latin typeface="Times New Roman" panose="02020603050405020304" pitchFamily="18" charset="0"/>
                <a:cs typeface="Times New Roman" panose="02020603050405020304" pitchFamily="18" charset="0"/>
              </a:rPr>
              <a:t>II. KHỞI TẠO DỰ ÁN</a:t>
            </a:r>
          </a:p>
        </p:txBody>
      </p:sp>
      <p:sp>
        <p:nvSpPr>
          <p:cNvPr id="2" name="TextBox 1">
            <a:extLst>
              <a:ext uri="{FF2B5EF4-FFF2-40B4-BE49-F238E27FC236}">
                <a16:creationId xmlns:a16="http://schemas.microsoft.com/office/drawing/2014/main" id="{26588B4D-78E5-0ECE-F7EC-2A1814410E5A}"/>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2.8. Nội dung 8 – Cycle time</a:t>
            </a:r>
          </a:p>
        </p:txBody>
      </p:sp>
      <p:sp>
        <p:nvSpPr>
          <p:cNvPr id="3" name="Oval 2">
            <a:extLst>
              <a:ext uri="{FF2B5EF4-FFF2-40B4-BE49-F238E27FC236}">
                <a16:creationId xmlns:a16="http://schemas.microsoft.com/office/drawing/2014/main" id="{E72C5C7C-ED6D-6FAE-DD19-D881964D0EC4}"/>
              </a:ext>
            </a:extLst>
          </p:cNvPr>
          <p:cNvSpPr/>
          <p:nvPr/>
        </p:nvSpPr>
        <p:spPr>
          <a:xfrm>
            <a:off x="698500" y="12827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9" name="TextBox 8">
            <a:extLst>
              <a:ext uri="{FF2B5EF4-FFF2-40B4-BE49-F238E27FC236}">
                <a16:creationId xmlns:a16="http://schemas.microsoft.com/office/drawing/2014/main" id="{980055C2-5B3A-BF77-FF85-69F36C928585}"/>
              </a:ext>
            </a:extLst>
          </p:cNvPr>
          <p:cNvSpPr txBox="1"/>
          <p:nvPr/>
        </p:nvSpPr>
        <p:spPr>
          <a:xfrm>
            <a:off x="1054100" y="1270000"/>
            <a:ext cx="3200400" cy="267716"/>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Thêm từng tác vụ</a:t>
            </a:r>
          </a:p>
        </p:txBody>
      </p:sp>
      <p:sp>
        <p:nvSpPr>
          <p:cNvPr id="10" name="Oval 9">
            <a:extLst>
              <a:ext uri="{FF2B5EF4-FFF2-40B4-BE49-F238E27FC236}">
                <a16:creationId xmlns:a16="http://schemas.microsoft.com/office/drawing/2014/main" id="{DB3BE618-E771-F595-4430-BD818902A569}"/>
              </a:ext>
            </a:extLst>
          </p:cNvPr>
          <p:cNvSpPr/>
          <p:nvPr/>
        </p:nvSpPr>
        <p:spPr>
          <a:xfrm>
            <a:off x="698500" y="1728216"/>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2" name="TextBox 11">
            <a:extLst>
              <a:ext uri="{FF2B5EF4-FFF2-40B4-BE49-F238E27FC236}">
                <a16:creationId xmlns:a16="http://schemas.microsoft.com/office/drawing/2014/main" id="{BA948EC7-8B48-64D5-5D33-15C1F80FE058}"/>
              </a:ext>
            </a:extLst>
          </p:cNvPr>
          <p:cNvSpPr txBox="1"/>
          <p:nvPr/>
        </p:nvSpPr>
        <p:spPr>
          <a:xfrm>
            <a:off x="1054100" y="1715516"/>
            <a:ext cx="3200400" cy="484632"/>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Nhập nội dung cùng thời gian bắt đầu và kết thúc</a:t>
            </a:r>
          </a:p>
        </p:txBody>
      </p:sp>
      <p:sp>
        <p:nvSpPr>
          <p:cNvPr id="13" name="Oval 12">
            <a:extLst>
              <a:ext uri="{FF2B5EF4-FFF2-40B4-BE49-F238E27FC236}">
                <a16:creationId xmlns:a16="http://schemas.microsoft.com/office/drawing/2014/main" id="{DA423C48-259C-400A-B6DA-5E5F303A7ED6}"/>
              </a:ext>
            </a:extLst>
          </p:cNvPr>
          <p:cNvSpPr/>
          <p:nvPr/>
        </p:nvSpPr>
        <p:spPr>
          <a:xfrm>
            <a:off x="698500" y="2390648"/>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3</a:t>
            </a:r>
          </a:p>
        </p:txBody>
      </p:sp>
      <p:sp>
        <p:nvSpPr>
          <p:cNvPr id="14" name="TextBox 13">
            <a:extLst>
              <a:ext uri="{FF2B5EF4-FFF2-40B4-BE49-F238E27FC236}">
                <a16:creationId xmlns:a16="http://schemas.microsoft.com/office/drawing/2014/main" id="{757DF869-3DAC-9FA5-6F91-E401FFDCBA34}"/>
              </a:ext>
            </a:extLst>
          </p:cNvPr>
          <p:cNvSpPr txBox="1"/>
          <p:nvPr/>
        </p:nvSpPr>
        <p:spPr>
          <a:xfrm>
            <a:off x="1054100" y="2377948"/>
            <a:ext cx="3200400" cy="267716"/>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Kiểm tra kết quả</a:t>
            </a:r>
          </a:p>
        </p:txBody>
      </p:sp>
      <p:sp>
        <p:nvSpPr>
          <p:cNvPr id="15" name="Rectangle 14">
            <a:extLst>
              <a:ext uri="{FF2B5EF4-FFF2-40B4-BE49-F238E27FC236}">
                <a16:creationId xmlns:a16="http://schemas.microsoft.com/office/drawing/2014/main" id="{6076DCD4-CABE-7C28-9D10-EE43A8508FC2}"/>
              </a:ext>
            </a:extLst>
          </p:cNvPr>
          <p:cNvSpPr/>
          <p:nvPr/>
        </p:nvSpPr>
        <p:spPr>
          <a:xfrm>
            <a:off x="698500" y="4826000"/>
            <a:ext cx="3556000" cy="1143000"/>
          </a:xfrm>
          <a:prstGeom prst="rect">
            <a:avLst/>
          </a:prstGeom>
          <a:solidFill>
            <a:srgbClr val="E7EEF8"/>
          </a:solidFill>
          <a:ln w="9525">
            <a:solidFill>
              <a:srgbClr val="B4C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5C44A73-5CAE-81DE-3E52-DBF8E953879C}"/>
              </a:ext>
            </a:extLst>
          </p:cNvPr>
          <p:cNvSpPr/>
          <p:nvPr/>
        </p:nvSpPr>
        <p:spPr>
          <a:xfrm>
            <a:off x="698500" y="4826000"/>
            <a:ext cx="50800" cy="1143000"/>
          </a:xfrm>
          <a:prstGeom prst="rect">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03BD04D-A5F0-28F3-0013-398E3D5A894A}"/>
              </a:ext>
            </a:extLst>
          </p:cNvPr>
          <p:cNvSpPr txBox="1"/>
          <p:nvPr/>
        </p:nvSpPr>
        <p:spPr>
          <a:xfrm>
            <a:off x="850900" y="4876800"/>
            <a:ext cx="3327400" cy="1041400"/>
          </a:xfrm>
          <a:prstGeom prst="rect">
            <a:avLst/>
          </a:prstGeom>
          <a:noFill/>
        </p:spPr>
        <p:txBody>
          <a:bodyPr vert="horz" wrap="square" lIns="25400" tIns="12700" rIns="25400" bIns="12700" rtlCol="0" anchor="ctr">
            <a:noAutofit/>
          </a:bodyPr>
          <a:lstStyle/>
          <a:p>
            <a:r>
              <a:rPr lang="vi-VN" sz="1300" b="1">
                <a:solidFill>
                  <a:srgbClr val="002060"/>
                </a:solidFill>
                <a:latin typeface="Times New Roman" panose="02020603050405020304" pitchFamily="18" charset="0"/>
              </a:rPr>
              <a:t>LƯU Ý</a:t>
            </a:r>
          </a:p>
          <a:p>
            <a:r>
              <a:rPr lang="vi-VN" sz="1300">
                <a:solidFill>
                  <a:srgbClr val="000000"/>
                </a:solidFill>
                <a:latin typeface="Times New Roman" panose="02020603050405020304" pitchFamily="18" charset="0"/>
              </a:rPr>
              <a:t>Kiểm tra định dạng và thứ tự thời gian bắt đầu / kết thúc của từng tác vụ.</a:t>
            </a:r>
            <a:endParaRPr lang="en-US" sz="1300">
              <a:solidFill>
                <a:srgbClr val="000000"/>
              </a:solidFill>
              <a:latin typeface="Times New Roman" panose="02020603050405020304" pitchFamily="18" charset="0"/>
            </a:endParaRPr>
          </a:p>
        </p:txBody>
      </p:sp>
      <p:pic>
        <p:nvPicPr>
          <p:cNvPr id="19" name="Picture 18">
            <a:extLst>
              <a:ext uri="{FF2B5EF4-FFF2-40B4-BE49-F238E27FC236}">
                <a16:creationId xmlns:a16="http://schemas.microsoft.com/office/drawing/2014/main" id="{ADA32DA4-1E44-376E-7C2D-230681D217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73465" y="1270000"/>
            <a:ext cx="7403146" cy="4126753"/>
          </a:xfrm>
          <a:prstGeom prst="rect">
            <a:avLst/>
          </a:prstGeom>
          <a:ln w="9525">
            <a:solidFill>
              <a:srgbClr val="BFBFBF"/>
            </a:solidFill>
          </a:ln>
        </p:spPr>
      </p:pic>
    </p:spTree>
    <p:extLst>
      <p:ext uri="{BB962C8B-B14F-4D97-AF65-F5344CB8AC3E}">
        <p14:creationId xmlns:p14="http://schemas.microsoft.com/office/powerpoint/2010/main" val="2997537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1382B01-098C-FCC7-7939-D834373D1355}"/>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dirty="0">
                <a:solidFill>
                  <a:srgbClr val="002060"/>
                </a:solidFill>
                <a:latin typeface="Times New Roman" panose="02020603050405020304" pitchFamily="18" charset="0"/>
              </a:rPr>
              <a:t>2.9. </a:t>
            </a:r>
            <a:r>
              <a:rPr lang="en-US" sz="1600" b="1" dirty="0" err="1">
                <a:solidFill>
                  <a:srgbClr val="002060"/>
                </a:solidFill>
                <a:latin typeface="Times New Roman" panose="02020603050405020304" pitchFamily="18" charset="0"/>
              </a:rPr>
              <a:t>Nội</a:t>
            </a:r>
            <a:r>
              <a:rPr lang="en-US" sz="1600" b="1" dirty="0">
                <a:solidFill>
                  <a:srgbClr val="002060"/>
                </a:solidFill>
                <a:latin typeface="Times New Roman" panose="02020603050405020304" pitchFamily="18" charset="0"/>
              </a:rPr>
              <a:t> dung 9 – Thông tin / </a:t>
            </a:r>
            <a:r>
              <a:rPr lang="en-US" sz="1600" b="1" dirty="0" err="1">
                <a:solidFill>
                  <a:srgbClr val="002060"/>
                </a:solidFill>
                <a:latin typeface="Times New Roman" panose="02020603050405020304" pitchFamily="18" charset="0"/>
              </a:rPr>
              <a:t>ảnh</a:t>
            </a:r>
            <a:r>
              <a:rPr lang="en-US" sz="1600" b="1" dirty="0">
                <a:solidFill>
                  <a:srgbClr val="002060"/>
                </a:solidFill>
                <a:latin typeface="Times New Roman" panose="02020603050405020304" pitchFamily="18" charset="0"/>
              </a:rPr>
              <a:t> </a:t>
            </a:r>
            <a:r>
              <a:rPr lang="en-US" sz="1600" b="1" dirty="0" err="1">
                <a:solidFill>
                  <a:srgbClr val="002060"/>
                </a:solidFill>
                <a:latin typeface="Times New Roman" panose="02020603050405020304" pitchFamily="18" charset="0"/>
              </a:rPr>
              <a:t>đánh</a:t>
            </a:r>
            <a:r>
              <a:rPr lang="en-US" sz="1600" b="1" dirty="0">
                <a:solidFill>
                  <a:srgbClr val="002060"/>
                </a:solidFill>
                <a:latin typeface="Times New Roman" panose="02020603050405020304" pitchFamily="18" charset="0"/>
              </a:rPr>
              <a:t> </a:t>
            </a:r>
            <a:r>
              <a:rPr lang="en-US" sz="1600" b="1" dirty="0" err="1">
                <a:solidFill>
                  <a:srgbClr val="002060"/>
                </a:solidFill>
                <a:latin typeface="Times New Roman" panose="02020603050405020304" pitchFamily="18" charset="0"/>
              </a:rPr>
              <a:t>giá</a:t>
            </a:r>
            <a:endParaRPr lang="en-US" sz="1600" b="1" dirty="0">
              <a:solidFill>
                <a:srgbClr val="002060"/>
              </a:solidFill>
              <a:latin typeface="Times New Roman" panose="02020603050405020304" pitchFamily="18" charset="0"/>
            </a:endParaRPr>
          </a:p>
        </p:txBody>
      </p:sp>
      <p:sp>
        <p:nvSpPr>
          <p:cNvPr id="3" name="TextBox 2">
            <a:extLst>
              <a:ext uri="{FF2B5EF4-FFF2-40B4-BE49-F238E27FC236}">
                <a16:creationId xmlns:a16="http://schemas.microsoft.com/office/drawing/2014/main" id="{4855D0C8-D269-9DA3-98AA-46A88D71C8D9}"/>
              </a:ext>
            </a:extLst>
          </p:cNvPr>
          <p:cNvSpPr txBox="1"/>
          <p:nvPr/>
        </p:nvSpPr>
        <p:spPr>
          <a:xfrm>
            <a:off x="698500" y="1270000"/>
            <a:ext cx="5245100" cy="508000"/>
          </a:xfrm>
          <a:prstGeom prst="rect">
            <a:avLst/>
          </a:prstGeom>
          <a:noFill/>
        </p:spPr>
        <p:txBody>
          <a:bodyPr vert="horz" wrap="square" lIns="25400" tIns="12700" rIns="25400" bIns="12700" rtlCol="0" anchor="t">
            <a:noAutofit/>
          </a:bodyPr>
          <a:lstStyle/>
          <a:p>
            <a:r>
              <a:rPr lang="vi-VN" sz="1400" b="1" dirty="0">
                <a:solidFill>
                  <a:srgbClr val="002060"/>
                </a:solidFill>
                <a:latin typeface="Times New Roman" panose="02020603050405020304" pitchFamily="18" charset="0"/>
              </a:rPr>
              <a:t>Phương án 1 – </a:t>
            </a:r>
            <a:r>
              <a:rPr lang="vi-VN" sz="1400" dirty="0">
                <a:solidFill>
                  <a:srgbClr val="000000"/>
                </a:solidFill>
                <a:latin typeface="Times New Roman" panose="02020603050405020304" pitchFamily="18" charset="0"/>
              </a:rPr>
              <a:t>Chọn “Thêm mẫu”, tạo thủ công các trường thông tin và </a:t>
            </a:r>
            <a:r>
              <a:rPr lang="vi-VN" sz="1400" dirty="0" err="1">
                <a:solidFill>
                  <a:srgbClr val="000000"/>
                </a:solidFill>
                <a:latin typeface="Times New Roman" panose="02020603050405020304" pitchFamily="18" charset="0"/>
              </a:rPr>
              <a:t>import</a:t>
            </a:r>
            <a:r>
              <a:rPr lang="vi-VN" sz="1400" dirty="0">
                <a:solidFill>
                  <a:srgbClr val="000000"/>
                </a:solidFill>
                <a:latin typeface="Times New Roman" panose="02020603050405020304" pitchFamily="18" charset="0"/>
              </a:rPr>
              <a:t> ảnh.</a:t>
            </a:r>
            <a:endParaRPr lang="en-US" sz="1400" dirty="0">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78A68909-2C6D-53DB-9FB3-06D4F482E455}"/>
              </a:ext>
            </a:extLst>
          </p:cNvPr>
          <p:cNvSpPr txBox="1"/>
          <p:nvPr/>
        </p:nvSpPr>
        <p:spPr>
          <a:xfrm>
            <a:off x="6248400" y="1270000"/>
            <a:ext cx="5245100" cy="508000"/>
          </a:xfrm>
          <a:prstGeom prst="rect">
            <a:avLst/>
          </a:prstGeom>
          <a:noFill/>
        </p:spPr>
        <p:txBody>
          <a:bodyPr vert="horz" wrap="square" lIns="25400" tIns="12700" rIns="25400" bIns="12700" rtlCol="0" anchor="t">
            <a:noAutofit/>
          </a:bodyPr>
          <a:lstStyle/>
          <a:p>
            <a:r>
              <a:rPr lang="vi-VN" sz="1400" b="1">
                <a:solidFill>
                  <a:srgbClr val="002060"/>
                </a:solidFill>
                <a:latin typeface="Times New Roman" panose="02020603050405020304" pitchFamily="18" charset="0"/>
              </a:rPr>
              <a:t>Phương án 2 – </a:t>
            </a:r>
            <a:r>
              <a:rPr lang="vi-VN" sz="1400">
                <a:solidFill>
                  <a:srgbClr val="000000"/>
                </a:solidFill>
                <a:latin typeface="Times New Roman" panose="02020603050405020304" pitchFamily="18" charset="0"/>
              </a:rPr>
              <a:t>Import file Excel từ phần mềm đánh giá; các trường thông tin sẽ được tự động đưa vào báo cáo.</a:t>
            </a:r>
            <a:endParaRPr lang="en-US" sz="1400">
              <a:solidFill>
                <a:srgbClr val="000000"/>
              </a:solidFill>
              <a:latin typeface="Times New Roman" panose="02020603050405020304" pitchFamily="18" charset="0"/>
            </a:endParaRPr>
          </a:p>
        </p:txBody>
      </p:sp>
      <p:pic>
        <p:nvPicPr>
          <p:cNvPr id="12" name="Picture 11">
            <a:extLst>
              <a:ext uri="{FF2B5EF4-FFF2-40B4-BE49-F238E27FC236}">
                <a16:creationId xmlns:a16="http://schemas.microsoft.com/office/drawing/2014/main" id="{14990221-9FFC-04E5-F086-7D131DEE7698}"/>
              </a:ext>
            </a:extLst>
          </p:cNvPr>
          <p:cNvPicPr>
            <a:picLocks/>
          </p:cNvPicPr>
          <p:nvPr/>
        </p:nvPicPr>
        <p:blipFill>
          <a:blip r:embed="rId3">
            <a:extLst>
              <a:ext uri="{28A0092B-C50C-407E-A947-70E740481C1C}">
                <a14:useLocalDpi xmlns:a14="http://schemas.microsoft.com/office/drawing/2010/main" val="0"/>
              </a:ext>
            </a:extLst>
          </a:blip>
          <a:srcRect l="19328" r="724"/>
          <a:stretch>
            <a:fillRect/>
          </a:stretch>
        </p:blipFill>
        <p:spPr>
          <a:xfrm>
            <a:off x="352236" y="2139466"/>
            <a:ext cx="5896164" cy="2534900"/>
          </a:xfrm>
          <a:prstGeom prst="rect">
            <a:avLst/>
          </a:prstGeom>
          <a:ln w="9525">
            <a:solidFill>
              <a:srgbClr val="BFBFBF"/>
            </a:solidFill>
          </a:ln>
        </p:spPr>
      </p:pic>
      <p:sp>
        <p:nvSpPr>
          <p:cNvPr id="13" name="TextBox 12">
            <a:extLst>
              <a:ext uri="{FF2B5EF4-FFF2-40B4-BE49-F238E27FC236}">
                <a16:creationId xmlns:a16="http://schemas.microsoft.com/office/drawing/2014/main" id="{08FB6D98-4E7F-63A8-6569-0C01D1A45399}"/>
              </a:ext>
            </a:extLst>
          </p:cNvPr>
          <p:cNvSpPr txBox="1"/>
          <p:nvPr/>
        </p:nvSpPr>
        <p:spPr>
          <a:xfrm>
            <a:off x="697778" y="4699765"/>
            <a:ext cx="5245100" cy="203200"/>
          </a:xfrm>
          <a:prstGeom prst="rect">
            <a:avLst/>
          </a:prstGeom>
          <a:noFill/>
        </p:spPr>
        <p:txBody>
          <a:bodyPr vert="horz" wrap="square" lIns="25400" tIns="12700" rIns="25400" bIns="12700" rtlCol="0" anchor="t">
            <a:noAutofit/>
          </a:bodyPr>
          <a:lstStyle/>
          <a:p>
            <a:pPr algn="ctr"/>
            <a:r>
              <a:rPr lang="en-US" sz="1100" i="1" dirty="0" err="1">
                <a:solidFill>
                  <a:srgbClr val="595959"/>
                </a:solidFill>
                <a:latin typeface="Times New Roman" panose="02020603050405020304" pitchFamily="18" charset="0"/>
              </a:rPr>
              <a:t>Thêm</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mẫu</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thủ</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công</a:t>
            </a:r>
            <a:endParaRPr lang="en-US" sz="1100" i="1" dirty="0">
              <a:solidFill>
                <a:srgbClr val="595959"/>
              </a:solidFill>
              <a:latin typeface="Times New Roman" panose="02020603050405020304" pitchFamily="18" charset="0"/>
            </a:endParaRPr>
          </a:p>
        </p:txBody>
      </p:sp>
      <p:pic>
        <p:nvPicPr>
          <p:cNvPr id="15" name="Picture 14">
            <a:extLst>
              <a:ext uri="{FF2B5EF4-FFF2-40B4-BE49-F238E27FC236}">
                <a16:creationId xmlns:a16="http://schemas.microsoft.com/office/drawing/2014/main" id="{8F38654A-2DB4-1112-BC2D-F5920FEFD3A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48400" y="1854200"/>
            <a:ext cx="5245100" cy="2820166"/>
          </a:xfrm>
          <a:prstGeom prst="rect">
            <a:avLst/>
          </a:prstGeom>
          <a:ln w="9525">
            <a:solidFill>
              <a:srgbClr val="BFBFBF"/>
            </a:solidFill>
          </a:ln>
        </p:spPr>
      </p:pic>
      <p:sp>
        <p:nvSpPr>
          <p:cNvPr id="16" name="TextBox 15">
            <a:extLst>
              <a:ext uri="{FF2B5EF4-FFF2-40B4-BE49-F238E27FC236}">
                <a16:creationId xmlns:a16="http://schemas.microsoft.com/office/drawing/2014/main" id="{4FBCB2BB-82A2-6837-7A24-22813AE25331}"/>
              </a:ext>
            </a:extLst>
          </p:cNvPr>
          <p:cNvSpPr txBox="1"/>
          <p:nvPr/>
        </p:nvSpPr>
        <p:spPr>
          <a:xfrm>
            <a:off x="6248400" y="4699765"/>
            <a:ext cx="5245100" cy="203200"/>
          </a:xfrm>
          <a:prstGeom prst="rect">
            <a:avLst/>
          </a:prstGeom>
          <a:noFill/>
        </p:spPr>
        <p:txBody>
          <a:bodyPr vert="horz" wrap="square" lIns="25400" tIns="12700" rIns="25400" bIns="12700" rtlCol="0" anchor="t">
            <a:noAutofit/>
          </a:bodyPr>
          <a:lstStyle/>
          <a:p>
            <a:pPr algn="ctr"/>
            <a:r>
              <a:rPr lang="fr-FR" sz="1100" i="1">
                <a:solidFill>
                  <a:srgbClr val="595959"/>
                </a:solidFill>
                <a:latin typeface="Times New Roman" panose="02020603050405020304" pitchFamily="18" charset="0"/>
              </a:rPr>
              <a:t>Kết quả sau khi import</a:t>
            </a:r>
            <a:endParaRPr lang="en-US" sz="1100" i="1">
              <a:solidFill>
                <a:srgbClr val="595959"/>
              </a:solidFill>
              <a:latin typeface="Times New Roman" panose="02020603050405020304" pitchFamily="18" charset="0"/>
            </a:endParaRPr>
          </a:p>
        </p:txBody>
      </p:sp>
      <p:sp>
        <p:nvSpPr>
          <p:cNvPr id="17" name="Rectangle 16">
            <a:extLst>
              <a:ext uri="{FF2B5EF4-FFF2-40B4-BE49-F238E27FC236}">
                <a16:creationId xmlns:a16="http://schemas.microsoft.com/office/drawing/2014/main" id="{0CC5CB0B-6774-CEC3-E492-5968B26FA959}"/>
              </a:ext>
            </a:extLst>
          </p:cNvPr>
          <p:cNvSpPr/>
          <p:nvPr/>
        </p:nvSpPr>
        <p:spPr>
          <a:xfrm>
            <a:off x="698500" y="5334000"/>
            <a:ext cx="10795000" cy="635000"/>
          </a:xfrm>
          <a:prstGeom prst="rect">
            <a:avLst/>
          </a:prstGeom>
          <a:solidFill>
            <a:srgbClr val="E7EEF8"/>
          </a:solidFill>
          <a:ln w="9525">
            <a:solidFill>
              <a:srgbClr val="B4C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481393-1D95-638C-D580-752DA42F6C12}"/>
              </a:ext>
            </a:extLst>
          </p:cNvPr>
          <p:cNvSpPr/>
          <p:nvPr/>
        </p:nvSpPr>
        <p:spPr>
          <a:xfrm>
            <a:off x="698500" y="5334000"/>
            <a:ext cx="50800" cy="635000"/>
          </a:xfrm>
          <a:prstGeom prst="rect">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A404EBE-9E46-9079-0949-B5C33AA279D8}"/>
              </a:ext>
            </a:extLst>
          </p:cNvPr>
          <p:cNvSpPr txBox="1"/>
          <p:nvPr/>
        </p:nvSpPr>
        <p:spPr>
          <a:xfrm>
            <a:off x="850900" y="5384800"/>
            <a:ext cx="10566400" cy="533400"/>
          </a:xfrm>
          <a:prstGeom prst="rect">
            <a:avLst/>
          </a:prstGeom>
          <a:noFill/>
        </p:spPr>
        <p:txBody>
          <a:bodyPr vert="horz" wrap="square" lIns="25400" tIns="12700" rIns="25400" bIns="12700" rtlCol="0" anchor="ctr">
            <a:noAutofit/>
          </a:bodyPr>
          <a:lstStyle/>
          <a:p>
            <a:r>
              <a:rPr lang="vi-VN" sz="1300" b="1">
                <a:solidFill>
                  <a:srgbClr val="002060"/>
                </a:solidFill>
                <a:latin typeface="Times New Roman" panose="02020603050405020304" pitchFamily="18" charset="0"/>
              </a:rPr>
              <a:t>LƯU Ý</a:t>
            </a:r>
          </a:p>
          <a:p>
            <a:r>
              <a:rPr lang="vi-VN" sz="1300">
                <a:solidFill>
                  <a:srgbClr val="000000"/>
                </a:solidFill>
                <a:latin typeface="Times New Roman" panose="02020603050405020304" pitchFamily="18" charset="0"/>
              </a:rPr>
              <a:t>Sau khi import, kiểm tra lại dữ liệu được tự động điền trong báo cáo.</a:t>
            </a:r>
            <a:endParaRPr lang="en-US" sz="13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20471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8A2A165-BA15-EB1D-123D-21C8A0F67101}"/>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2.10. Nội dung 10 – Đánh giá</a:t>
            </a:r>
          </a:p>
        </p:txBody>
      </p:sp>
      <p:sp>
        <p:nvSpPr>
          <p:cNvPr id="3" name="TextBox 2">
            <a:extLst>
              <a:ext uri="{FF2B5EF4-FFF2-40B4-BE49-F238E27FC236}">
                <a16:creationId xmlns:a16="http://schemas.microsoft.com/office/drawing/2014/main" id="{526F960C-9E65-B002-D192-012D0F7D0645}"/>
              </a:ext>
            </a:extLst>
          </p:cNvPr>
          <p:cNvSpPr txBox="1"/>
          <p:nvPr/>
        </p:nvSpPr>
        <p:spPr>
          <a:xfrm>
            <a:off x="698500" y="1270000"/>
            <a:ext cx="3683000" cy="635000"/>
          </a:xfrm>
          <a:prstGeom prst="rect">
            <a:avLst/>
          </a:prstGeom>
          <a:noFill/>
        </p:spPr>
        <p:txBody>
          <a:bodyPr vert="horz" wrap="square" lIns="25400" tIns="12700" rIns="25400" bIns="12700" rtlCol="0" anchor="t">
            <a:noAutofit/>
          </a:bodyPr>
          <a:lstStyle/>
          <a:p>
            <a:r>
              <a:rPr lang="vi-VN" sz="1400">
                <a:solidFill>
                  <a:srgbClr val="000000"/>
                </a:solidFill>
                <a:latin typeface="Times New Roman" panose="02020603050405020304" pitchFamily="18" charset="0"/>
              </a:rPr>
              <a:t>Sau khi hoàn thành Nội dung 9, dữ liệu tương ứng sẽ được chuyển sang mục này.</a:t>
            </a:r>
            <a:endParaRPr lang="en-US" sz="1400">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0BEDFC50-8141-EB15-6BF3-3E2E06765D5F}"/>
              </a:ext>
            </a:extLst>
          </p:cNvPr>
          <p:cNvSpPr txBox="1"/>
          <p:nvPr/>
        </p:nvSpPr>
        <p:spPr>
          <a:xfrm>
            <a:off x="698500" y="2057400"/>
            <a:ext cx="3683000" cy="254000"/>
          </a:xfrm>
          <a:prstGeom prst="rect">
            <a:avLst/>
          </a:prstGeom>
          <a:noFill/>
        </p:spPr>
        <p:txBody>
          <a:bodyPr vert="horz" wrap="square" lIns="25400" tIns="12700" rIns="25400" bIns="12700" rtlCol="0" anchor="t">
            <a:noAutofit/>
          </a:bodyPr>
          <a:lstStyle/>
          <a:p>
            <a:r>
              <a:rPr lang="vi-VN" sz="1400" b="1">
                <a:solidFill>
                  <a:srgbClr val="002060"/>
                </a:solidFill>
                <a:latin typeface="Times New Roman" panose="02020603050405020304" pitchFamily="18" charset="0"/>
              </a:rPr>
              <a:t>Phần đánh giá có 2 phương án:</a:t>
            </a:r>
            <a:endParaRPr lang="en-US" sz="1400" b="1">
              <a:solidFill>
                <a:srgbClr val="002060"/>
              </a:solidFill>
              <a:latin typeface="Times New Roman" panose="02020603050405020304" pitchFamily="18" charset="0"/>
            </a:endParaRPr>
          </a:p>
        </p:txBody>
      </p:sp>
      <p:sp>
        <p:nvSpPr>
          <p:cNvPr id="10" name="Oval 9">
            <a:extLst>
              <a:ext uri="{FF2B5EF4-FFF2-40B4-BE49-F238E27FC236}">
                <a16:creationId xmlns:a16="http://schemas.microsoft.com/office/drawing/2014/main" id="{695E7EA9-3C8B-A204-77AD-8C50896A64D5}"/>
              </a:ext>
            </a:extLst>
          </p:cNvPr>
          <p:cNvSpPr/>
          <p:nvPr/>
        </p:nvSpPr>
        <p:spPr>
          <a:xfrm>
            <a:off x="698500" y="2400300"/>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2" name="TextBox 11">
            <a:extLst>
              <a:ext uri="{FF2B5EF4-FFF2-40B4-BE49-F238E27FC236}">
                <a16:creationId xmlns:a16="http://schemas.microsoft.com/office/drawing/2014/main" id="{EB989756-6532-2609-6BE3-A8F8FDD72181}"/>
              </a:ext>
            </a:extLst>
          </p:cNvPr>
          <p:cNvSpPr txBox="1"/>
          <p:nvPr/>
        </p:nvSpPr>
        <p:spPr>
          <a:xfrm>
            <a:off x="1054100" y="2387600"/>
            <a:ext cx="3327400" cy="267716"/>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Chọn / nhập</a:t>
            </a:r>
            <a:r>
              <a:rPr lang="en-US" sz="1400">
                <a:solidFill>
                  <a:srgbClr val="000000"/>
                </a:solidFill>
                <a:latin typeface="Times New Roman" panose="02020603050405020304" pitchFamily="18" charset="0"/>
              </a:rPr>
              <a:t> kết quả đánh giá thủ công.</a:t>
            </a:r>
          </a:p>
        </p:txBody>
      </p:sp>
      <p:sp>
        <p:nvSpPr>
          <p:cNvPr id="13" name="Oval 12">
            <a:extLst>
              <a:ext uri="{FF2B5EF4-FFF2-40B4-BE49-F238E27FC236}">
                <a16:creationId xmlns:a16="http://schemas.microsoft.com/office/drawing/2014/main" id="{4E2D7CE6-B892-A251-447A-B820FFD4AD12}"/>
              </a:ext>
            </a:extLst>
          </p:cNvPr>
          <p:cNvSpPr/>
          <p:nvPr/>
        </p:nvSpPr>
        <p:spPr>
          <a:xfrm>
            <a:off x="698500" y="2820416"/>
            <a:ext cx="254000" cy="254000"/>
          </a:xfrm>
          <a:prstGeom prst="ellipse">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4" name="TextBox 13">
            <a:extLst>
              <a:ext uri="{FF2B5EF4-FFF2-40B4-BE49-F238E27FC236}">
                <a16:creationId xmlns:a16="http://schemas.microsoft.com/office/drawing/2014/main" id="{EAA6DB31-E1B1-6D5E-8A1E-275C02208DF1}"/>
              </a:ext>
            </a:extLst>
          </p:cNvPr>
          <p:cNvSpPr txBox="1"/>
          <p:nvPr/>
        </p:nvSpPr>
        <p:spPr>
          <a:xfrm>
            <a:off x="1054100" y="2807716"/>
            <a:ext cx="3327400" cy="701548"/>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Khi import Excel tại Nội dung 9</a:t>
            </a:r>
            <a:r>
              <a:rPr lang="en-US" sz="1400">
                <a:solidFill>
                  <a:srgbClr val="000000"/>
                </a:solidFill>
                <a:latin typeface="Times New Roman" panose="02020603050405020304" pitchFamily="18" charset="0"/>
              </a:rPr>
              <a:t>, kết quả đánh giá sẽ tự động chuyển sang Nội dung 10.</a:t>
            </a:r>
          </a:p>
        </p:txBody>
      </p:sp>
      <p:pic>
        <p:nvPicPr>
          <p:cNvPr id="16" name="Picture 15">
            <a:extLst>
              <a:ext uri="{FF2B5EF4-FFF2-40B4-BE49-F238E27FC236}">
                <a16:creationId xmlns:a16="http://schemas.microsoft.com/office/drawing/2014/main" id="{7488A140-2FA1-D2A8-9EC6-81C3F254E0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83100" y="1143000"/>
            <a:ext cx="7459696" cy="4065937"/>
          </a:xfrm>
          <a:prstGeom prst="rect">
            <a:avLst/>
          </a:prstGeom>
          <a:ln w="9525">
            <a:solidFill>
              <a:srgbClr val="BFBFBF"/>
            </a:solidFill>
          </a:ln>
        </p:spPr>
      </p:pic>
    </p:spTree>
    <p:extLst>
      <p:ext uri="{BB962C8B-B14F-4D97-AF65-F5344CB8AC3E}">
        <p14:creationId xmlns:p14="http://schemas.microsoft.com/office/powerpoint/2010/main" val="4262627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A353CDF-E957-8CCD-9DE6-D3488BC92768}"/>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2.11. Nội dung 11 – Kết quả đánh giá tự động</a:t>
            </a:r>
          </a:p>
        </p:txBody>
      </p:sp>
      <p:sp>
        <p:nvSpPr>
          <p:cNvPr id="3" name="TextBox 2">
            <a:extLst>
              <a:ext uri="{FF2B5EF4-FFF2-40B4-BE49-F238E27FC236}">
                <a16:creationId xmlns:a16="http://schemas.microsoft.com/office/drawing/2014/main" id="{2C8EF091-551E-5EE8-001F-9E3BEC8745C6}"/>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vi-VN" sz="1400">
                <a:solidFill>
                  <a:srgbClr val="000000"/>
                </a:solidFill>
                <a:latin typeface="Times New Roman" panose="02020603050405020304" pitchFamily="18" charset="0"/>
              </a:rPr>
              <a:t>Phần mềm tự động tổng hợp và đưa ra kết quả đánh giá.</a:t>
            </a:r>
            <a:endParaRPr lang="en-US" sz="1400">
              <a:solidFill>
                <a:srgbClr val="000000"/>
              </a:solidFill>
              <a:latin typeface="Times New Roman" panose="02020603050405020304" pitchFamily="18" charset="0"/>
            </a:endParaRPr>
          </a:p>
        </p:txBody>
      </p:sp>
      <p:pic>
        <p:nvPicPr>
          <p:cNvPr id="10" name="Picture 9">
            <a:extLst>
              <a:ext uri="{FF2B5EF4-FFF2-40B4-BE49-F238E27FC236}">
                <a16:creationId xmlns:a16="http://schemas.microsoft.com/office/drawing/2014/main" id="{A96A56DC-DED6-C390-5D0C-7729A213D1EC}"/>
              </a:ext>
            </a:extLst>
          </p:cNvPr>
          <p:cNvPicPr>
            <a:picLocks/>
          </p:cNvPicPr>
          <p:nvPr/>
        </p:nvPicPr>
        <p:blipFill>
          <a:blip r:embed="rId3">
            <a:extLst>
              <a:ext uri="{28A0092B-C50C-407E-A947-70E740481C1C}">
                <a14:useLocalDpi xmlns:a14="http://schemas.microsoft.com/office/drawing/2010/main" val="0"/>
              </a:ext>
            </a:extLst>
          </a:blip>
          <a:srcRect l="13346"/>
          <a:stretch>
            <a:fillRect/>
          </a:stretch>
        </p:blipFill>
        <p:spPr>
          <a:xfrm>
            <a:off x="177987" y="1651000"/>
            <a:ext cx="6222814" cy="3169900"/>
          </a:xfrm>
          <a:prstGeom prst="rect">
            <a:avLst/>
          </a:prstGeom>
          <a:ln w="9525">
            <a:solidFill>
              <a:srgbClr val="BFBFBF"/>
            </a:solidFill>
          </a:ln>
        </p:spPr>
      </p:pic>
      <p:sp>
        <p:nvSpPr>
          <p:cNvPr id="12" name="TextBox 11">
            <a:extLst>
              <a:ext uri="{FF2B5EF4-FFF2-40B4-BE49-F238E27FC236}">
                <a16:creationId xmlns:a16="http://schemas.microsoft.com/office/drawing/2014/main" id="{C7F99213-9318-AEA9-C8F8-CE358EA30DC1}"/>
              </a:ext>
            </a:extLst>
          </p:cNvPr>
          <p:cNvSpPr txBox="1"/>
          <p:nvPr/>
        </p:nvSpPr>
        <p:spPr>
          <a:xfrm>
            <a:off x="177987" y="4846299"/>
            <a:ext cx="6222814" cy="218503"/>
          </a:xfrm>
          <a:prstGeom prst="rect">
            <a:avLst/>
          </a:prstGeom>
          <a:noFill/>
        </p:spPr>
        <p:txBody>
          <a:bodyPr vert="horz" wrap="square" lIns="25400" tIns="12700" rIns="25400" bIns="12700" rtlCol="0" anchor="t">
            <a:noAutofit/>
          </a:bodyPr>
          <a:lstStyle/>
          <a:p>
            <a:pPr algn="ctr"/>
            <a:r>
              <a:rPr lang="en-US" sz="1100" i="1" dirty="0" err="1">
                <a:solidFill>
                  <a:srgbClr val="595959"/>
                </a:solidFill>
                <a:latin typeface="Times New Roman" panose="02020603050405020304" pitchFamily="18" charset="0"/>
              </a:rPr>
              <a:t>Tổng</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kết</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và</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biểu</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đồ</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kết</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quả</a:t>
            </a:r>
            <a:endParaRPr lang="en-US" sz="1100" i="1" dirty="0">
              <a:solidFill>
                <a:srgbClr val="595959"/>
              </a:solidFill>
              <a:latin typeface="Times New Roman" panose="02020603050405020304" pitchFamily="18" charset="0"/>
            </a:endParaRPr>
          </a:p>
        </p:txBody>
      </p:sp>
      <p:pic>
        <p:nvPicPr>
          <p:cNvPr id="14" name="Picture 13">
            <a:extLst>
              <a:ext uri="{FF2B5EF4-FFF2-40B4-BE49-F238E27FC236}">
                <a16:creationId xmlns:a16="http://schemas.microsoft.com/office/drawing/2014/main" id="{BFA18E6A-84BC-D11E-98F6-77B45E2D243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370840" y="1651000"/>
            <a:ext cx="5000219" cy="3169900"/>
          </a:xfrm>
          <a:prstGeom prst="rect">
            <a:avLst/>
          </a:prstGeom>
          <a:ln w="9525">
            <a:solidFill>
              <a:srgbClr val="BFBFBF"/>
            </a:solidFill>
          </a:ln>
        </p:spPr>
      </p:pic>
      <p:sp>
        <p:nvSpPr>
          <p:cNvPr id="15" name="TextBox 14">
            <a:extLst>
              <a:ext uri="{FF2B5EF4-FFF2-40B4-BE49-F238E27FC236}">
                <a16:creationId xmlns:a16="http://schemas.microsoft.com/office/drawing/2014/main" id="{500BA33E-DBEF-2FF7-B246-C00A69AADD21}"/>
              </a:ext>
            </a:extLst>
          </p:cNvPr>
          <p:cNvSpPr txBox="1"/>
          <p:nvPr/>
        </p:nvSpPr>
        <p:spPr>
          <a:xfrm>
            <a:off x="6247678" y="4820900"/>
            <a:ext cx="5245100" cy="203200"/>
          </a:xfrm>
          <a:prstGeom prst="rect">
            <a:avLst/>
          </a:prstGeom>
          <a:noFill/>
        </p:spPr>
        <p:txBody>
          <a:bodyPr vert="horz" wrap="square" lIns="25400" tIns="12700" rIns="25400" bIns="12700" rtlCol="0" anchor="t">
            <a:noAutofit/>
          </a:bodyPr>
          <a:lstStyle/>
          <a:p>
            <a:pPr algn="ctr"/>
            <a:r>
              <a:rPr lang="en-US" sz="1100" i="1">
                <a:solidFill>
                  <a:srgbClr val="595959"/>
                </a:solidFill>
                <a:latin typeface="Times New Roman" panose="02020603050405020304" pitchFamily="18" charset="0"/>
              </a:rPr>
              <a:t>Bảng thống kê theo điều kiện</a:t>
            </a:r>
          </a:p>
        </p:txBody>
      </p:sp>
    </p:spTree>
    <p:extLst>
      <p:ext uri="{BB962C8B-B14F-4D97-AF65-F5344CB8AC3E}">
        <p14:creationId xmlns:p14="http://schemas.microsoft.com/office/powerpoint/2010/main" val="2528783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512DCE7-1BD8-C0EA-B221-ECA110036DE9}"/>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3. Kiểm tra trước khi hoàn tất</a:t>
            </a:r>
            <a:endParaRPr lang="en-US" sz="1600" b="1">
              <a:solidFill>
                <a:srgbClr val="00206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129E12E2-DD24-BC32-C271-A5704FD22A80}"/>
              </a:ext>
            </a:extLst>
          </p:cNvPr>
          <p:cNvGraphicFramePr>
            <a:graphicFrameLocks noGrp="1"/>
          </p:cNvGraphicFramePr>
          <p:nvPr>
            <p:extLst>
              <p:ext uri="{D42A27DB-BD31-4B8C-83A1-F6EECF244321}">
                <p14:modId xmlns:p14="http://schemas.microsoft.com/office/powerpoint/2010/main" val="3060969703"/>
              </p:ext>
            </p:extLst>
          </p:nvPr>
        </p:nvGraphicFramePr>
        <p:xfrm>
          <a:off x="698500" y="1397000"/>
          <a:ext cx="10795000" cy="23622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1081379977"/>
                    </a:ext>
                  </a:extLst>
                </a:gridCol>
                <a:gridCol w="10033000">
                  <a:extLst>
                    <a:ext uri="{9D8B030D-6E8A-4147-A177-3AD203B41FA5}">
                      <a16:colId xmlns:a16="http://schemas.microsoft.com/office/drawing/2014/main" val="2044966414"/>
                    </a:ext>
                  </a:extLst>
                </a:gridCol>
              </a:tblGrid>
              <a:tr h="330200">
                <a:tc>
                  <a:txBody>
                    <a:bodyPr/>
                    <a:lstStyle/>
                    <a:p>
                      <a:endParaRPr lang="en-US" sz="1600" b="0" i="0">
                        <a:solidFill>
                          <a:srgbClr val="FFFFFF"/>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600" b="1" i="0">
                          <a:solidFill>
                            <a:srgbClr val="FFFFFF"/>
                          </a:solidFill>
                          <a:latin typeface="Times New Roman" panose="02020603050405020304" pitchFamily="18" charset="0"/>
                        </a:rPr>
                        <a:t>Nội dung kiểm tra</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3893748775"/>
                  </a:ext>
                </a:extLst>
              </a:tr>
              <a:tr h="508000">
                <a:tc>
                  <a:txBody>
                    <a:bodyPr/>
                    <a:lstStyle/>
                    <a:p>
                      <a:pPr marL="0" indent="0" algn="ctr">
                        <a:spcBef>
                          <a:spcPts val="0"/>
                        </a:spcBef>
                        <a:spcAft>
                          <a:spcPts val="0"/>
                        </a:spcAft>
                        <a:buFontTx/>
                        <a:buNone/>
                      </a:pPr>
                      <a:r>
                        <a:rPr lang="en-US" sz="1600" dirty="0">
                          <a:solidFill>
                            <a:srgbClr val="00FF00"/>
                          </a:solidFill>
                        </a:rPr>
                        <a:t>✔</a:t>
                      </a:r>
                      <a:endParaRPr lang="en-US" sz="1600" b="0" i="0" dirty="0">
                        <a:solidFill>
                          <a:srgbClr val="00FF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600" b="0" i="0" dirty="0">
                          <a:solidFill>
                            <a:srgbClr val="000000"/>
                          </a:solidFill>
                          <a:latin typeface="Times New Roman" panose="02020603050405020304" pitchFamily="18" charset="0"/>
                        </a:rPr>
                        <a:t>Đã tạo và mở đúng hồ sơ dự án.</a:t>
                      </a:r>
                      <a:endParaRPr lang="en-US" sz="1600" b="0" i="0" dirty="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685928226"/>
                  </a:ext>
                </a:extLst>
              </a:tr>
              <a:tr h="508000">
                <a:tc>
                  <a:txBody>
                    <a:bodyPr/>
                    <a:lstStyle/>
                    <a:p>
                      <a:pPr marL="0" indent="0" algn="ctr">
                        <a:spcBef>
                          <a:spcPts val="0"/>
                        </a:spcBef>
                        <a:spcAft>
                          <a:spcPts val="0"/>
                        </a:spcAft>
                        <a:buFontTx/>
                        <a:buNone/>
                      </a:pPr>
                      <a:r>
                        <a:rPr lang="en-US" sz="1600" dirty="0">
                          <a:solidFill>
                            <a:srgbClr val="00FF00"/>
                          </a:solidFill>
                        </a:rPr>
                        <a:t>✔</a:t>
                      </a:r>
                      <a:endParaRPr lang="en-US" sz="1600" b="0" i="0" dirty="0">
                        <a:solidFill>
                          <a:srgbClr val="00FF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600" b="0" i="0">
                          <a:solidFill>
                            <a:srgbClr val="000000"/>
                          </a:solidFill>
                          <a:latin typeface="Times New Roman" panose="02020603050405020304" pitchFamily="18" charset="0"/>
                        </a:rPr>
                        <a:t>Đã hoàn thiện các nội dung từ 1 đến 11 theo yêu cầu.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672281312"/>
                  </a:ext>
                </a:extLst>
              </a:tr>
              <a:tr h="508000">
                <a:tc>
                  <a:txBody>
                    <a:bodyPr/>
                    <a:lstStyle/>
                    <a:p>
                      <a:pPr marL="0" indent="0" algn="ctr">
                        <a:spcBef>
                          <a:spcPts val="0"/>
                        </a:spcBef>
                        <a:spcAft>
                          <a:spcPts val="0"/>
                        </a:spcAft>
                        <a:buFontTx/>
                        <a:buNone/>
                      </a:pPr>
                      <a:r>
                        <a:rPr lang="en-US" sz="1600" dirty="0">
                          <a:solidFill>
                            <a:srgbClr val="00FF00"/>
                          </a:solidFill>
                        </a:rPr>
                        <a:t>✔</a:t>
                      </a:r>
                      <a:endParaRPr lang="en-US" sz="1600" b="0" i="0" dirty="0">
                        <a:solidFill>
                          <a:srgbClr val="00FF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600" b="0" i="0" dirty="0">
                          <a:solidFill>
                            <a:srgbClr val="000000"/>
                          </a:solidFill>
                          <a:latin typeface="Times New Roman" panose="02020603050405020304" pitchFamily="18" charset="0"/>
                        </a:rPr>
                        <a:t>Đã kiểm tra các trường thông tin còn thiếu, danh sách BOM và sơ đồ kết nối.</a:t>
                      </a:r>
                      <a:endParaRPr lang="en-US" sz="1600" b="0" i="0" dirty="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488122223"/>
                  </a:ext>
                </a:extLst>
              </a:tr>
              <a:tr h="508000">
                <a:tc>
                  <a:txBody>
                    <a:bodyPr/>
                    <a:lstStyle/>
                    <a:p>
                      <a:pPr marL="0" indent="0" algn="ctr">
                        <a:spcBef>
                          <a:spcPts val="0"/>
                        </a:spcBef>
                        <a:spcAft>
                          <a:spcPts val="0"/>
                        </a:spcAft>
                        <a:buFontTx/>
                        <a:buNone/>
                      </a:pPr>
                      <a:r>
                        <a:rPr lang="en-US" sz="1600" dirty="0">
                          <a:solidFill>
                            <a:srgbClr val="00FF00"/>
                          </a:solidFill>
                        </a:rPr>
                        <a:t>✔</a:t>
                      </a:r>
                      <a:endParaRPr lang="en-US" sz="1600" b="0" i="0" dirty="0">
                        <a:solidFill>
                          <a:srgbClr val="00FF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600" b="0" i="0" dirty="0" err="1">
                          <a:solidFill>
                            <a:srgbClr val="000000"/>
                          </a:solidFill>
                          <a:latin typeface="Times New Roman" panose="02020603050405020304" pitchFamily="18" charset="0"/>
                        </a:rPr>
                        <a:t>Đã</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rà</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soát</a:t>
                      </a:r>
                      <a:r>
                        <a:rPr lang="en-US" sz="1600" b="0" i="0" dirty="0">
                          <a:solidFill>
                            <a:srgbClr val="000000"/>
                          </a:solidFill>
                          <a:latin typeface="Times New Roman" panose="02020603050405020304" pitchFamily="18" charset="0"/>
                        </a:rPr>
                        <a:t> cycle time, </a:t>
                      </a:r>
                      <a:r>
                        <a:rPr lang="en-US" sz="1600" b="0" i="0" dirty="0" err="1">
                          <a:solidFill>
                            <a:srgbClr val="000000"/>
                          </a:solidFill>
                          <a:latin typeface="Times New Roman" panose="02020603050405020304" pitchFamily="18" charset="0"/>
                        </a:rPr>
                        <a:t>dữ</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liệu</a:t>
                      </a:r>
                      <a:r>
                        <a:rPr lang="en-US" sz="1600" b="0" i="0" dirty="0">
                          <a:solidFill>
                            <a:srgbClr val="000000"/>
                          </a:solidFill>
                          <a:latin typeface="Times New Roman" panose="02020603050405020304" pitchFamily="18" charset="0"/>
                        </a:rPr>
                        <a:t> / </a:t>
                      </a:r>
                      <a:r>
                        <a:rPr lang="en-US" sz="1600" b="0" i="0" dirty="0" err="1">
                          <a:solidFill>
                            <a:srgbClr val="000000"/>
                          </a:solidFill>
                          <a:latin typeface="Times New Roman" panose="02020603050405020304" pitchFamily="18" charset="0"/>
                        </a:rPr>
                        <a:t>ảnh</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đánh</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giá</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và</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kết</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quả</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đánh</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giá</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tự</a:t>
                      </a:r>
                      <a:r>
                        <a:rPr lang="en-US" sz="1600" b="0" i="0" dirty="0">
                          <a:solidFill>
                            <a:srgbClr val="000000"/>
                          </a:solidFill>
                          <a:latin typeface="Times New Roman" panose="02020603050405020304" pitchFamily="18" charset="0"/>
                        </a:rPr>
                        <a:t> </a:t>
                      </a:r>
                      <a:r>
                        <a:rPr lang="en-US" sz="1600" b="0" i="0" dirty="0" err="1">
                          <a:solidFill>
                            <a:srgbClr val="000000"/>
                          </a:solidFill>
                          <a:latin typeface="Times New Roman" panose="02020603050405020304" pitchFamily="18" charset="0"/>
                        </a:rPr>
                        <a:t>động</a:t>
                      </a:r>
                      <a:r>
                        <a:rPr lang="en-US" sz="1600" b="0" i="0" dirty="0">
                          <a:solidFill>
                            <a:srgbClr val="000000"/>
                          </a:solidFill>
                          <a:latin typeface="Times New Roman" panose="02020603050405020304" pitchFamily="18" charset="0"/>
                        </a:rPr>
                        <a: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16902191"/>
                  </a:ext>
                </a:extLst>
              </a:tr>
            </a:tbl>
          </a:graphicData>
        </a:graphic>
      </p:graphicFrame>
    </p:spTree>
    <p:extLst>
      <p:ext uri="{BB962C8B-B14F-4D97-AF65-F5344CB8AC3E}">
        <p14:creationId xmlns:p14="http://schemas.microsoft.com/office/powerpoint/2010/main" val="1095427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 KHỞI TẠO DỰ ÁN</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1B2842F-E1DC-26F4-BC89-E0C6490CB627}"/>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4. Xuất báo cáo giải pháp</a:t>
            </a:r>
          </a:p>
        </p:txBody>
      </p:sp>
      <p:pic>
        <p:nvPicPr>
          <p:cNvPr id="9" name="Picture 8">
            <a:extLst>
              <a:ext uri="{FF2B5EF4-FFF2-40B4-BE49-F238E27FC236}">
                <a16:creationId xmlns:a16="http://schemas.microsoft.com/office/drawing/2014/main" id="{DD51A256-2D15-CDC1-C602-64B5DE4255E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270000"/>
            <a:ext cx="6858000" cy="2957001"/>
          </a:xfrm>
          <a:prstGeom prst="rect">
            <a:avLst/>
          </a:prstGeom>
          <a:ln w="9525">
            <a:solidFill>
              <a:srgbClr val="BFBFBF"/>
            </a:solidFill>
          </a:ln>
        </p:spPr>
      </p:pic>
      <p:sp>
        <p:nvSpPr>
          <p:cNvPr id="10" name="TextBox 9">
            <a:extLst>
              <a:ext uri="{FF2B5EF4-FFF2-40B4-BE49-F238E27FC236}">
                <a16:creationId xmlns:a16="http://schemas.microsoft.com/office/drawing/2014/main" id="{508A0CA6-15B3-E347-D215-EFE92C0E3803}"/>
              </a:ext>
            </a:extLst>
          </p:cNvPr>
          <p:cNvSpPr txBox="1"/>
          <p:nvPr/>
        </p:nvSpPr>
        <p:spPr>
          <a:xfrm>
            <a:off x="698500" y="4252401"/>
            <a:ext cx="6858000" cy="203200"/>
          </a:xfrm>
          <a:prstGeom prst="rect">
            <a:avLst/>
          </a:prstGeom>
          <a:noFill/>
        </p:spPr>
        <p:txBody>
          <a:bodyPr vert="horz" wrap="square" lIns="25400" tIns="12700" rIns="25400" bIns="12700" rtlCol="0" anchor="t">
            <a:noAutofit/>
          </a:bodyPr>
          <a:lstStyle/>
          <a:p>
            <a:pPr algn="ctr"/>
            <a:r>
              <a:rPr lang="vi-VN" sz="1100" i="1">
                <a:solidFill>
                  <a:srgbClr val="595959"/>
                </a:solidFill>
                <a:latin typeface="Times New Roman" panose="02020603050405020304" pitchFamily="18" charset="0"/>
              </a:rPr>
              <a:t>Bấm Xuất Excel → chọn nơi lưu</a:t>
            </a:r>
            <a:endParaRPr lang="en-US" sz="1100" i="1">
              <a:solidFill>
                <a:srgbClr val="595959"/>
              </a:solidFill>
              <a:latin typeface="Times New Roman" panose="02020603050405020304" pitchFamily="18" charset="0"/>
            </a:endParaRPr>
          </a:p>
        </p:txBody>
      </p:sp>
      <p:sp>
        <p:nvSpPr>
          <p:cNvPr id="12" name="Rectangle 11">
            <a:extLst>
              <a:ext uri="{FF2B5EF4-FFF2-40B4-BE49-F238E27FC236}">
                <a16:creationId xmlns:a16="http://schemas.microsoft.com/office/drawing/2014/main" id="{A306CC19-BC77-B918-3400-43AAC222D9A1}"/>
              </a:ext>
            </a:extLst>
          </p:cNvPr>
          <p:cNvSpPr/>
          <p:nvPr/>
        </p:nvSpPr>
        <p:spPr>
          <a:xfrm>
            <a:off x="7810500" y="1270000"/>
            <a:ext cx="3683000" cy="1016000"/>
          </a:xfrm>
          <a:prstGeom prst="rect">
            <a:avLst/>
          </a:prstGeom>
          <a:solidFill>
            <a:srgbClr val="FDECEA"/>
          </a:solidFill>
          <a:ln w="9525">
            <a:solidFill>
              <a:srgbClr val="F4B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C25851-6793-6E21-E278-CAECAC1AEA9D}"/>
              </a:ext>
            </a:extLst>
          </p:cNvPr>
          <p:cNvSpPr/>
          <p:nvPr/>
        </p:nvSpPr>
        <p:spPr>
          <a:xfrm>
            <a:off x="7810500" y="1270000"/>
            <a:ext cx="50800" cy="10160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2F2E489-7174-A229-4F8E-12AF01B6CAF9}"/>
              </a:ext>
            </a:extLst>
          </p:cNvPr>
          <p:cNvSpPr txBox="1"/>
          <p:nvPr/>
        </p:nvSpPr>
        <p:spPr>
          <a:xfrm>
            <a:off x="7962900" y="1320800"/>
            <a:ext cx="3454400" cy="914400"/>
          </a:xfrm>
          <a:prstGeom prst="rect">
            <a:avLst/>
          </a:prstGeom>
          <a:noFill/>
        </p:spPr>
        <p:txBody>
          <a:bodyPr vert="horz" wrap="square" lIns="25400" tIns="12700" rIns="25400" bIns="12700" rtlCol="0" anchor="ctr">
            <a:noAutofit/>
          </a:bodyPr>
          <a:lstStyle/>
          <a:p>
            <a:r>
              <a:rPr lang="vi-VN" sz="1300" b="1">
                <a:solidFill>
                  <a:srgbClr val="C00000"/>
                </a:solidFill>
                <a:latin typeface="Times New Roman" panose="02020603050405020304" pitchFamily="18" charset="0"/>
              </a:rPr>
              <a:t>CẢNH BÁO</a:t>
            </a:r>
          </a:p>
          <a:p>
            <a:r>
              <a:rPr lang="vi-VN" sz="1300">
                <a:solidFill>
                  <a:srgbClr val="000000"/>
                </a:solidFill>
                <a:latin typeface="Times New Roman" panose="02020603050405020304" pitchFamily="18" charset="0"/>
              </a:rPr>
              <a:t>Xuất báo cáo phải lưu ở cùng cấp thư mục với thư mục ảnh mới mở được ảnh.</a:t>
            </a:r>
            <a:endParaRPr lang="en-US" sz="1300">
              <a:solidFill>
                <a:srgbClr val="000000"/>
              </a:solidFill>
              <a:latin typeface="Times New Roman" panose="02020603050405020304" pitchFamily="18" charset="0"/>
            </a:endParaRPr>
          </a:p>
        </p:txBody>
      </p:sp>
      <p:sp>
        <p:nvSpPr>
          <p:cNvPr id="15" name="TextBox 14">
            <a:extLst>
              <a:ext uri="{FF2B5EF4-FFF2-40B4-BE49-F238E27FC236}">
                <a16:creationId xmlns:a16="http://schemas.microsoft.com/office/drawing/2014/main" id="{6C36A217-E984-D65E-70AE-8D59C3800AEA}"/>
              </a:ext>
            </a:extLst>
          </p:cNvPr>
          <p:cNvSpPr txBox="1"/>
          <p:nvPr/>
        </p:nvSpPr>
        <p:spPr>
          <a:xfrm>
            <a:off x="7810500" y="2489200"/>
            <a:ext cx="2540000" cy="254000"/>
          </a:xfrm>
          <a:prstGeom prst="rect">
            <a:avLst/>
          </a:prstGeom>
          <a:noFill/>
        </p:spPr>
        <p:txBody>
          <a:bodyPr vert="horz" wrap="square" lIns="25400" tIns="12700" rIns="25400" bIns="12700" rtlCol="0" anchor="t">
            <a:noAutofit/>
          </a:bodyPr>
          <a:lstStyle/>
          <a:p>
            <a:r>
              <a:rPr lang="en-US" sz="1400" b="1">
                <a:solidFill>
                  <a:srgbClr val="002060"/>
                </a:solidFill>
                <a:latin typeface="Times New Roman" panose="02020603050405020304" pitchFamily="18" charset="0"/>
              </a:rPr>
              <a:t>Ví dụ:</a:t>
            </a:r>
          </a:p>
        </p:txBody>
      </p:sp>
      <p:sp>
        <p:nvSpPr>
          <p:cNvPr id="16" name="TextBox 15">
            <a:extLst>
              <a:ext uri="{FF2B5EF4-FFF2-40B4-BE49-F238E27FC236}">
                <a16:creationId xmlns:a16="http://schemas.microsoft.com/office/drawing/2014/main" id="{7124BBE1-6A60-BE10-A342-60F16AE244F7}"/>
              </a:ext>
            </a:extLst>
          </p:cNvPr>
          <p:cNvSpPr txBox="1"/>
          <p:nvPr/>
        </p:nvSpPr>
        <p:spPr>
          <a:xfrm>
            <a:off x="7810500" y="2794000"/>
            <a:ext cx="3683000" cy="1143000"/>
          </a:xfrm>
          <a:prstGeom prst="rect">
            <a:avLst/>
          </a:prstGeom>
          <a:solidFill>
            <a:srgbClr val="F2F2F2"/>
          </a:solidFill>
          <a:ln w="9525">
            <a:solidFill>
              <a:srgbClr val="BFBFBF"/>
            </a:solidFill>
          </a:ln>
        </p:spPr>
        <p:txBody>
          <a:bodyPr vert="horz" wrap="square" lIns="101600" tIns="12700" rIns="101600" bIns="12700" rtlCol="0" anchor="t">
            <a:noAutofit/>
          </a:bodyPr>
          <a:lstStyle/>
          <a:p>
            <a:r>
              <a:rPr lang="en-US" sz="1300">
                <a:solidFill>
                  <a:srgbClr val="000000"/>
                </a:solidFill>
                <a:latin typeface="Consolas" panose="020B0609020204030204" pitchFamily="49" charset="0"/>
              </a:rPr>
              <a:t>Dataset\</a:t>
            </a:r>
          </a:p>
          <a:p>
            <a:r>
              <a:rPr lang="en-US" sz="1300">
                <a:solidFill>
                  <a:srgbClr val="000000"/>
                </a:solidFill>
                <a:latin typeface="Consolas" panose="020B0609020204030204" pitchFamily="49" charset="0"/>
              </a:rPr>
              <a:t>├── Report.xlsx</a:t>
            </a:r>
          </a:p>
          <a:p>
            <a:r>
              <a:rPr lang="en-US" sz="1300">
                <a:solidFill>
                  <a:srgbClr val="000000"/>
                </a:solidFill>
                <a:latin typeface="Consolas" panose="020B0609020204030204" pitchFamily="49" charset="0"/>
              </a:rPr>
              <a:t>├── ĐK1</a:t>
            </a:r>
          </a:p>
          <a:p>
            <a:r>
              <a:rPr lang="en-US" sz="1300">
                <a:solidFill>
                  <a:srgbClr val="000000"/>
                </a:solidFill>
                <a:latin typeface="Consolas" panose="020B0609020204030204" pitchFamily="49" charset="0"/>
              </a:rPr>
              <a:t>└── ĐK2</a:t>
            </a:r>
          </a:p>
        </p:txBody>
      </p:sp>
    </p:spTree>
    <p:extLst>
      <p:ext uri="{BB962C8B-B14F-4D97-AF65-F5344CB8AC3E}">
        <p14:creationId xmlns:p14="http://schemas.microsoft.com/office/powerpoint/2010/main" val="1111596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DBEA4EE-9461-6498-E922-6D7B9F08DAA7}"/>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1. Giới thiệu phần mềm Vision Image Tool</a:t>
            </a:r>
          </a:p>
        </p:txBody>
      </p:sp>
      <p:sp>
        <p:nvSpPr>
          <p:cNvPr id="3" name="TextBox 2">
            <a:extLst>
              <a:ext uri="{FF2B5EF4-FFF2-40B4-BE49-F238E27FC236}">
                <a16:creationId xmlns:a16="http://schemas.microsoft.com/office/drawing/2014/main" id="{E642919E-BD0D-96C9-62C4-91DBA5AC7A5A}"/>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Vision Image Tool là phần mềm thu thập và quản lý dữ liệu ảnh cho hệ thống UnitX, gồm 3 chức năng chính:</a:t>
            </a:r>
          </a:p>
        </p:txBody>
      </p:sp>
      <p:sp>
        <p:nvSpPr>
          <p:cNvPr id="9" name="TextBox 8">
            <a:extLst>
              <a:ext uri="{FF2B5EF4-FFF2-40B4-BE49-F238E27FC236}">
                <a16:creationId xmlns:a16="http://schemas.microsoft.com/office/drawing/2014/main" id="{020E79FE-DD07-1B63-82D9-30D75D8534A4}"/>
              </a:ext>
            </a:extLst>
          </p:cNvPr>
          <p:cNvSpPr txBox="1"/>
          <p:nvPr/>
        </p:nvSpPr>
        <p:spPr>
          <a:xfrm>
            <a:off x="698499" y="1574800"/>
            <a:ext cx="11018371" cy="1371600"/>
          </a:xfrm>
          <a:prstGeom prst="rect">
            <a:avLst/>
          </a:prstGeom>
          <a:noFill/>
        </p:spPr>
        <p:txBody>
          <a:bodyPr vert="horz" wrap="square" lIns="25400" tIns="12700" rIns="25400" bIns="12700" rtlCol="0" anchor="t">
            <a:noAutofit/>
          </a:bodyPr>
          <a:lstStyle/>
          <a:p>
            <a:pPr marL="177800" indent="-177800">
              <a:spcAft>
                <a:spcPts val="400"/>
              </a:spcAft>
              <a:buFont typeface="+mj-lt"/>
              <a:buChar char="•"/>
            </a:pPr>
            <a:r>
              <a:rPr lang="vi-VN" sz="1300" b="1" dirty="0" err="1">
                <a:solidFill>
                  <a:srgbClr val="002060"/>
                </a:solidFill>
                <a:latin typeface="Times New Roman" panose="02020603050405020304" pitchFamily="18" charset="0"/>
              </a:rPr>
              <a:t>Capture</a:t>
            </a:r>
            <a:r>
              <a:rPr lang="vi-VN" sz="1300" b="1" dirty="0">
                <a:solidFill>
                  <a:srgbClr val="002060"/>
                </a:solidFill>
                <a:latin typeface="Times New Roman" panose="02020603050405020304" pitchFamily="18" charset="0"/>
              </a:rPr>
              <a:t> &amp; </a:t>
            </a:r>
            <a:r>
              <a:rPr lang="vi-VN" sz="1300" b="1" dirty="0" err="1">
                <a:solidFill>
                  <a:srgbClr val="002060"/>
                </a:solidFill>
                <a:latin typeface="Times New Roman" panose="02020603050405020304" pitchFamily="18" charset="0"/>
              </a:rPr>
              <a:t>Monitor</a:t>
            </a:r>
            <a:r>
              <a:rPr lang="vi-VN" sz="1300" b="1" dirty="0">
                <a:solidFill>
                  <a:srgbClr val="002060"/>
                </a:solidFill>
                <a:latin typeface="Times New Roman" panose="02020603050405020304" pitchFamily="18" charset="0"/>
              </a:rPr>
              <a:t>: </a:t>
            </a:r>
            <a:r>
              <a:rPr lang="vi-VN" sz="1300" dirty="0">
                <a:solidFill>
                  <a:srgbClr val="000000"/>
                </a:solidFill>
                <a:latin typeface="Times New Roman" panose="02020603050405020304" pitchFamily="18" charset="0"/>
              </a:rPr>
              <a:t>kết nối </a:t>
            </a:r>
            <a:r>
              <a:rPr lang="vi-VN" sz="1300" dirty="0" err="1">
                <a:solidFill>
                  <a:srgbClr val="000000"/>
                </a:solidFill>
                <a:latin typeface="Times New Roman" panose="02020603050405020304" pitchFamily="18" charset="0"/>
              </a:rPr>
              <a:t>camera</a:t>
            </a:r>
            <a:r>
              <a:rPr lang="vi-VN" sz="1300" dirty="0">
                <a:solidFill>
                  <a:srgbClr val="000000"/>
                </a:solidFill>
                <a:latin typeface="Times New Roman" panose="02020603050405020304" pitchFamily="18" charset="0"/>
              </a:rPr>
              <a:t>, chụp / </a:t>
            </a:r>
            <a:r>
              <a:rPr lang="vi-VN" sz="1300" dirty="0" err="1">
                <a:solidFill>
                  <a:srgbClr val="000000"/>
                </a:solidFill>
                <a:latin typeface="Times New Roman" panose="02020603050405020304" pitchFamily="18" charset="0"/>
              </a:rPr>
              <a:t>push</a:t>
            </a:r>
            <a:r>
              <a:rPr lang="vi-VN" sz="1300" dirty="0">
                <a:solidFill>
                  <a:srgbClr val="000000"/>
                </a:solidFill>
                <a:latin typeface="Times New Roman" panose="02020603050405020304" pitchFamily="18" charset="0"/>
              </a:rPr>
              <a:t> ảnh tương tác trực tiếp với phần cứng </a:t>
            </a:r>
            <a:r>
              <a:rPr lang="vi-VN" sz="1300" dirty="0" err="1">
                <a:solidFill>
                  <a:srgbClr val="000000"/>
                </a:solidFill>
                <a:latin typeface="Times New Roman" panose="02020603050405020304" pitchFamily="18" charset="0"/>
              </a:rPr>
              <a:t>UnitX</a:t>
            </a:r>
            <a:r>
              <a:rPr lang="vi-VN" sz="1300" dirty="0">
                <a:solidFill>
                  <a:srgbClr val="000000"/>
                </a:solidFill>
                <a:latin typeface="Times New Roman" panose="02020603050405020304" pitchFamily="18" charset="0"/>
              </a:rPr>
              <a:t>, tự động lưu cặp ảnh </a:t>
            </a:r>
            <a:r>
              <a:rPr lang="vi-VN" sz="1300" dirty="0" err="1">
                <a:solidFill>
                  <a:srgbClr val="000000"/>
                </a:solidFill>
                <a:latin typeface="Times New Roman" panose="02020603050405020304" pitchFamily="18" charset="0"/>
              </a:rPr>
              <a:t>Raw</a:t>
            </a:r>
            <a:r>
              <a:rPr lang="vi-VN" sz="1300" dirty="0">
                <a:solidFill>
                  <a:srgbClr val="000000"/>
                </a:solidFill>
                <a:latin typeface="Times New Roman" panose="02020603050405020304" pitchFamily="18" charset="0"/>
              </a:rPr>
              <a:t>/</a:t>
            </a:r>
            <a:r>
              <a:rPr lang="vi-VN" sz="1300" dirty="0" err="1">
                <a:solidFill>
                  <a:srgbClr val="000000"/>
                </a:solidFill>
                <a:latin typeface="Times New Roman" panose="02020603050405020304" pitchFamily="18" charset="0"/>
              </a:rPr>
              <a:t>Mask</a:t>
            </a:r>
            <a:r>
              <a:rPr lang="vi-VN" sz="1300" dirty="0">
                <a:solidFill>
                  <a:srgbClr val="000000"/>
                </a:solidFill>
                <a:latin typeface="Times New Roman" panose="02020603050405020304" pitchFamily="18" charset="0"/>
              </a:rPr>
              <a:t> | OK/NG theo quy tắc để quản lý.</a:t>
            </a:r>
          </a:p>
          <a:p>
            <a:pPr marL="177800" indent="-177800">
              <a:spcAft>
                <a:spcPts val="400"/>
              </a:spcAft>
              <a:buFont typeface="+mj-lt"/>
              <a:buChar char="•"/>
            </a:pPr>
            <a:r>
              <a:rPr lang="vi-VN" sz="1300" b="1" dirty="0" err="1">
                <a:solidFill>
                  <a:srgbClr val="002060"/>
                </a:solidFill>
                <a:latin typeface="Times New Roman" panose="02020603050405020304" pitchFamily="18" charset="0"/>
              </a:rPr>
              <a:t>Dataset</a:t>
            </a:r>
            <a:r>
              <a:rPr lang="vi-VN" sz="1300" b="1" dirty="0">
                <a:solidFill>
                  <a:srgbClr val="002060"/>
                </a:solidFill>
                <a:latin typeface="Times New Roman" panose="02020603050405020304" pitchFamily="18" charset="0"/>
              </a:rPr>
              <a:t> </a:t>
            </a:r>
            <a:r>
              <a:rPr lang="vi-VN" sz="1300" b="1" dirty="0" err="1">
                <a:solidFill>
                  <a:srgbClr val="002060"/>
                </a:solidFill>
                <a:latin typeface="Times New Roman" panose="02020603050405020304" pitchFamily="18" charset="0"/>
              </a:rPr>
              <a:t>Manager</a:t>
            </a:r>
            <a:r>
              <a:rPr lang="vi-VN" sz="1300" b="1" dirty="0">
                <a:solidFill>
                  <a:srgbClr val="002060"/>
                </a:solidFill>
                <a:latin typeface="Times New Roman" panose="02020603050405020304" pitchFamily="18" charset="0"/>
              </a:rPr>
              <a:t>: </a:t>
            </a:r>
            <a:r>
              <a:rPr lang="vi-VN" sz="1300" dirty="0">
                <a:solidFill>
                  <a:srgbClr val="000000"/>
                </a:solidFill>
                <a:latin typeface="Times New Roman" panose="02020603050405020304" pitchFamily="18" charset="0"/>
              </a:rPr>
              <a:t>tự động gom ảnh theo </a:t>
            </a:r>
            <a:r>
              <a:rPr lang="vi-VN" sz="1300" dirty="0" err="1">
                <a:solidFill>
                  <a:srgbClr val="000000"/>
                </a:solidFill>
                <a:latin typeface="Times New Roman" panose="02020603050405020304" pitchFamily="18" charset="0"/>
              </a:rPr>
              <a:t>Schema</a:t>
            </a:r>
            <a:r>
              <a:rPr lang="vi-VN" sz="1300" dirty="0">
                <a:solidFill>
                  <a:srgbClr val="000000"/>
                </a:solidFill>
                <a:latin typeface="Times New Roman" panose="02020603050405020304" pitchFamily="18" charset="0"/>
              </a:rPr>
              <a:t>, ghép cặp </a:t>
            </a:r>
            <a:r>
              <a:rPr lang="vi-VN" sz="1300" dirty="0" err="1">
                <a:solidFill>
                  <a:srgbClr val="000000"/>
                </a:solidFill>
                <a:latin typeface="Times New Roman" panose="02020603050405020304" pitchFamily="18" charset="0"/>
              </a:rPr>
              <a:t>Raw</a:t>
            </a:r>
            <a:r>
              <a:rPr lang="vi-VN" sz="1300" dirty="0">
                <a:solidFill>
                  <a:srgbClr val="000000"/>
                </a:solidFill>
                <a:latin typeface="Times New Roman" panose="02020603050405020304" pitchFamily="18" charset="0"/>
              </a:rPr>
              <a:t>/</a:t>
            </a:r>
            <a:r>
              <a:rPr lang="vi-VN" sz="1300" dirty="0" err="1">
                <a:solidFill>
                  <a:srgbClr val="000000"/>
                </a:solidFill>
                <a:latin typeface="Times New Roman" panose="02020603050405020304" pitchFamily="18" charset="0"/>
              </a:rPr>
              <a:t>Mask</a:t>
            </a:r>
            <a:r>
              <a:rPr lang="vi-VN" sz="1300" dirty="0">
                <a:solidFill>
                  <a:srgbClr val="000000"/>
                </a:solidFill>
                <a:latin typeface="Times New Roman" panose="02020603050405020304" pitchFamily="18" charset="0"/>
              </a:rPr>
              <a:t> theo từng điều kiện </a:t>
            </a:r>
            <a:r>
              <a:rPr lang="vi-VN" sz="1300" dirty="0" err="1">
                <a:solidFill>
                  <a:srgbClr val="000000"/>
                </a:solidFill>
                <a:latin typeface="Times New Roman" panose="02020603050405020304" pitchFamily="18" charset="0"/>
              </a:rPr>
              <a:t>test</a:t>
            </a:r>
            <a:r>
              <a:rPr lang="vi-VN" sz="1300" dirty="0">
                <a:solidFill>
                  <a:srgbClr val="000000"/>
                </a:solidFill>
                <a:latin typeface="Times New Roman" panose="02020603050405020304" pitchFamily="18" charset="0"/>
              </a:rPr>
              <a:t>, phát hiện ảnh lỗi / thiếu, hỗ trợ lọc, gán nhãn (O / </a:t>
            </a:r>
            <a:r>
              <a:rPr lang="el-GR" sz="1300" dirty="0">
                <a:solidFill>
                  <a:srgbClr val="000000"/>
                </a:solidFill>
                <a:latin typeface="Times New Roman" panose="02020603050405020304" pitchFamily="18" charset="0"/>
              </a:rPr>
              <a:t>Δ / </a:t>
            </a:r>
            <a:r>
              <a:rPr lang="vi-VN" sz="1300" dirty="0">
                <a:solidFill>
                  <a:srgbClr val="000000"/>
                </a:solidFill>
                <a:latin typeface="Times New Roman" panose="02020603050405020304" pitchFamily="18" charset="0"/>
              </a:rPr>
              <a:t>X) và xuất báo cáo Excel / JSON nhanh chóng.</a:t>
            </a:r>
          </a:p>
          <a:p>
            <a:pPr marL="177800" indent="-177800">
              <a:spcAft>
                <a:spcPts val="400"/>
              </a:spcAft>
              <a:buFont typeface="+mj-lt"/>
              <a:buChar char="•"/>
            </a:pPr>
            <a:r>
              <a:rPr lang="vi-VN" sz="1300" b="1" dirty="0">
                <a:solidFill>
                  <a:srgbClr val="002060"/>
                </a:solidFill>
                <a:latin typeface="Times New Roman" panose="02020603050405020304" pitchFamily="18" charset="0"/>
              </a:rPr>
              <a:t>Đồng bộ với hệ sinh thái Q </a:t>
            </a:r>
            <a:r>
              <a:rPr lang="vi-VN" sz="1300" b="1" dirty="0" err="1">
                <a:solidFill>
                  <a:srgbClr val="002060"/>
                </a:solidFill>
                <a:latin typeface="Times New Roman" panose="02020603050405020304" pitchFamily="18" charset="0"/>
              </a:rPr>
              <a:t>One</a:t>
            </a:r>
            <a:r>
              <a:rPr lang="vi-VN" sz="1300" b="1" dirty="0">
                <a:solidFill>
                  <a:srgbClr val="002060"/>
                </a:solidFill>
                <a:latin typeface="Times New Roman" panose="02020603050405020304" pitchFamily="18" charset="0"/>
              </a:rPr>
              <a:t> </a:t>
            </a:r>
            <a:r>
              <a:rPr lang="vi-VN" sz="1300" b="1" dirty="0" err="1">
                <a:solidFill>
                  <a:srgbClr val="002060"/>
                </a:solidFill>
                <a:latin typeface="Times New Roman" panose="02020603050405020304" pitchFamily="18" charset="0"/>
              </a:rPr>
              <a:t>Edu</a:t>
            </a:r>
            <a:r>
              <a:rPr lang="vi-VN" sz="1300" b="1" dirty="0">
                <a:solidFill>
                  <a:srgbClr val="002060"/>
                </a:solidFill>
                <a:latin typeface="Times New Roman" panose="02020603050405020304" pitchFamily="18" charset="0"/>
              </a:rPr>
              <a:t>: </a:t>
            </a:r>
            <a:r>
              <a:rPr lang="vi-VN" sz="1300" dirty="0">
                <a:solidFill>
                  <a:srgbClr val="000000"/>
                </a:solidFill>
                <a:latin typeface="Times New Roman" panose="02020603050405020304" pitchFamily="18" charset="0"/>
              </a:rPr>
              <a:t>hỗ trợ kỹ sư triển khai dự án nhanh chóng, giảm thiểu sai sót trong quá trình thực hiện dự án.</a:t>
            </a:r>
            <a:endParaRPr lang="en-US" sz="1300" dirty="0">
              <a:solidFill>
                <a:srgbClr val="000000"/>
              </a:solidFill>
              <a:latin typeface="Times New Roman" panose="02020603050405020304" pitchFamily="18" charset="0"/>
            </a:endParaRPr>
          </a:p>
        </p:txBody>
      </p:sp>
      <p:pic>
        <p:nvPicPr>
          <p:cNvPr id="12" name="Picture 11">
            <a:extLst>
              <a:ext uri="{FF2B5EF4-FFF2-40B4-BE49-F238E27FC236}">
                <a16:creationId xmlns:a16="http://schemas.microsoft.com/office/drawing/2014/main" id="{AE739718-D1E8-09A2-74A8-EC27537DE3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15257" y="3048000"/>
            <a:ext cx="7761485" cy="2857500"/>
          </a:xfrm>
          <a:prstGeom prst="rect">
            <a:avLst/>
          </a:prstGeom>
          <a:ln w="9525">
            <a:solidFill>
              <a:srgbClr val="BFBFBF"/>
            </a:solidFill>
          </a:ln>
        </p:spPr>
      </p:pic>
      <p:sp>
        <p:nvSpPr>
          <p:cNvPr id="13" name="TextBox 12">
            <a:extLst>
              <a:ext uri="{FF2B5EF4-FFF2-40B4-BE49-F238E27FC236}">
                <a16:creationId xmlns:a16="http://schemas.microsoft.com/office/drawing/2014/main" id="{05CC0378-F90E-54D8-F5A7-7B231DA18E0A}"/>
              </a:ext>
            </a:extLst>
          </p:cNvPr>
          <p:cNvSpPr txBox="1"/>
          <p:nvPr/>
        </p:nvSpPr>
        <p:spPr>
          <a:xfrm>
            <a:off x="2215257" y="5930900"/>
            <a:ext cx="7761485" cy="203200"/>
          </a:xfrm>
          <a:prstGeom prst="rect">
            <a:avLst/>
          </a:prstGeom>
          <a:noFill/>
        </p:spPr>
        <p:txBody>
          <a:bodyPr vert="horz" wrap="square" lIns="25400" tIns="12700" rIns="25400" bIns="12700" rtlCol="0" anchor="t">
            <a:noAutofit/>
          </a:bodyPr>
          <a:lstStyle/>
          <a:p>
            <a:pPr algn="ctr"/>
            <a:r>
              <a:rPr lang="vi-VN" sz="1100" i="1" dirty="0">
                <a:solidFill>
                  <a:srgbClr val="595959"/>
                </a:solidFill>
                <a:latin typeface="Times New Roman" panose="02020603050405020304" pitchFamily="18" charset="0"/>
              </a:rPr>
              <a:t>Sơ đồ quy trình hoạt động </a:t>
            </a:r>
            <a:r>
              <a:rPr lang="vi-VN" sz="1100" i="1" dirty="0" err="1">
                <a:solidFill>
                  <a:srgbClr val="595959"/>
                </a:solidFill>
                <a:latin typeface="Times New Roman" panose="02020603050405020304" pitchFamily="18" charset="0"/>
              </a:rPr>
              <a:t>Vision</a:t>
            </a:r>
            <a:r>
              <a:rPr lang="vi-VN" sz="1100" i="1" dirty="0">
                <a:solidFill>
                  <a:srgbClr val="595959"/>
                </a:solidFill>
                <a:latin typeface="Times New Roman" panose="02020603050405020304" pitchFamily="18" charset="0"/>
              </a:rPr>
              <a:t> </a:t>
            </a:r>
            <a:r>
              <a:rPr lang="vi-VN" sz="1100" i="1" dirty="0" err="1">
                <a:solidFill>
                  <a:srgbClr val="595959"/>
                </a:solidFill>
                <a:latin typeface="Times New Roman" panose="02020603050405020304" pitchFamily="18" charset="0"/>
              </a:rPr>
              <a:t>Image</a:t>
            </a:r>
            <a:r>
              <a:rPr lang="vi-VN" sz="1100" i="1" dirty="0">
                <a:solidFill>
                  <a:srgbClr val="595959"/>
                </a:solidFill>
                <a:latin typeface="Times New Roman" panose="02020603050405020304" pitchFamily="18" charset="0"/>
              </a:rPr>
              <a:t> </a:t>
            </a:r>
            <a:r>
              <a:rPr lang="vi-VN" sz="1100" i="1" dirty="0" err="1">
                <a:solidFill>
                  <a:srgbClr val="595959"/>
                </a:solidFill>
                <a:latin typeface="Times New Roman" panose="02020603050405020304" pitchFamily="18" charset="0"/>
              </a:rPr>
              <a:t>Tool</a:t>
            </a:r>
            <a:endParaRPr lang="en-US" sz="1100" i="1" dirty="0">
              <a:solidFill>
                <a:srgbClr val="595959"/>
              </a:solidFill>
              <a:latin typeface="Times New Roman" panose="02020603050405020304" pitchFamily="18" charset="0"/>
            </a:endParaRPr>
          </a:p>
        </p:txBody>
      </p:sp>
    </p:spTree>
    <p:extLst>
      <p:ext uri="{BB962C8B-B14F-4D97-AF65-F5344CB8AC3E}">
        <p14:creationId xmlns:p14="http://schemas.microsoft.com/office/powerpoint/2010/main" val="1904711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4A4FDBC-0698-D9E0-A30D-57F87A0DF89C}"/>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1. Giới thiệu phần mềm Vision Image Tool – quy trình 4 bước</a:t>
            </a:r>
            <a:endParaRPr lang="en-US" sz="1600" b="1">
              <a:solidFill>
                <a:srgbClr val="00206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E436A670-4517-85D9-FBED-0B5DA3E2322C}"/>
              </a:ext>
            </a:extLst>
          </p:cNvPr>
          <p:cNvGraphicFramePr>
            <a:graphicFrameLocks noGrp="1"/>
          </p:cNvGraphicFramePr>
          <p:nvPr>
            <p:extLst>
              <p:ext uri="{D42A27DB-BD31-4B8C-83A1-F6EECF244321}">
                <p14:modId xmlns:p14="http://schemas.microsoft.com/office/powerpoint/2010/main" val="2339850126"/>
              </p:ext>
            </p:extLst>
          </p:nvPr>
        </p:nvGraphicFramePr>
        <p:xfrm>
          <a:off x="698500" y="1397000"/>
          <a:ext cx="10795000" cy="2565400"/>
        </p:xfrm>
        <a:graphic>
          <a:graphicData uri="http://schemas.openxmlformats.org/drawingml/2006/table">
            <a:tbl>
              <a:tblPr firstRow="1" bandRow="1">
                <a:tableStyleId>{5940675A-B579-460E-94D1-54222C63F5DA}</a:tableStyleId>
              </a:tblPr>
              <a:tblGrid>
                <a:gridCol w="1143000">
                  <a:extLst>
                    <a:ext uri="{9D8B030D-6E8A-4147-A177-3AD203B41FA5}">
                      <a16:colId xmlns:a16="http://schemas.microsoft.com/office/drawing/2014/main" val="3571567804"/>
                    </a:ext>
                  </a:extLst>
                </a:gridCol>
                <a:gridCol w="2921000">
                  <a:extLst>
                    <a:ext uri="{9D8B030D-6E8A-4147-A177-3AD203B41FA5}">
                      <a16:colId xmlns:a16="http://schemas.microsoft.com/office/drawing/2014/main" val="3252386775"/>
                    </a:ext>
                  </a:extLst>
                </a:gridCol>
                <a:gridCol w="6731000">
                  <a:extLst>
                    <a:ext uri="{9D8B030D-6E8A-4147-A177-3AD203B41FA5}">
                      <a16:colId xmlns:a16="http://schemas.microsoft.com/office/drawing/2014/main" val="2640026684"/>
                    </a:ext>
                  </a:extLst>
                </a:gridCol>
              </a:tblGrid>
              <a:tr h="330200">
                <a:tc>
                  <a:txBody>
                    <a:bodyPr/>
                    <a:lstStyle/>
                    <a:p>
                      <a:pPr marL="0" indent="0" algn="ctr">
                        <a:spcBef>
                          <a:spcPts val="0"/>
                        </a:spcBef>
                        <a:spcAft>
                          <a:spcPts val="0"/>
                        </a:spcAft>
                        <a:buFontTx/>
                        <a:buNone/>
                      </a:pPr>
                      <a:r>
                        <a:rPr lang="vi-VN" sz="1400" b="1" i="0">
                          <a:solidFill>
                            <a:srgbClr val="FFFFFF"/>
                          </a:solidFill>
                          <a:latin typeface="Times New Roman" panose="02020603050405020304" pitchFamily="18" charset="0"/>
                        </a:rPr>
                        <a:t>Bước</a:t>
                      </a:r>
                      <a:endParaRPr lang="en-US" sz="1400" b="1" i="0">
                        <a:solidFill>
                          <a:srgbClr val="FFFFFF"/>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400" b="1" i="0">
                          <a:solidFill>
                            <a:srgbClr val="FFFFFF"/>
                          </a:solidFill>
                          <a:latin typeface="Times New Roman" panose="02020603050405020304" pitchFamily="18" charset="0"/>
                        </a:rPr>
                        <a:t>Công việc</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400" b="1" i="0">
                          <a:solidFill>
                            <a:srgbClr val="FFFFFF"/>
                          </a:solidFill>
                          <a:latin typeface="Times New Roman" panose="02020603050405020304" pitchFamily="18" charset="0"/>
                        </a:rPr>
                        <a:t>Nội dung</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2100443506"/>
                  </a:ext>
                </a:extLst>
              </a:tr>
              <a:tr h="558800">
                <a:tc>
                  <a:txBody>
                    <a:bodyPr/>
                    <a:lstStyle/>
                    <a:p>
                      <a:pPr marL="0" indent="0" algn="l">
                        <a:spcBef>
                          <a:spcPts val="0"/>
                        </a:spcBef>
                        <a:spcAft>
                          <a:spcPts val="0"/>
                        </a:spcAft>
                        <a:buFontTx/>
                        <a:buNone/>
                      </a:pPr>
                      <a:r>
                        <a:rPr lang="vi-VN" sz="1400" b="1" i="0">
                          <a:solidFill>
                            <a:srgbClr val="000000"/>
                          </a:solidFill>
                          <a:latin typeface="Times New Roman" panose="02020603050405020304" pitchFamily="18" charset="0"/>
                        </a:rPr>
                        <a:t>Bước 1</a:t>
                      </a:r>
                      <a:endParaRPr lang="en-US" sz="1400" b="1"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0" i="0">
                          <a:solidFill>
                            <a:srgbClr val="000000"/>
                          </a:solidFill>
                          <a:latin typeface="Times New Roman" panose="02020603050405020304" pitchFamily="18" charset="0"/>
                        </a:rPr>
                        <a:t>Chuẩn bị dữ liệu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Chạy lưu ảnh từ Capture &amp; Monitor (UnitX), hoặc dùng thư mục ảnh có sẵn theo đúng quy tắc</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569722617"/>
                  </a:ext>
                </a:extLst>
              </a:tr>
              <a:tr h="558800">
                <a:tc>
                  <a:txBody>
                    <a:bodyPr/>
                    <a:lstStyle/>
                    <a:p>
                      <a:pPr marL="0" indent="0" algn="l">
                        <a:spcBef>
                          <a:spcPts val="0"/>
                        </a:spcBef>
                        <a:spcAft>
                          <a:spcPts val="0"/>
                        </a:spcAft>
                        <a:buFontTx/>
                        <a:buNone/>
                      </a:pPr>
                      <a:r>
                        <a:rPr lang="vi-VN" sz="1400" b="1" i="0">
                          <a:solidFill>
                            <a:srgbClr val="000000"/>
                          </a:solidFill>
                          <a:latin typeface="Times New Roman" panose="02020603050405020304" pitchFamily="18" charset="0"/>
                        </a:rPr>
                        <a:t>Bước 2</a:t>
                      </a:r>
                      <a:endParaRPr lang="en-US" sz="1400" b="1"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0" i="0">
                          <a:solidFill>
                            <a:srgbClr val="000000"/>
                          </a:solidFill>
                          <a:latin typeface="Times New Roman" panose="02020603050405020304" pitchFamily="18" charset="0"/>
                        </a:rPr>
                        <a:t>Nhập Schema</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Khai báo cấu trúc tên file / thư mục trong tab Dataset Manager</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220611115"/>
                  </a:ext>
                </a:extLst>
              </a:tr>
              <a:tr h="558800">
                <a:tc>
                  <a:txBody>
                    <a:bodyPr/>
                    <a:lstStyle/>
                    <a:p>
                      <a:pPr marL="0" indent="0" algn="l">
                        <a:spcBef>
                          <a:spcPts val="0"/>
                        </a:spcBef>
                        <a:spcAft>
                          <a:spcPts val="0"/>
                        </a:spcAft>
                        <a:buFontTx/>
                        <a:buNone/>
                      </a:pPr>
                      <a:r>
                        <a:rPr lang="vi-VN" sz="1400" b="1" i="0">
                          <a:solidFill>
                            <a:srgbClr val="000000"/>
                          </a:solidFill>
                          <a:latin typeface="Times New Roman" panose="02020603050405020304" pitchFamily="18" charset="0"/>
                        </a:rPr>
                        <a:t>Bước 3</a:t>
                      </a:r>
                      <a:endParaRPr lang="en-US" sz="1400" b="1"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0" i="0">
                          <a:solidFill>
                            <a:srgbClr val="000000"/>
                          </a:solidFill>
                          <a:latin typeface="Times New Roman" panose="02020603050405020304" pitchFamily="18" charset="0"/>
                        </a:rPr>
                        <a:t>Xuất dữ liệu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0" i="0">
                          <a:solidFill>
                            <a:srgbClr val="000000"/>
                          </a:solidFill>
                          <a:latin typeface="Times New Roman" panose="02020603050405020304" pitchFamily="18" charset="0"/>
                        </a:rPr>
                        <a:t>Xác nhận schema và cột, chọn Xuất Excel (.xlsx) hoặc Xuất JSON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76715507"/>
                  </a:ext>
                </a:extLst>
              </a:tr>
              <a:tr h="558800">
                <a:tc>
                  <a:txBody>
                    <a:bodyPr/>
                    <a:lstStyle/>
                    <a:p>
                      <a:pPr marL="0" indent="0" algn="l">
                        <a:spcBef>
                          <a:spcPts val="0"/>
                        </a:spcBef>
                        <a:spcAft>
                          <a:spcPts val="0"/>
                        </a:spcAft>
                        <a:buFontTx/>
                        <a:buNone/>
                      </a:pPr>
                      <a:r>
                        <a:rPr lang="vi-VN" sz="1400" b="1" i="0">
                          <a:solidFill>
                            <a:srgbClr val="000000"/>
                          </a:solidFill>
                          <a:latin typeface="Times New Roman" panose="02020603050405020304" pitchFamily="18" charset="0"/>
                        </a:rPr>
                        <a:t>Bước 4</a:t>
                      </a:r>
                      <a:endParaRPr lang="en-US" sz="1400" b="1"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0" i="0">
                          <a:solidFill>
                            <a:srgbClr val="000000"/>
                          </a:solidFill>
                          <a:latin typeface="Times New Roman" panose="02020603050405020304" pitchFamily="18" charset="0"/>
                        </a:rPr>
                        <a:t>Nhập dữ liệu lên Q One Edu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Lấy file JSON hoặc Excel, nhập tại mục 9 &amp; 10 trong hồ sơ dự án</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734239095"/>
                  </a:ext>
                </a:extLst>
              </a:tr>
            </a:tbl>
          </a:graphicData>
        </a:graphic>
      </p:graphicFrame>
      <p:sp>
        <p:nvSpPr>
          <p:cNvPr id="9" name="Rectangle 8">
            <a:extLst>
              <a:ext uri="{FF2B5EF4-FFF2-40B4-BE49-F238E27FC236}">
                <a16:creationId xmlns:a16="http://schemas.microsoft.com/office/drawing/2014/main" id="{D8CAA491-D5DC-76AC-C5C3-D40E96A00D5E}"/>
              </a:ext>
            </a:extLst>
          </p:cNvPr>
          <p:cNvSpPr/>
          <p:nvPr/>
        </p:nvSpPr>
        <p:spPr>
          <a:xfrm>
            <a:off x="698500" y="5207000"/>
            <a:ext cx="10795000" cy="711200"/>
          </a:xfrm>
          <a:prstGeom prst="rect">
            <a:avLst/>
          </a:prstGeom>
          <a:solidFill>
            <a:srgbClr val="E7EEF8"/>
          </a:solidFill>
          <a:ln w="9525">
            <a:solidFill>
              <a:srgbClr val="B4C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9EDCDE7-FDFD-D09C-2AF0-1ADBD966C424}"/>
              </a:ext>
            </a:extLst>
          </p:cNvPr>
          <p:cNvSpPr/>
          <p:nvPr/>
        </p:nvSpPr>
        <p:spPr>
          <a:xfrm>
            <a:off x="698500" y="5207000"/>
            <a:ext cx="50800" cy="711200"/>
          </a:xfrm>
          <a:prstGeom prst="rect">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FA8C843-A478-5F3A-F60A-452C8805A006}"/>
              </a:ext>
            </a:extLst>
          </p:cNvPr>
          <p:cNvSpPr txBox="1"/>
          <p:nvPr/>
        </p:nvSpPr>
        <p:spPr>
          <a:xfrm>
            <a:off x="850900" y="5257800"/>
            <a:ext cx="10566400" cy="609600"/>
          </a:xfrm>
          <a:prstGeom prst="rect">
            <a:avLst/>
          </a:prstGeom>
          <a:noFill/>
        </p:spPr>
        <p:txBody>
          <a:bodyPr vert="horz" wrap="square" lIns="25400" tIns="12700" rIns="25400" bIns="12700" rtlCol="0" anchor="ctr">
            <a:noAutofit/>
          </a:bodyPr>
          <a:lstStyle/>
          <a:p>
            <a:r>
              <a:rPr lang="vi-VN" sz="1300" b="1">
                <a:solidFill>
                  <a:srgbClr val="002060"/>
                </a:solidFill>
                <a:latin typeface="Times New Roman" panose="02020603050405020304" pitchFamily="18" charset="0"/>
              </a:rPr>
              <a:t>LƯU Ý</a:t>
            </a:r>
          </a:p>
          <a:p>
            <a:r>
              <a:rPr lang="vi-VN" sz="1300">
                <a:solidFill>
                  <a:srgbClr val="000000"/>
                </a:solidFill>
                <a:latin typeface="Times New Roman" panose="02020603050405020304" pitchFamily="18" charset="0"/>
              </a:rPr>
              <a:t>File Excel / JSON xuất ở Bước 3 là đầu vào cho Nội dung 9 và 10 của hồ sơ dự án (Phần II).</a:t>
            </a:r>
            <a:endParaRPr lang="en-US" sz="13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146776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9740577-F125-8154-76CC-FB15856B490E}"/>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2. Luồng thu thập dữ liệu</a:t>
            </a:r>
          </a:p>
        </p:txBody>
      </p:sp>
      <p:sp>
        <p:nvSpPr>
          <p:cNvPr id="3" name="TextBox 2">
            <a:extLst>
              <a:ext uri="{FF2B5EF4-FFF2-40B4-BE49-F238E27FC236}">
                <a16:creationId xmlns:a16="http://schemas.microsoft.com/office/drawing/2014/main" id="{1F61AA57-C129-D87B-7812-CB2B69B64103}"/>
              </a:ext>
            </a:extLst>
          </p:cNvPr>
          <p:cNvSpPr txBox="1"/>
          <p:nvPr/>
        </p:nvSpPr>
        <p:spPr>
          <a:xfrm>
            <a:off x="698500" y="1600200"/>
            <a:ext cx="1905000" cy="508000"/>
          </a:xfrm>
          <a:prstGeom prst="rect">
            <a:avLst/>
          </a:prstGeom>
          <a:noFill/>
        </p:spPr>
        <p:txBody>
          <a:bodyPr vert="horz" wrap="square" lIns="25400" tIns="12700" rIns="25400" bIns="12700" rtlCol="0" anchor="ctr">
            <a:noAutofit/>
          </a:bodyPr>
          <a:lstStyle/>
          <a:p>
            <a:r>
              <a:rPr lang="en-US" sz="1300" b="1" dirty="0" err="1">
                <a:solidFill>
                  <a:srgbClr val="002060"/>
                </a:solidFill>
                <a:latin typeface="Times New Roman" panose="02020603050405020304" pitchFamily="18" charset="0"/>
              </a:rPr>
              <a:t>OptiX</a:t>
            </a:r>
            <a:endParaRPr lang="en-US" sz="1300" b="1" dirty="0">
              <a:solidFill>
                <a:srgbClr val="002060"/>
              </a:solidFill>
              <a:latin typeface="Times New Roman" panose="02020603050405020304" pitchFamily="18" charset="0"/>
            </a:endParaRPr>
          </a:p>
        </p:txBody>
      </p:sp>
      <p:pic>
        <p:nvPicPr>
          <p:cNvPr id="10" name="Picture 9">
            <a:extLst>
              <a:ext uri="{FF2B5EF4-FFF2-40B4-BE49-F238E27FC236}">
                <a16:creationId xmlns:a16="http://schemas.microsoft.com/office/drawing/2014/main" id="{125010FF-C965-12F7-0729-27539A13BC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30500" y="1270000"/>
            <a:ext cx="5229270" cy="1016000"/>
          </a:xfrm>
          <a:prstGeom prst="rect">
            <a:avLst/>
          </a:prstGeom>
          <a:ln w="9525">
            <a:solidFill>
              <a:srgbClr val="BFBFBF"/>
            </a:solidFill>
          </a:ln>
        </p:spPr>
      </p:pic>
      <p:sp>
        <p:nvSpPr>
          <p:cNvPr id="12" name="TextBox 11">
            <a:extLst>
              <a:ext uri="{FF2B5EF4-FFF2-40B4-BE49-F238E27FC236}">
                <a16:creationId xmlns:a16="http://schemas.microsoft.com/office/drawing/2014/main" id="{421062FA-C70E-98EA-E7E0-BAA87AA92B08}"/>
              </a:ext>
            </a:extLst>
          </p:cNvPr>
          <p:cNvSpPr txBox="1"/>
          <p:nvPr/>
        </p:nvSpPr>
        <p:spPr>
          <a:xfrm>
            <a:off x="698500" y="2743200"/>
            <a:ext cx="1905000" cy="508000"/>
          </a:xfrm>
          <a:prstGeom prst="rect">
            <a:avLst/>
          </a:prstGeom>
          <a:noFill/>
        </p:spPr>
        <p:txBody>
          <a:bodyPr vert="horz" wrap="square" lIns="25400" tIns="12700" rIns="25400" bIns="12700" rtlCol="0" anchor="ctr">
            <a:noAutofit/>
          </a:bodyPr>
          <a:lstStyle/>
          <a:p>
            <a:r>
              <a:rPr lang="sv-SE" sz="1300" b="1" dirty="0">
                <a:solidFill>
                  <a:srgbClr val="002060"/>
                </a:solidFill>
                <a:latin typeface="Times New Roman" panose="02020603050405020304" pitchFamily="18" charset="0"/>
              </a:rPr>
              <a:t>Vision Master</a:t>
            </a:r>
            <a:endParaRPr lang="en-US" sz="1300" b="1" dirty="0">
              <a:solidFill>
                <a:srgbClr val="002060"/>
              </a:solidFill>
              <a:latin typeface="Times New Roman" panose="02020603050405020304" pitchFamily="18" charset="0"/>
            </a:endParaRPr>
          </a:p>
        </p:txBody>
      </p:sp>
      <p:pic>
        <p:nvPicPr>
          <p:cNvPr id="14" name="Picture 13">
            <a:extLst>
              <a:ext uri="{FF2B5EF4-FFF2-40B4-BE49-F238E27FC236}">
                <a16:creationId xmlns:a16="http://schemas.microsoft.com/office/drawing/2014/main" id="{CFD78DA2-C9A6-0051-108F-D89E2DA3048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730500" y="2413000"/>
            <a:ext cx="5197231" cy="1016000"/>
          </a:xfrm>
          <a:prstGeom prst="rect">
            <a:avLst/>
          </a:prstGeom>
          <a:ln w="9525">
            <a:solidFill>
              <a:srgbClr val="BFBFBF"/>
            </a:solidFill>
          </a:ln>
        </p:spPr>
      </p:pic>
      <p:sp>
        <p:nvSpPr>
          <p:cNvPr id="15" name="TextBox 14">
            <a:extLst>
              <a:ext uri="{FF2B5EF4-FFF2-40B4-BE49-F238E27FC236}">
                <a16:creationId xmlns:a16="http://schemas.microsoft.com/office/drawing/2014/main" id="{4974F1B5-8008-5278-0046-411262E8C839}"/>
              </a:ext>
            </a:extLst>
          </p:cNvPr>
          <p:cNvSpPr txBox="1"/>
          <p:nvPr/>
        </p:nvSpPr>
        <p:spPr>
          <a:xfrm>
            <a:off x="698500" y="3886200"/>
            <a:ext cx="1905000" cy="508000"/>
          </a:xfrm>
          <a:prstGeom prst="rect">
            <a:avLst/>
          </a:prstGeom>
          <a:noFill/>
        </p:spPr>
        <p:txBody>
          <a:bodyPr vert="horz" wrap="square" lIns="25400" tIns="12700" rIns="25400" bIns="12700" rtlCol="0" anchor="ctr">
            <a:noAutofit/>
          </a:bodyPr>
          <a:lstStyle/>
          <a:p>
            <a:r>
              <a:rPr lang="en-US" sz="1300" b="1" dirty="0">
                <a:solidFill>
                  <a:srgbClr val="002060"/>
                </a:solidFill>
                <a:latin typeface="Times New Roman" panose="02020603050405020304" pitchFamily="18" charset="0"/>
              </a:rPr>
              <a:t>Camera </a:t>
            </a:r>
            <a:r>
              <a:rPr lang="en-US" sz="1300" b="1" dirty="0" err="1">
                <a:solidFill>
                  <a:srgbClr val="002060"/>
                </a:solidFill>
                <a:latin typeface="Times New Roman" panose="02020603050405020304" pitchFamily="18" charset="0"/>
              </a:rPr>
              <a:t>hãng</a:t>
            </a:r>
            <a:r>
              <a:rPr lang="en-US" sz="1300" b="1" dirty="0">
                <a:solidFill>
                  <a:srgbClr val="002060"/>
                </a:solidFill>
                <a:latin typeface="Times New Roman" panose="02020603050405020304" pitchFamily="18" charset="0"/>
              </a:rPr>
              <a:t> </a:t>
            </a:r>
            <a:r>
              <a:rPr lang="en-US" sz="1300" b="1" dirty="0" err="1">
                <a:solidFill>
                  <a:srgbClr val="002060"/>
                </a:solidFill>
                <a:latin typeface="Times New Roman" panose="02020603050405020304" pitchFamily="18" charset="0"/>
              </a:rPr>
              <a:t>thứ</a:t>
            </a:r>
            <a:r>
              <a:rPr lang="en-US" sz="1300" b="1" dirty="0">
                <a:solidFill>
                  <a:srgbClr val="002060"/>
                </a:solidFill>
                <a:latin typeface="Times New Roman" panose="02020603050405020304" pitchFamily="18" charset="0"/>
              </a:rPr>
              <a:t> </a:t>
            </a:r>
            <a:r>
              <a:rPr lang="en-US" sz="1300" b="1" dirty="0" err="1">
                <a:solidFill>
                  <a:srgbClr val="002060"/>
                </a:solidFill>
                <a:latin typeface="Times New Roman" panose="02020603050405020304" pitchFamily="18" charset="0"/>
              </a:rPr>
              <a:t>ba</a:t>
            </a:r>
            <a:endParaRPr lang="en-US" sz="1300" b="1" dirty="0">
              <a:solidFill>
                <a:srgbClr val="002060"/>
              </a:solidFill>
              <a:latin typeface="Times New Roman" panose="02020603050405020304" pitchFamily="18" charset="0"/>
            </a:endParaRPr>
          </a:p>
        </p:txBody>
      </p:sp>
      <p:pic>
        <p:nvPicPr>
          <p:cNvPr id="17" name="Picture 16">
            <a:extLst>
              <a:ext uri="{FF2B5EF4-FFF2-40B4-BE49-F238E27FC236}">
                <a16:creationId xmlns:a16="http://schemas.microsoft.com/office/drawing/2014/main" id="{EB27E322-61A9-7D7A-95E1-37306B25A239}"/>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730500" y="3556000"/>
            <a:ext cx="6238955" cy="1016000"/>
          </a:xfrm>
          <a:prstGeom prst="rect">
            <a:avLst/>
          </a:prstGeom>
          <a:ln w="9525">
            <a:solidFill>
              <a:srgbClr val="BFBFBF"/>
            </a:solidFill>
          </a:ln>
        </p:spPr>
      </p:pic>
      <p:sp>
        <p:nvSpPr>
          <p:cNvPr id="18" name="Rectangle 17">
            <a:extLst>
              <a:ext uri="{FF2B5EF4-FFF2-40B4-BE49-F238E27FC236}">
                <a16:creationId xmlns:a16="http://schemas.microsoft.com/office/drawing/2014/main" id="{1198564A-50C9-4AE6-3CAC-124E31312CC7}"/>
              </a:ext>
            </a:extLst>
          </p:cNvPr>
          <p:cNvSpPr/>
          <p:nvPr/>
        </p:nvSpPr>
        <p:spPr>
          <a:xfrm>
            <a:off x="698500" y="4724400"/>
            <a:ext cx="10795000" cy="1270000"/>
          </a:xfrm>
          <a:prstGeom prst="rect">
            <a:avLst/>
          </a:prstGeom>
          <a:solidFill>
            <a:srgbClr val="E7EEF8"/>
          </a:solidFill>
          <a:ln w="9525">
            <a:solidFill>
              <a:srgbClr val="B4C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4C1B62-BB27-A492-3E5C-26B58DA8FD38}"/>
              </a:ext>
            </a:extLst>
          </p:cNvPr>
          <p:cNvSpPr/>
          <p:nvPr/>
        </p:nvSpPr>
        <p:spPr>
          <a:xfrm>
            <a:off x="698500" y="4724400"/>
            <a:ext cx="50800" cy="1270000"/>
          </a:xfrm>
          <a:prstGeom prst="rect">
            <a:avLst/>
          </a:prstGeom>
          <a:solidFill>
            <a:srgbClr val="00206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DB8FBB-4AEE-814C-9A4A-88CF842FDD39}"/>
              </a:ext>
            </a:extLst>
          </p:cNvPr>
          <p:cNvSpPr txBox="1"/>
          <p:nvPr/>
        </p:nvSpPr>
        <p:spPr>
          <a:xfrm>
            <a:off x="850900" y="4775200"/>
            <a:ext cx="10566400" cy="1168400"/>
          </a:xfrm>
          <a:prstGeom prst="rect">
            <a:avLst/>
          </a:prstGeom>
          <a:noFill/>
        </p:spPr>
        <p:txBody>
          <a:bodyPr vert="horz" wrap="square" lIns="25400" tIns="12700" rIns="25400" bIns="12700" rtlCol="0" anchor="ctr">
            <a:noAutofit/>
          </a:bodyPr>
          <a:lstStyle/>
          <a:p>
            <a:r>
              <a:rPr lang="vi-VN" sz="1300" b="1" dirty="0">
                <a:solidFill>
                  <a:srgbClr val="002060"/>
                </a:solidFill>
                <a:latin typeface="Times New Roman" panose="02020603050405020304" pitchFamily="18" charset="0"/>
              </a:rPr>
              <a:t>LƯU Ý</a:t>
            </a:r>
          </a:p>
          <a:p>
            <a:r>
              <a:rPr lang="vi-VN" sz="1300" dirty="0" err="1">
                <a:solidFill>
                  <a:srgbClr val="000000"/>
                </a:solidFill>
                <a:latin typeface="Times New Roman" panose="02020603050405020304" pitchFamily="18" charset="0"/>
              </a:rPr>
              <a:t>Workflow</a:t>
            </a:r>
            <a:r>
              <a:rPr lang="vi-VN" sz="1300" dirty="0">
                <a:solidFill>
                  <a:srgbClr val="000000"/>
                </a:solidFill>
                <a:latin typeface="Times New Roman" panose="02020603050405020304" pitchFamily="18" charset="0"/>
              </a:rPr>
              <a:t> có thể kết hợp: thu thập dữ liệu từ </a:t>
            </a:r>
            <a:r>
              <a:rPr lang="vi-VN" sz="1300" dirty="0" err="1">
                <a:solidFill>
                  <a:srgbClr val="000000"/>
                </a:solidFill>
                <a:latin typeface="Times New Roman" panose="02020603050405020304" pitchFamily="18" charset="0"/>
              </a:rPr>
              <a:t>Vision</a:t>
            </a:r>
            <a:r>
              <a:rPr lang="vi-VN" sz="1300" dirty="0">
                <a:solidFill>
                  <a:srgbClr val="000000"/>
                </a:solidFill>
                <a:latin typeface="Times New Roman" panose="02020603050405020304" pitchFamily="18" charset="0"/>
              </a:rPr>
              <a:t> </a:t>
            </a:r>
            <a:r>
              <a:rPr lang="vi-VN" sz="1300" dirty="0" err="1">
                <a:solidFill>
                  <a:srgbClr val="000000"/>
                </a:solidFill>
                <a:latin typeface="Times New Roman" panose="02020603050405020304" pitchFamily="18" charset="0"/>
              </a:rPr>
              <a:t>Master</a:t>
            </a:r>
            <a:r>
              <a:rPr lang="vi-VN" sz="1300" dirty="0">
                <a:solidFill>
                  <a:srgbClr val="000000"/>
                </a:solidFill>
                <a:latin typeface="Times New Roman" panose="02020603050405020304" pitchFamily="18" charset="0"/>
              </a:rPr>
              <a:t> → </a:t>
            </a:r>
            <a:r>
              <a:rPr lang="vi-VN" sz="1300" dirty="0" err="1">
                <a:solidFill>
                  <a:srgbClr val="000000"/>
                </a:solidFill>
                <a:latin typeface="Times New Roman" panose="02020603050405020304" pitchFamily="18" charset="0"/>
              </a:rPr>
              <a:t>push</a:t>
            </a:r>
            <a:r>
              <a:rPr lang="vi-VN" sz="1300" dirty="0">
                <a:solidFill>
                  <a:srgbClr val="000000"/>
                </a:solidFill>
                <a:latin typeface="Times New Roman" panose="02020603050405020304" pitchFamily="18" charset="0"/>
              </a:rPr>
              <a:t> sang </a:t>
            </a:r>
            <a:r>
              <a:rPr lang="vi-VN" sz="1300" dirty="0" err="1">
                <a:solidFill>
                  <a:srgbClr val="000000"/>
                </a:solidFill>
                <a:latin typeface="Times New Roman" panose="02020603050405020304" pitchFamily="18" charset="0"/>
              </a:rPr>
              <a:t>UnitX</a:t>
            </a:r>
            <a:r>
              <a:rPr lang="vi-VN" sz="1300" dirty="0">
                <a:solidFill>
                  <a:srgbClr val="000000"/>
                </a:solidFill>
                <a:latin typeface="Times New Roman" panose="02020603050405020304" pitchFamily="18" charset="0"/>
              </a:rPr>
              <a:t> xử lý → tổng hợp kết quả của cả 2 phương án </a:t>
            </a:r>
            <a:r>
              <a:rPr lang="vi-VN" sz="1300" dirty="0" err="1">
                <a:solidFill>
                  <a:srgbClr val="000000"/>
                </a:solidFill>
                <a:latin typeface="Times New Roman" panose="02020603050405020304" pitchFamily="18" charset="0"/>
              </a:rPr>
              <a:t>test</a:t>
            </a:r>
            <a:r>
              <a:rPr lang="vi-VN" sz="1300" dirty="0">
                <a:solidFill>
                  <a:srgbClr val="000000"/>
                </a:solidFill>
                <a:latin typeface="Times New Roman" panose="02020603050405020304" pitchFamily="18" charset="0"/>
              </a:rPr>
              <a:t>.</a:t>
            </a:r>
          </a:p>
          <a:p>
            <a:r>
              <a:rPr lang="vi-VN" sz="1300" i="1" dirty="0">
                <a:solidFill>
                  <a:srgbClr val="595959"/>
                </a:solidFill>
                <a:latin typeface="Times New Roman" panose="02020603050405020304" pitchFamily="18" charset="0"/>
              </a:rPr>
              <a:t>Các nội dung chi tiết về cấu hình hệ thống </a:t>
            </a:r>
            <a:r>
              <a:rPr lang="vi-VN" sz="1300" i="1" dirty="0" err="1">
                <a:solidFill>
                  <a:srgbClr val="595959"/>
                </a:solidFill>
                <a:latin typeface="Times New Roman" panose="02020603050405020304" pitchFamily="18" charset="0"/>
              </a:rPr>
              <a:t>UnitX</a:t>
            </a:r>
            <a:r>
              <a:rPr lang="vi-VN" sz="1300" i="1" dirty="0">
                <a:solidFill>
                  <a:srgbClr val="595959"/>
                </a:solidFill>
                <a:latin typeface="Times New Roman" panose="02020603050405020304" pitchFamily="18" charset="0"/>
              </a:rPr>
              <a:t>, viết </a:t>
            </a:r>
            <a:r>
              <a:rPr lang="vi-VN" sz="1300" i="1" dirty="0" err="1">
                <a:solidFill>
                  <a:srgbClr val="595959"/>
                </a:solidFill>
                <a:latin typeface="Times New Roman" panose="02020603050405020304" pitchFamily="18" charset="0"/>
              </a:rPr>
              <a:t>tool</a:t>
            </a:r>
            <a:r>
              <a:rPr lang="vi-VN" sz="1300" i="1" dirty="0">
                <a:solidFill>
                  <a:srgbClr val="595959"/>
                </a:solidFill>
                <a:latin typeface="Times New Roman" panose="02020603050405020304" pitchFamily="18" charset="0"/>
              </a:rPr>
              <a:t> </a:t>
            </a:r>
            <a:r>
              <a:rPr lang="vi-VN" sz="1300" i="1" dirty="0" err="1">
                <a:solidFill>
                  <a:srgbClr val="595959"/>
                </a:solidFill>
                <a:latin typeface="Times New Roman" panose="02020603050405020304" pitchFamily="18" charset="0"/>
              </a:rPr>
              <a:t>VisionMaster</a:t>
            </a:r>
            <a:r>
              <a:rPr lang="vi-VN" sz="1300" i="1" dirty="0">
                <a:solidFill>
                  <a:srgbClr val="595959"/>
                </a:solidFill>
                <a:latin typeface="Times New Roman" panose="02020603050405020304" pitchFamily="18" charset="0"/>
              </a:rPr>
              <a:t> và sử dụng </a:t>
            </a:r>
            <a:r>
              <a:rPr lang="vi-VN" sz="1300" i="1" dirty="0" err="1">
                <a:solidFill>
                  <a:srgbClr val="595959"/>
                </a:solidFill>
                <a:latin typeface="Times New Roman" panose="02020603050405020304" pitchFamily="18" charset="0"/>
              </a:rPr>
              <a:t>camera</a:t>
            </a:r>
            <a:r>
              <a:rPr lang="vi-VN" sz="1300" i="1" dirty="0">
                <a:solidFill>
                  <a:srgbClr val="595959"/>
                </a:solidFill>
                <a:latin typeface="Times New Roman" panose="02020603050405020304" pitchFamily="18" charset="0"/>
              </a:rPr>
              <a:t> yêu cầu kỹ sư nắm vững, không trình bày cụ thể trong tài liệu này.</a:t>
            </a:r>
            <a:endParaRPr lang="en-US" sz="1300" i="1" dirty="0">
              <a:solidFill>
                <a:srgbClr val="595959"/>
              </a:solidFill>
              <a:latin typeface="Times New Roman" panose="02020603050405020304" pitchFamily="18" charset="0"/>
            </a:endParaRPr>
          </a:p>
        </p:txBody>
      </p:sp>
    </p:spTree>
    <p:extLst>
      <p:ext uri="{BB962C8B-B14F-4D97-AF65-F5344CB8AC3E}">
        <p14:creationId xmlns:p14="http://schemas.microsoft.com/office/powerpoint/2010/main" val="2001181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AAF7804-BFE9-AC60-3518-CD3E48ABB12A}"/>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3. Bước 1 – Chuẩn bị dữ liệu: 3.1. Cấu trúc tiêu chuẩn</a:t>
            </a:r>
            <a:endParaRPr lang="en-US" sz="1600" b="1">
              <a:solidFill>
                <a:srgbClr val="00206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F4573D2E-B3D3-B877-279B-48E20410B399}"/>
              </a:ext>
            </a:extLst>
          </p:cNvPr>
          <p:cNvGraphicFramePr>
            <a:graphicFrameLocks noGrp="1"/>
          </p:cNvGraphicFramePr>
          <p:nvPr>
            <p:extLst>
              <p:ext uri="{D42A27DB-BD31-4B8C-83A1-F6EECF244321}">
                <p14:modId xmlns:p14="http://schemas.microsoft.com/office/powerpoint/2010/main" val="2020288076"/>
              </p:ext>
            </p:extLst>
          </p:nvPr>
        </p:nvGraphicFramePr>
        <p:xfrm>
          <a:off x="698500" y="1270000"/>
          <a:ext cx="10795000" cy="4749800"/>
        </p:xfrm>
        <a:graphic>
          <a:graphicData uri="http://schemas.openxmlformats.org/drawingml/2006/table">
            <a:tbl>
              <a:tblPr firstRow="1" bandRow="1">
                <a:tableStyleId>{5940675A-B579-460E-94D1-54222C63F5DA}</a:tableStyleId>
              </a:tblPr>
              <a:tblGrid>
                <a:gridCol w="2159000">
                  <a:extLst>
                    <a:ext uri="{9D8B030D-6E8A-4147-A177-3AD203B41FA5}">
                      <a16:colId xmlns:a16="http://schemas.microsoft.com/office/drawing/2014/main" val="1506719997"/>
                    </a:ext>
                  </a:extLst>
                </a:gridCol>
                <a:gridCol w="5969000">
                  <a:extLst>
                    <a:ext uri="{9D8B030D-6E8A-4147-A177-3AD203B41FA5}">
                      <a16:colId xmlns:a16="http://schemas.microsoft.com/office/drawing/2014/main" val="1877427625"/>
                    </a:ext>
                  </a:extLst>
                </a:gridCol>
                <a:gridCol w="2667000">
                  <a:extLst>
                    <a:ext uri="{9D8B030D-6E8A-4147-A177-3AD203B41FA5}">
                      <a16:colId xmlns:a16="http://schemas.microsoft.com/office/drawing/2014/main" val="429347663"/>
                    </a:ext>
                  </a:extLst>
                </a:gridCol>
              </a:tblGrid>
              <a:tr h="330200">
                <a:tc>
                  <a:txBody>
                    <a:bodyPr/>
                    <a:lstStyle/>
                    <a:p>
                      <a:pPr marL="0" indent="0" algn="ctr">
                        <a:spcBef>
                          <a:spcPts val="0"/>
                        </a:spcBef>
                        <a:spcAft>
                          <a:spcPts val="0"/>
                        </a:spcAft>
                        <a:buFontTx/>
                        <a:buNone/>
                      </a:pPr>
                      <a:r>
                        <a:rPr lang="vi-VN" sz="1200" b="1" i="0">
                          <a:solidFill>
                            <a:srgbClr val="FFFFFF"/>
                          </a:solidFill>
                          <a:latin typeface="Times New Roman" panose="02020603050405020304" pitchFamily="18" charset="0"/>
                        </a:rPr>
                        <a:t>Trường</a:t>
                      </a:r>
                      <a:endParaRPr lang="en-US" sz="1200" b="1" i="0">
                        <a:solidFill>
                          <a:srgbClr val="FFFFFF"/>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Ý nghĩa</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Ví dụ</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3312410011"/>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&lt;ĐK&gt;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Điều kiện chụp – mỗi ĐK một nhóm cột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ĐK1, ĐK2</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589156380"/>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&lt;No&gt;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Số thứ tự mẫu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1 … 162</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480307898"/>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&lt;Tên sản phẩm&gt;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Tên sản phẩm</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Lens</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482782691"/>
                  </a:ext>
                </a:extLst>
              </a:tr>
              <a:tr h="368300">
                <a:tc>
                  <a:txBody>
                    <a:bodyPr/>
                    <a:lstStyle/>
                    <a:p>
                      <a:pPr marL="0" indent="0" algn="l">
                        <a:spcBef>
                          <a:spcPts val="0"/>
                        </a:spcBef>
                        <a:spcAft>
                          <a:spcPts val="0"/>
                        </a:spcAft>
                        <a:buFontTx/>
                        <a:buNone/>
                      </a:pPr>
                      <a:r>
                        <a:rPr lang="en-US" sz="1200" b="0" i="0" dirty="0">
                          <a:solidFill>
                            <a:srgbClr val="002060"/>
                          </a:solidFill>
                          <a:latin typeface="Consolas" panose="020B0609020204030204" pitchFamily="49" charset="0"/>
                        </a:rPr>
                        <a:t>&lt;</a:t>
                      </a:r>
                      <a:r>
                        <a:rPr lang="en-US" sz="1200" b="0" i="0" dirty="0" err="1">
                          <a:solidFill>
                            <a:srgbClr val="002060"/>
                          </a:solidFill>
                          <a:latin typeface="Consolas" panose="020B0609020204030204" pitchFamily="49" charset="0"/>
                        </a:rPr>
                        <a:t>Mã</a:t>
                      </a:r>
                      <a:r>
                        <a:rPr lang="en-US" sz="1200" b="0" i="0" dirty="0">
                          <a:solidFill>
                            <a:srgbClr val="002060"/>
                          </a:solidFill>
                          <a:latin typeface="Consolas" panose="020B0609020204030204" pitchFamily="49" charset="0"/>
                        </a:rPr>
                        <a:t> sheet-tray&gt;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Mã sheet / tray</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Sheet1</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242339019"/>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&lt;Vị trí&gt;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Vị trí trên sheet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A-1 … I-9</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840552373"/>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&lt;Mặt&gt;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Mặt chụp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Top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236707698"/>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&lt;Nội dung NG&gt;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Loại lỗi</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Xước, Bẩn, OK</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397844166"/>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&lt;Đánh giá&gt;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Kết quả Vision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OK / NG / LIMIT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100740447"/>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&lt;Raw/Mask&gt;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Loại ảnh</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Raw / Mask</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138309941"/>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&lt;Hậu tố&gt;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Phân biệt lần chụp – giống nhau trong cùng mẫu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dirty="0">
                          <a:solidFill>
                            <a:srgbClr val="000000"/>
                          </a:solidFill>
                          <a:latin typeface="Times New Roman" panose="02020603050405020304" pitchFamily="18" charset="0"/>
                        </a:rPr>
                        <a:t>1</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1756349848"/>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&lt;Lần chụp&gt;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Ngày giờ / số lần chụp – gộp nhiều lần chụp vào 1 hàng</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20261009_140512_123</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21720829"/>
                  </a:ext>
                </a:extLst>
              </a:tr>
              <a:tr h="368300">
                <a:tc>
                  <a:txBody>
                    <a:bodyPr/>
                    <a:lstStyle/>
                    <a:p>
                      <a:pPr marL="0" indent="0" algn="l">
                        <a:spcBef>
                          <a:spcPts val="0"/>
                        </a:spcBef>
                        <a:spcAft>
                          <a:spcPts val="0"/>
                        </a:spcAft>
                        <a:buFontTx/>
                        <a:buNone/>
                      </a:pPr>
                      <a:r>
                        <a:rPr lang="en-US" sz="1200" b="0" i="0">
                          <a:solidFill>
                            <a:srgbClr val="002060"/>
                          </a:solidFill>
                          <a:latin typeface="Consolas" panose="020B0609020204030204" pitchFamily="49" charset="0"/>
                        </a:rPr>
                        <a:t>&lt;Extension&gt;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Đuôi ảnh – tự nhận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tc>
                  <a:txBody>
                    <a:bodyPr/>
                    <a:lstStyle/>
                    <a:p>
                      <a:pPr marL="0" indent="0" algn="l">
                        <a:spcBef>
                          <a:spcPts val="0"/>
                        </a:spcBef>
                        <a:spcAft>
                          <a:spcPts val="0"/>
                        </a:spcAft>
                        <a:buFontTx/>
                        <a:buNone/>
                      </a:pPr>
                      <a:r>
                        <a:rPr lang="en-US" sz="1200" b="0" i="0" dirty="0">
                          <a:solidFill>
                            <a:srgbClr val="000000"/>
                          </a:solidFill>
                          <a:latin typeface="Times New Roman" panose="02020603050405020304" pitchFamily="18" charset="0"/>
                        </a:rPr>
                        <a:t>.jpg .</a:t>
                      </a:r>
                      <a:r>
                        <a:rPr lang="en-US" sz="1200" b="0" i="0" dirty="0" err="1">
                          <a:solidFill>
                            <a:srgbClr val="000000"/>
                          </a:solidFill>
                          <a:latin typeface="Times New Roman" panose="02020603050405020304" pitchFamily="18" charset="0"/>
                        </a:rPr>
                        <a:t>png</a:t>
                      </a:r>
                      <a:r>
                        <a:rPr lang="en-US" sz="1200" b="0" i="0" dirty="0">
                          <a:solidFill>
                            <a:srgbClr val="000000"/>
                          </a:solidFill>
                          <a:latin typeface="Times New Roman" panose="02020603050405020304" pitchFamily="18" charset="0"/>
                        </a:rPr>
                        <a:t> .bmp</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2F2F2"/>
                    </a:solidFill>
                  </a:tcPr>
                </a:tc>
                <a:extLst>
                  <a:ext uri="{0D108BD9-81ED-4DB2-BD59-A6C34878D82A}">
                    <a16:rowId xmlns:a16="http://schemas.microsoft.com/office/drawing/2014/main" val="2055310544"/>
                  </a:ext>
                </a:extLst>
              </a:tr>
            </a:tbl>
          </a:graphicData>
        </a:graphic>
      </p:graphicFrame>
    </p:spTree>
    <p:extLst>
      <p:ext uri="{BB962C8B-B14F-4D97-AF65-F5344CB8AC3E}">
        <p14:creationId xmlns:p14="http://schemas.microsoft.com/office/powerpoint/2010/main" val="2728079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661C880-0038-BB70-A535-9B0084724CF9}"/>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3. Bước 1 – Chuẩn bị dữ liệu: ba kiểu cấu trúc và schema tương ứng</a:t>
            </a:r>
            <a:endParaRPr lang="en-US" sz="1600" b="1">
              <a:solidFill>
                <a:srgbClr val="00206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93EE2BC1-A5D7-4B1E-00DB-B492E4ACED6B}"/>
              </a:ext>
            </a:extLst>
          </p:cNvPr>
          <p:cNvGraphicFramePr>
            <a:graphicFrameLocks noGrp="1"/>
          </p:cNvGraphicFramePr>
          <p:nvPr>
            <p:extLst>
              <p:ext uri="{D42A27DB-BD31-4B8C-83A1-F6EECF244321}">
                <p14:modId xmlns:p14="http://schemas.microsoft.com/office/powerpoint/2010/main" val="2764603039"/>
              </p:ext>
            </p:extLst>
          </p:nvPr>
        </p:nvGraphicFramePr>
        <p:xfrm>
          <a:off x="698500" y="1270000"/>
          <a:ext cx="10795000" cy="3987800"/>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1340453901"/>
                    </a:ext>
                  </a:extLst>
                </a:gridCol>
                <a:gridCol w="4191000">
                  <a:extLst>
                    <a:ext uri="{9D8B030D-6E8A-4147-A177-3AD203B41FA5}">
                      <a16:colId xmlns:a16="http://schemas.microsoft.com/office/drawing/2014/main" val="3922661033"/>
                    </a:ext>
                  </a:extLst>
                </a:gridCol>
                <a:gridCol w="4191000">
                  <a:extLst>
                    <a:ext uri="{9D8B030D-6E8A-4147-A177-3AD203B41FA5}">
                      <a16:colId xmlns:a16="http://schemas.microsoft.com/office/drawing/2014/main" val="2554584505"/>
                    </a:ext>
                  </a:extLst>
                </a:gridCol>
              </a:tblGrid>
              <a:tr h="330200">
                <a:tc>
                  <a:txBody>
                    <a:bodyPr/>
                    <a:lstStyle/>
                    <a:p>
                      <a:pPr marL="0" indent="0" algn="ctr">
                        <a:spcBef>
                          <a:spcPts val="0"/>
                        </a:spcBef>
                        <a:spcAft>
                          <a:spcPts val="0"/>
                        </a:spcAft>
                        <a:buFontTx/>
                        <a:buNone/>
                      </a:pPr>
                      <a:r>
                        <a:rPr lang="en-US" sz="1100" b="1" i="0">
                          <a:solidFill>
                            <a:srgbClr val="FFFFFF"/>
                          </a:solidFill>
                          <a:latin typeface="Times New Roman" panose="02020603050405020304" pitchFamily="18" charset="0"/>
                        </a:rPr>
                        <a:t>Kiểu cấu trúc</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100" b="1" i="0">
                          <a:solidFill>
                            <a:srgbClr val="FFFFFF"/>
                          </a:solidFill>
                          <a:latin typeface="Times New Roman" panose="02020603050405020304" pitchFamily="18" charset="0"/>
                        </a:rPr>
                        <a:t>Schema</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vi-VN" sz="1100" b="1" i="0">
                          <a:solidFill>
                            <a:srgbClr val="FFFFFF"/>
                          </a:solidFill>
                          <a:latin typeface="Times New Roman" panose="02020603050405020304" pitchFamily="18" charset="0"/>
                        </a:rPr>
                        <a:t>Ví dụ thư mục</a:t>
                      </a:r>
                      <a:endParaRPr lang="en-US" sz="1100" b="1" i="0">
                        <a:solidFill>
                          <a:srgbClr val="FFFFFF"/>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1746276534"/>
                  </a:ext>
                </a:extLst>
              </a:tr>
              <a:tr h="1219200">
                <a:tc>
                  <a:txBody>
                    <a:bodyPr/>
                    <a:lstStyle/>
                    <a:p>
                      <a:pPr marL="0" indent="0" algn="l">
                        <a:spcBef>
                          <a:spcPts val="0"/>
                        </a:spcBef>
                        <a:spcAft>
                          <a:spcPts val="0"/>
                        </a:spcAft>
                        <a:buFontTx/>
                        <a:buNone/>
                      </a:pPr>
                      <a:r>
                        <a:rPr lang="en-US" sz="1100" b="1" i="0" dirty="0">
                          <a:solidFill>
                            <a:schemeClr val="bg1">
                              <a:lumMod val="85000"/>
                            </a:schemeClr>
                          </a:solidFill>
                          <a:latin typeface="Times New Roman" panose="02020603050405020304" pitchFamily="18" charset="0"/>
                        </a:rPr>
                        <a:t>A. </a:t>
                      </a:r>
                      <a:r>
                        <a:rPr lang="en-US" sz="1100" b="1" i="0" dirty="0" err="1">
                          <a:solidFill>
                            <a:schemeClr val="bg1">
                              <a:lumMod val="85000"/>
                            </a:schemeClr>
                          </a:solidFill>
                          <a:latin typeface="Times New Roman" panose="02020603050405020304" pitchFamily="18" charset="0"/>
                        </a:rPr>
                        <a:t>Mọi</a:t>
                      </a:r>
                      <a:r>
                        <a:rPr lang="en-US" sz="1100" b="1" i="0" dirty="0">
                          <a:solidFill>
                            <a:schemeClr val="bg1">
                              <a:lumMod val="85000"/>
                            </a:schemeClr>
                          </a:solidFill>
                          <a:latin typeface="Times New Roman" panose="02020603050405020304" pitchFamily="18" charset="0"/>
                        </a:rPr>
                        <a:t> </a:t>
                      </a:r>
                      <a:r>
                        <a:rPr lang="en-US" sz="1100" b="1" i="0" dirty="0" err="1">
                          <a:solidFill>
                            <a:schemeClr val="bg1">
                              <a:lumMod val="85000"/>
                            </a:schemeClr>
                          </a:solidFill>
                          <a:latin typeface="Times New Roman" panose="02020603050405020304" pitchFamily="18" charset="0"/>
                        </a:rPr>
                        <a:t>thông</a:t>
                      </a:r>
                      <a:r>
                        <a:rPr lang="en-US" sz="1100" b="1" i="0" dirty="0">
                          <a:solidFill>
                            <a:schemeClr val="bg1">
                              <a:lumMod val="85000"/>
                            </a:schemeClr>
                          </a:solidFill>
                          <a:latin typeface="Times New Roman" panose="02020603050405020304" pitchFamily="18" charset="0"/>
                        </a:rPr>
                        <a:t> tin </a:t>
                      </a:r>
                      <a:r>
                        <a:rPr lang="en-US" sz="1100" b="1" i="0" dirty="0" err="1">
                          <a:solidFill>
                            <a:schemeClr val="bg1">
                              <a:lumMod val="85000"/>
                            </a:schemeClr>
                          </a:solidFill>
                          <a:latin typeface="Times New Roman" panose="02020603050405020304" pitchFamily="18" charset="0"/>
                        </a:rPr>
                        <a:t>trong</a:t>
                      </a:r>
                      <a:r>
                        <a:rPr lang="en-US" sz="1100" b="1" i="0" dirty="0">
                          <a:solidFill>
                            <a:schemeClr val="bg1">
                              <a:lumMod val="85000"/>
                            </a:schemeClr>
                          </a:solidFill>
                          <a:latin typeface="Times New Roman" panose="02020603050405020304" pitchFamily="18" charset="0"/>
                        </a:rPr>
                        <a:t> </a:t>
                      </a:r>
                      <a:r>
                        <a:rPr lang="en-US" sz="1100" b="1" i="0" dirty="0" err="1">
                          <a:solidFill>
                            <a:schemeClr val="bg1">
                              <a:lumMod val="85000"/>
                            </a:schemeClr>
                          </a:solidFill>
                          <a:latin typeface="Times New Roman" panose="02020603050405020304" pitchFamily="18" charset="0"/>
                        </a:rPr>
                        <a:t>tên</a:t>
                      </a:r>
                      <a:r>
                        <a:rPr lang="en-US" sz="1100" b="1" i="0" dirty="0">
                          <a:solidFill>
                            <a:schemeClr val="bg1">
                              <a:lumMod val="85000"/>
                            </a:schemeClr>
                          </a:solidFill>
                          <a:latin typeface="Times New Roman" panose="02020603050405020304" pitchFamily="18" charset="0"/>
                        </a:rPr>
                        <a:t> file</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100" b="0" i="0" dirty="0">
                          <a:solidFill>
                            <a:schemeClr val="bg1">
                              <a:lumMod val="85000"/>
                            </a:schemeClr>
                          </a:solidFill>
                          <a:latin typeface="Consolas" panose="020B0609020204030204" pitchFamily="49" charset="0"/>
                        </a:rPr>
                        <a:t>&lt;ĐK&gt;_&lt;No&gt;_&lt;</a:t>
                      </a:r>
                      <a:r>
                        <a:rPr lang="en-US" sz="1100" b="0" i="0" dirty="0" err="1">
                          <a:solidFill>
                            <a:schemeClr val="bg1">
                              <a:lumMod val="85000"/>
                            </a:schemeClr>
                          </a:solidFill>
                          <a:latin typeface="Consolas" panose="020B0609020204030204" pitchFamily="49" charset="0"/>
                        </a:rPr>
                        <a:t>Tên</a:t>
                      </a:r>
                      <a:r>
                        <a:rPr lang="en-US" sz="1100" b="0" i="0" dirty="0">
                          <a:solidFill>
                            <a:schemeClr val="bg1">
                              <a:lumMod val="85000"/>
                            </a:schemeClr>
                          </a:solidFill>
                          <a:latin typeface="Consolas" panose="020B0609020204030204" pitchFamily="49" charset="0"/>
                        </a:rPr>
                        <a:t> </a:t>
                      </a:r>
                      <a:r>
                        <a:rPr lang="en-US" sz="1100" b="0" i="0" dirty="0" err="1">
                          <a:solidFill>
                            <a:schemeClr val="bg1">
                              <a:lumMod val="85000"/>
                            </a:schemeClr>
                          </a:solidFill>
                          <a:latin typeface="Consolas" panose="020B0609020204030204" pitchFamily="49" charset="0"/>
                        </a:rPr>
                        <a:t>sản</a:t>
                      </a:r>
                      <a:r>
                        <a:rPr lang="en-US" sz="1100" b="0" i="0" dirty="0">
                          <a:solidFill>
                            <a:schemeClr val="bg1">
                              <a:lumMod val="85000"/>
                            </a:schemeClr>
                          </a:solidFill>
                          <a:latin typeface="Consolas" panose="020B0609020204030204" pitchFamily="49" charset="0"/>
                        </a:rPr>
                        <a:t> </a:t>
                      </a:r>
                      <a:r>
                        <a:rPr lang="en-US" sz="1100" b="0" i="0" dirty="0" err="1">
                          <a:solidFill>
                            <a:schemeClr val="bg1">
                              <a:lumMod val="85000"/>
                            </a:schemeClr>
                          </a:solidFill>
                          <a:latin typeface="Consolas" panose="020B0609020204030204" pitchFamily="49" charset="0"/>
                        </a:rPr>
                        <a:t>phẩm</a:t>
                      </a:r>
                      <a:r>
                        <a:rPr lang="en-US" sz="1100" b="0" i="0" dirty="0">
                          <a:solidFill>
                            <a:schemeClr val="bg1">
                              <a:lumMod val="85000"/>
                            </a:schemeClr>
                          </a:solidFill>
                          <a:latin typeface="Consolas" panose="020B0609020204030204" pitchFamily="49" charset="0"/>
                        </a:rPr>
                        <a:t>&gt;_&lt;</a:t>
                      </a:r>
                      <a:r>
                        <a:rPr lang="en-US" sz="1100" b="0" i="0" dirty="0" err="1">
                          <a:solidFill>
                            <a:schemeClr val="bg1">
                              <a:lumMod val="85000"/>
                            </a:schemeClr>
                          </a:solidFill>
                          <a:latin typeface="Consolas" panose="020B0609020204030204" pitchFamily="49" charset="0"/>
                        </a:rPr>
                        <a:t>Mã</a:t>
                      </a:r>
                      <a:r>
                        <a:rPr lang="en-US" sz="1100" b="0" i="0" dirty="0">
                          <a:solidFill>
                            <a:schemeClr val="bg1">
                              <a:lumMod val="85000"/>
                            </a:schemeClr>
                          </a:solidFill>
                          <a:latin typeface="Consolas" panose="020B0609020204030204" pitchFamily="49" charset="0"/>
                        </a:rPr>
                        <a:t> sheet-tray&gt;_&lt;</a:t>
                      </a:r>
                      <a:r>
                        <a:rPr lang="en-US" sz="1100" b="0" i="0" dirty="0" err="1">
                          <a:solidFill>
                            <a:schemeClr val="bg1">
                              <a:lumMod val="85000"/>
                            </a:schemeClr>
                          </a:solidFill>
                          <a:latin typeface="Consolas" panose="020B0609020204030204" pitchFamily="49" charset="0"/>
                        </a:rPr>
                        <a:t>Vị</a:t>
                      </a:r>
                      <a:r>
                        <a:rPr lang="en-US" sz="1100" b="0" i="0" dirty="0">
                          <a:solidFill>
                            <a:schemeClr val="bg1">
                              <a:lumMod val="85000"/>
                            </a:schemeClr>
                          </a:solidFill>
                          <a:latin typeface="Consolas" panose="020B0609020204030204" pitchFamily="49" charset="0"/>
                        </a:rPr>
                        <a:t> </a:t>
                      </a:r>
                      <a:r>
                        <a:rPr lang="en-US" sz="1100" b="0" i="0" dirty="0" err="1">
                          <a:solidFill>
                            <a:schemeClr val="bg1">
                              <a:lumMod val="85000"/>
                            </a:schemeClr>
                          </a:solidFill>
                          <a:latin typeface="Consolas" panose="020B0609020204030204" pitchFamily="49" charset="0"/>
                        </a:rPr>
                        <a:t>trí</a:t>
                      </a:r>
                      <a:r>
                        <a:rPr lang="en-US" sz="1100" b="0" i="0" dirty="0">
                          <a:solidFill>
                            <a:schemeClr val="bg1">
                              <a:lumMod val="85000"/>
                            </a:schemeClr>
                          </a:solidFill>
                          <a:latin typeface="Consolas" panose="020B0609020204030204" pitchFamily="49" charset="0"/>
                        </a:rPr>
                        <a:t>&gt;_&lt;</a:t>
                      </a:r>
                      <a:r>
                        <a:rPr lang="en-US" sz="1100" b="0" i="0" dirty="0" err="1">
                          <a:solidFill>
                            <a:schemeClr val="bg1">
                              <a:lumMod val="85000"/>
                            </a:schemeClr>
                          </a:solidFill>
                          <a:latin typeface="Consolas" panose="020B0609020204030204" pitchFamily="49" charset="0"/>
                        </a:rPr>
                        <a:t>Mặt</a:t>
                      </a:r>
                      <a:r>
                        <a:rPr lang="en-US" sz="1100" b="0" i="0" dirty="0">
                          <a:solidFill>
                            <a:schemeClr val="bg1">
                              <a:lumMod val="85000"/>
                            </a:schemeClr>
                          </a:solidFill>
                          <a:latin typeface="Consolas" panose="020B0609020204030204" pitchFamily="49" charset="0"/>
                        </a:rPr>
                        <a:t>&gt;_&lt;</a:t>
                      </a:r>
                      <a:r>
                        <a:rPr lang="en-US" sz="1100" b="0" i="0" dirty="0" err="1">
                          <a:solidFill>
                            <a:schemeClr val="bg1">
                              <a:lumMod val="85000"/>
                            </a:schemeClr>
                          </a:solidFill>
                          <a:latin typeface="Consolas" panose="020B0609020204030204" pitchFamily="49" charset="0"/>
                        </a:rPr>
                        <a:t>Nội</a:t>
                      </a:r>
                      <a:r>
                        <a:rPr lang="en-US" sz="1100" b="0" i="0" dirty="0">
                          <a:solidFill>
                            <a:schemeClr val="bg1">
                              <a:lumMod val="85000"/>
                            </a:schemeClr>
                          </a:solidFill>
                          <a:latin typeface="Consolas" panose="020B0609020204030204" pitchFamily="49" charset="0"/>
                        </a:rPr>
                        <a:t> dung NG&gt;_&lt;</a:t>
                      </a:r>
                      <a:r>
                        <a:rPr lang="en-US" sz="1100" b="0" i="0" dirty="0" err="1">
                          <a:solidFill>
                            <a:schemeClr val="bg1">
                              <a:lumMod val="85000"/>
                            </a:schemeClr>
                          </a:solidFill>
                          <a:latin typeface="Consolas" panose="020B0609020204030204" pitchFamily="49" charset="0"/>
                        </a:rPr>
                        <a:t>Đánh</a:t>
                      </a:r>
                      <a:r>
                        <a:rPr lang="en-US" sz="1100" b="0" i="0" dirty="0">
                          <a:solidFill>
                            <a:schemeClr val="bg1">
                              <a:lumMod val="85000"/>
                            </a:schemeClr>
                          </a:solidFill>
                          <a:latin typeface="Consolas" panose="020B0609020204030204" pitchFamily="49" charset="0"/>
                        </a:rPr>
                        <a:t> </a:t>
                      </a:r>
                      <a:r>
                        <a:rPr lang="en-US" sz="1100" b="0" i="0" dirty="0" err="1">
                          <a:solidFill>
                            <a:schemeClr val="bg1">
                              <a:lumMod val="85000"/>
                            </a:schemeClr>
                          </a:solidFill>
                          <a:latin typeface="Consolas" panose="020B0609020204030204" pitchFamily="49" charset="0"/>
                        </a:rPr>
                        <a:t>giá</a:t>
                      </a:r>
                      <a:r>
                        <a:rPr lang="en-US" sz="1100" b="0" i="0" dirty="0">
                          <a:solidFill>
                            <a:schemeClr val="bg1">
                              <a:lumMod val="85000"/>
                            </a:schemeClr>
                          </a:solidFill>
                          <a:latin typeface="Consolas" panose="020B0609020204030204" pitchFamily="49" charset="0"/>
                        </a:rPr>
                        <a:t>&gt;_&lt;Raw/Mask&gt;_&lt;Hậu </a:t>
                      </a:r>
                      <a:r>
                        <a:rPr lang="en-US" sz="1100" b="0" i="0" dirty="0" err="1">
                          <a:solidFill>
                            <a:schemeClr val="bg1">
                              <a:lumMod val="85000"/>
                            </a:schemeClr>
                          </a:solidFill>
                          <a:latin typeface="Consolas" panose="020B0609020204030204" pitchFamily="49" charset="0"/>
                        </a:rPr>
                        <a:t>tố</a:t>
                      </a:r>
                      <a:r>
                        <a:rPr lang="en-US" sz="1100" b="0" i="0" dirty="0">
                          <a:solidFill>
                            <a:schemeClr val="bg1">
                              <a:lumMod val="85000"/>
                            </a:schemeClr>
                          </a:solidFill>
                          <a:latin typeface="Consolas" panose="020B0609020204030204" pitchFamily="49" charset="0"/>
                        </a:rPr>
                        <a:t>&gt;.&lt;Extension&gt;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100" b="0" i="0" dirty="0">
                          <a:solidFill>
                            <a:schemeClr val="bg1">
                              <a:lumMod val="85000"/>
                            </a:schemeClr>
                          </a:solidFill>
                          <a:latin typeface="Consolas" panose="020B0609020204030204" pitchFamily="49" charset="0"/>
                        </a:rPr>
                        <a:t>Lens3\</a:t>
                      </a:r>
                      <a:br>
                        <a:rPr lang="vi-VN" sz="1100" b="0" i="0" dirty="0">
                          <a:solidFill>
                            <a:schemeClr val="bg1">
                              <a:lumMod val="85000"/>
                            </a:schemeClr>
                          </a:solidFill>
                          <a:latin typeface="Consolas" panose="020B0609020204030204" pitchFamily="49" charset="0"/>
                        </a:rPr>
                      </a:br>
                      <a:r>
                        <a:rPr lang="vi-VN" sz="1100" b="0" i="0" dirty="0">
                          <a:solidFill>
                            <a:schemeClr val="bg1">
                              <a:lumMod val="85000"/>
                            </a:schemeClr>
                          </a:solidFill>
                          <a:latin typeface="Consolas" panose="020B0609020204030204" pitchFamily="49" charset="0"/>
                        </a:rPr>
                        <a:t> ĐK1_1_Lens_Sheet1_A-1_Top_Xước_NG_Raw_1.jpg</a:t>
                      </a:r>
                      <a:br>
                        <a:rPr lang="vi-VN" sz="1100" b="0" i="0" dirty="0">
                          <a:solidFill>
                            <a:schemeClr val="bg1">
                              <a:lumMod val="85000"/>
                            </a:schemeClr>
                          </a:solidFill>
                          <a:latin typeface="Consolas" panose="020B0609020204030204" pitchFamily="49" charset="0"/>
                        </a:rPr>
                      </a:br>
                      <a:r>
                        <a:rPr lang="vi-VN" sz="1100" b="0" i="0" dirty="0">
                          <a:solidFill>
                            <a:schemeClr val="bg1">
                              <a:lumMod val="85000"/>
                            </a:schemeClr>
                          </a:solidFill>
                          <a:latin typeface="Consolas" panose="020B0609020204030204" pitchFamily="49" charset="0"/>
                        </a:rPr>
                        <a:t> ĐK1_1_Lens_Sheet1_A-1_Top_Xước_NG_Mask_1.jpg</a:t>
                      </a:r>
                      <a:endParaRPr lang="en-US" sz="1100" b="0" i="0" dirty="0">
                        <a:solidFill>
                          <a:schemeClr val="bg1">
                            <a:lumMod val="85000"/>
                          </a:schemeClr>
                        </a:solidFill>
                        <a:latin typeface="Consolas" panose="020B0609020204030204" pitchFamily="49"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933165193"/>
                  </a:ext>
                </a:extLst>
              </a:tr>
              <a:tr h="1219200">
                <a:tc>
                  <a:txBody>
                    <a:bodyPr/>
                    <a:lstStyle/>
                    <a:p>
                      <a:pPr marL="0" indent="0" algn="l">
                        <a:spcBef>
                          <a:spcPts val="0"/>
                        </a:spcBef>
                        <a:spcAft>
                          <a:spcPts val="0"/>
                        </a:spcAft>
                        <a:buFontTx/>
                        <a:buNone/>
                      </a:pPr>
                      <a:r>
                        <a:rPr lang="vi-VN" sz="1100" b="1" i="0" dirty="0">
                          <a:solidFill>
                            <a:srgbClr val="000000"/>
                          </a:solidFill>
                          <a:latin typeface="Times New Roman" panose="02020603050405020304" pitchFamily="18" charset="0"/>
                        </a:rPr>
                        <a:t>B. Mỗi cấp thư mục là một trường</a:t>
                      </a:r>
                      <a:br>
                        <a:rPr lang="vi-VN" sz="1100" b="0" i="1" dirty="0">
                          <a:solidFill>
                            <a:srgbClr val="C00000"/>
                          </a:solidFill>
                          <a:latin typeface="Times New Roman" panose="02020603050405020304" pitchFamily="18" charset="0"/>
                        </a:rPr>
                      </a:br>
                      <a:r>
                        <a:rPr lang="en-US" sz="1100" b="0" i="1" dirty="0" err="1">
                          <a:solidFill>
                            <a:srgbClr val="C00000"/>
                          </a:solidFill>
                          <a:latin typeface="Times New Roman" panose="02020603050405020304" pitchFamily="18" charset="0"/>
                        </a:rPr>
                        <a:t>Yêu</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cầu</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tuân</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thủ</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đúng</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cấp</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thư</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mục</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để</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tránh</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dữ</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liệu</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bị</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tách</a:t>
                      </a:r>
                      <a:r>
                        <a:rPr lang="en-US" sz="1100" b="0" i="1" dirty="0">
                          <a:solidFill>
                            <a:srgbClr val="C00000"/>
                          </a:solidFill>
                          <a:latin typeface="Times New Roman" panose="02020603050405020304" pitchFamily="18" charset="0"/>
                        </a:rPr>
                        <a:t> hang </a:t>
                      </a:r>
                      <a:r>
                        <a:rPr lang="en-US" sz="1100" b="0" i="1" dirty="0" err="1">
                          <a:solidFill>
                            <a:srgbClr val="C00000"/>
                          </a:solidFill>
                          <a:latin typeface="Times New Roman" panose="02020603050405020304" pitchFamily="18" charset="0"/>
                        </a:rPr>
                        <a:t>trong</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báo</a:t>
                      </a:r>
                      <a:r>
                        <a:rPr lang="en-US" sz="1100" b="0" i="1" dirty="0">
                          <a:solidFill>
                            <a:srgbClr val="C00000"/>
                          </a:solidFill>
                          <a:latin typeface="Times New Roman" panose="02020603050405020304" pitchFamily="18" charset="0"/>
                        </a:rPr>
                        <a:t> </a:t>
                      </a:r>
                      <a:r>
                        <a:rPr lang="en-US" sz="1100" b="0" i="1" dirty="0" err="1">
                          <a:solidFill>
                            <a:srgbClr val="C00000"/>
                          </a:solidFill>
                          <a:latin typeface="Times New Roman" panose="02020603050405020304" pitchFamily="18" charset="0"/>
                        </a:rPr>
                        <a:t>cáo</a:t>
                      </a:r>
                      <a:endParaRPr lang="en-US" sz="1100" b="0" i="1" dirty="0">
                        <a:solidFill>
                          <a:srgbClr val="C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100" b="0" i="0">
                          <a:solidFill>
                            <a:srgbClr val="002060"/>
                          </a:solidFill>
                          <a:latin typeface="Consolas" panose="020B0609020204030204" pitchFamily="49" charset="0"/>
                        </a:rPr>
                        <a:t>&lt;ĐK&gt;\&lt;Mã sheet-tray&gt;\&lt;Vị trí&gt;\&lt;Raw/Mask&gt;\&lt;Đánh giá&gt;_&lt;Hậu tố&gt;.&lt;Extension&gt;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100" b="0" i="0">
                          <a:solidFill>
                            <a:srgbClr val="000000"/>
                          </a:solidFill>
                          <a:latin typeface="Consolas" panose="020B0609020204030204" pitchFamily="49" charset="0"/>
                        </a:rPr>
                        <a:t>Lens_TM\DK1\Sheet1\A-1\Raw\NG_1.jpg</a:t>
                      </a:r>
                      <a:br>
                        <a:rPr lang="en-US" sz="1100" b="0" i="0">
                          <a:solidFill>
                            <a:srgbClr val="000000"/>
                          </a:solidFill>
                          <a:latin typeface="Consolas" panose="020B0609020204030204" pitchFamily="49" charset="0"/>
                        </a:rPr>
                      </a:br>
                      <a:r>
                        <a:rPr lang="en-US" sz="1100" b="0" i="0">
                          <a:solidFill>
                            <a:srgbClr val="000000"/>
                          </a:solidFill>
                          <a:latin typeface="Consolas" panose="020B0609020204030204" pitchFamily="49" charset="0"/>
                        </a:rPr>
                        <a:t>Lens_TM\DK1\Sheet1\A-1\Mask\NG_1.jpg</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352511226"/>
                  </a:ext>
                </a:extLst>
              </a:tr>
              <a:tr h="1219200">
                <a:tc>
                  <a:txBody>
                    <a:bodyPr/>
                    <a:lstStyle/>
                    <a:p>
                      <a:pPr marL="0" indent="0" algn="l">
                        <a:spcBef>
                          <a:spcPts val="0"/>
                        </a:spcBef>
                        <a:spcAft>
                          <a:spcPts val="0"/>
                        </a:spcAft>
                        <a:buFontTx/>
                        <a:buNone/>
                      </a:pPr>
                      <a:r>
                        <a:rPr lang="vi-VN" sz="1100" b="1" i="0" dirty="0">
                          <a:solidFill>
                            <a:srgbClr val="000000"/>
                          </a:solidFill>
                          <a:latin typeface="Times New Roman" panose="02020603050405020304" pitchFamily="18" charset="0"/>
                        </a:rPr>
                        <a:t>C. 2 cấp thư mục </a:t>
                      </a:r>
                      <a:br>
                        <a:rPr lang="en-US" sz="1100" b="1" i="0" dirty="0">
                          <a:solidFill>
                            <a:srgbClr val="000000"/>
                          </a:solidFill>
                          <a:latin typeface="Times New Roman" panose="02020603050405020304" pitchFamily="18" charset="0"/>
                        </a:rPr>
                      </a:br>
                      <a:r>
                        <a:rPr lang="vi-VN" sz="1100" b="1" i="0" dirty="0">
                          <a:solidFill>
                            <a:srgbClr val="000000"/>
                          </a:solidFill>
                          <a:latin typeface="Times New Roman" panose="02020603050405020304" pitchFamily="18" charset="0"/>
                        </a:rPr>
                        <a:t>(ĐK \ </a:t>
                      </a:r>
                      <a:r>
                        <a:rPr lang="vi-VN" sz="1100" b="1" i="0" dirty="0" err="1">
                          <a:solidFill>
                            <a:srgbClr val="000000"/>
                          </a:solidFill>
                          <a:latin typeface="Times New Roman" panose="02020603050405020304" pitchFamily="18" charset="0"/>
                        </a:rPr>
                        <a:t>Sheet</a:t>
                      </a:r>
                      <a:r>
                        <a:rPr lang="vi-VN" sz="1100" b="1" i="0" dirty="0">
                          <a:solidFill>
                            <a:srgbClr val="000000"/>
                          </a:solidFill>
                          <a:latin typeface="Times New Roman" panose="02020603050405020304" pitchFamily="18" charset="0"/>
                        </a:rPr>
                        <a:t>) + tên </a:t>
                      </a:r>
                      <a:r>
                        <a:rPr lang="vi-VN" sz="1100" b="1" i="0" dirty="0" err="1">
                          <a:solidFill>
                            <a:srgbClr val="000000"/>
                          </a:solidFill>
                          <a:latin typeface="Times New Roman" panose="02020603050405020304" pitchFamily="18" charset="0"/>
                        </a:rPr>
                        <a:t>file</a:t>
                      </a:r>
                      <a:endParaRPr lang="en-US" sz="1100" b="1" i="0" dirty="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100" b="0" i="0">
                          <a:solidFill>
                            <a:srgbClr val="002060"/>
                          </a:solidFill>
                          <a:latin typeface="Consolas" panose="020B0609020204030204" pitchFamily="49" charset="0"/>
                        </a:rPr>
                        <a:t>&lt;ĐK&gt;\&lt;Mã sheet-tray&gt;\&lt;No&gt;_&lt;Tên sản phẩm&gt;_&lt;Vị trí&gt;_&lt;Mặt&gt;_&lt;Nội dung NG&gt;_&lt;Đánh giá&gt;_&lt;Raw/Mask&gt;_&lt;Hậu tố&gt;.&lt;Extension&gt;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100" b="0" i="0" dirty="0">
                          <a:solidFill>
                            <a:srgbClr val="000000"/>
                          </a:solidFill>
                          <a:latin typeface="Consolas" panose="020B0609020204030204" pitchFamily="49" charset="0"/>
                        </a:rPr>
                        <a:t>Lens4\DK1\Sheet1\</a:t>
                      </a:r>
                      <a:br>
                        <a:rPr lang="vi-VN" sz="1100" b="0" i="0" dirty="0">
                          <a:solidFill>
                            <a:srgbClr val="000000"/>
                          </a:solidFill>
                          <a:latin typeface="Consolas" panose="020B0609020204030204" pitchFamily="49" charset="0"/>
                        </a:rPr>
                      </a:br>
                      <a:r>
                        <a:rPr lang="vi-VN" sz="1100" b="0" i="0" dirty="0">
                          <a:solidFill>
                            <a:srgbClr val="000000"/>
                          </a:solidFill>
                          <a:latin typeface="Consolas" panose="020B0609020204030204" pitchFamily="49" charset="0"/>
                        </a:rPr>
                        <a:t> 1_Lens_A-1_Top_Xước_NG_Raw_1.jpg</a:t>
                      </a:r>
                      <a:br>
                        <a:rPr lang="vi-VN" sz="1100" b="0" i="0" dirty="0">
                          <a:solidFill>
                            <a:srgbClr val="000000"/>
                          </a:solidFill>
                          <a:latin typeface="Consolas" panose="020B0609020204030204" pitchFamily="49" charset="0"/>
                        </a:rPr>
                      </a:br>
                      <a:r>
                        <a:rPr lang="vi-VN" sz="1100" b="0" i="0" dirty="0">
                          <a:solidFill>
                            <a:srgbClr val="000000"/>
                          </a:solidFill>
                          <a:latin typeface="Consolas" panose="020B0609020204030204" pitchFamily="49" charset="0"/>
                        </a:rPr>
                        <a:t> 1_Lens_A-1_Top_Xước_NG_Mask_1.jpg</a:t>
                      </a:r>
                      <a:endParaRPr lang="en-US" sz="1100" b="0" i="0" dirty="0">
                        <a:solidFill>
                          <a:srgbClr val="000000"/>
                        </a:solidFill>
                        <a:latin typeface="Consolas" panose="020B0609020204030204" pitchFamily="49"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677729759"/>
                  </a:ext>
                </a:extLst>
              </a:tr>
            </a:tbl>
          </a:graphicData>
        </a:graphic>
      </p:graphicFrame>
    </p:spTree>
    <p:extLst>
      <p:ext uri="{BB962C8B-B14F-4D97-AF65-F5344CB8AC3E}">
        <p14:creationId xmlns:p14="http://schemas.microsoft.com/office/powerpoint/2010/main" val="483151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9547F46-5B4C-91A4-575E-2D860B73B5F5}"/>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3.2. Cách 1 – Chạy lưu ảnh từ Capture &amp; Monitor (UnitX)</a:t>
            </a:r>
            <a:endParaRPr lang="en-US" sz="1600" b="1">
              <a:solidFill>
                <a:srgbClr val="002060"/>
              </a:solidFill>
              <a:latin typeface="Times New Roman" panose="02020603050405020304" pitchFamily="18" charset="0"/>
            </a:endParaRPr>
          </a:p>
        </p:txBody>
      </p:sp>
      <p:pic>
        <p:nvPicPr>
          <p:cNvPr id="9" name="Picture 8">
            <a:extLst>
              <a:ext uri="{FF2B5EF4-FFF2-40B4-BE49-F238E27FC236}">
                <a16:creationId xmlns:a16="http://schemas.microsoft.com/office/drawing/2014/main" id="{7D219326-2E64-0427-9D6B-DEE55A2B9CE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270000"/>
            <a:ext cx="5969000" cy="3730625"/>
          </a:xfrm>
          <a:prstGeom prst="rect">
            <a:avLst/>
          </a:prstGeom>
          <a:ln w="9525">
            <a:solidFill>
              <a:srgbClr val="BFBFBF"/>
            </a:solidFill>
          </a:ln>
        </p:spPr>
      </p:pic>
      <p:sp>
        <p:nvSpPr>
          <p:cNvPr id="10" name="TextBox 9">
            <a:extLst>
              <a:ext uri="{FF2B5EF4-FFF2-40B4-BE49-F238E27FC236}">
                <a16:creationId xmlns:a16="http://schemas.microsoft.com/office/drawing/2014/main" id="{C4189AFD-BD61-8DE7-8818-6B760082BF82}"/>
              </a:ext>
            </a:extLst>
          </p:cNvPr>
          <p:cNvSpPr txBox="1"/>
          <p:nvPr/>
        </p:nvSpPr>
        <p:spPr>
          <a:xfrm>
            <a:off x="698500" y="5026025"/>
            <a:ext cx="5969000" cy="203200"/>
          </a:xfrm>
          <a:prstGeom prst="rect">
            <a:avLst/>
          </a:prstGeom>
          <a:noFill/>
        </p:spPr>
        <p:txBody>
          <a:bodyPr vert="horz" wrap="square" lIns="25400" tIns="12700" rIns="25400" bIns="12700" rtlCol="0" anchor="t">
            <a:noAutofit/>
          </a:bodyPr>
          <a:lstStyle/>
          <a:p>
            <a:r>
              <a:rPr lang="vi-VN" sz="1100" i="1" dirty="0" err="1">
                <a:solidFill>
                  <a:srgbClr val="595959"/>
                </a:solidFill>
                <a:latin typeface="Times New Roman" panose="02020603050405020304" pitchFamily="18" charset="0"/>
              </a:rPr>
              <a:t>Tab</a:t>
            </a:r>
            <a:r>
              <a:rPr lang="vi-VN" sz="1100" i="1" dirty="0">
                <a:solidFill>
                  <a:srgbClr val="595959"/>
                </a:solidFill>
                <a:latin typeface="Times New Roman" panose="02020603050405020304" pitchFamily="18" charset="0"/>
              </a:rPr>
              <a:t> </a:t>
            </a:r>
            <a:r>
              <a:rPr lang="vi-VN" sz="1100" i="1" dirty="0" err="1">
                <a:solidFill>
                  <a:srgbClr val="595959"/>
                </a:solidFill>
                <a:latin typeface="Times New Roman" panose="02020603050405020304" pitchFamily="18" charset="0"/>
              </a:rPr>
              <a:t>Capture</a:t>
            </a:r>
            <a:r>
              <a:rPr lang="vi-VN" sz="1100" i="1" dirty="0">
                <a:solidFill>
                  <a:srgbClr val="595959"/>
                </a:solidFill>
                <a:latin typeface="Times New Roman" panose="02020603050405020304" pitchFamily="18" charset="0"/>
              </a:rPr>
              <a:t> &amp; </a:t>
            </a:r>
            <a:r>
              <a:rPr lang="vi-VN" sz="1100" i="1" dirty="0" err="1">
                <a:solidFill>
                  <a:srgbClr val="595959"/>
                </a:solidFill>
                <a:latin typeface="Times New Roman" panose="02020603050405020304" pitchFamily="18" charset="0"/>
              </a:rPr>
              <a:t>Monitor</a:t>
            </a:r>
            <a:r>
              <a:rPr lang="vi-VN" sz="1100" i="1" dirty="0">
                <a:solidFill>
                  <a:srgbClr val="595959"/>
                </a:solidFill>
                <a:latin typeface="Times New Roman" panose="02020603050405020304" pitchFamily="18" charset="0"/>
              </a:rPr>
              <a:t> – các ô cần đặt trước khi chụp</a:t>
            </a:r>
            <a:endParaRPr lang="en-US" sz="1100" i="1" dirty="0">
              <a:solidFill>
                <a:srgbClr val="595959"/>
              </a:solidFill>
              <a:latin typeface="Times New Roman" panose="02020603050405020304" pitchFamily="18" charset="0"/>
            </a:endParaRPr>
          </a:p>
        </p:txBody>
      </p:sp>
      <p:sp>
        <p:nvSpPr>
          <p:cNvPr id="12" name="Oval 11">
            <a:extLst>
              <a:ext uri="{FF2B5EF4-FFF2-40B4-BE49-F238E27FC236}">
                <a16:creationId xmlns:a16="http://schemas.microsoft.com/office/drawing/2014/main" id="{2566CD5F-C89E-3E9E-ADB1-2D47321A925A}"/>
              </a:ext>
            </a:extLst>
          </p:cNvPr>
          <p:cNvSpPr/>
          <p:nvPr/>
        </p:nvSpPr>
        <p:spPr>
          <a:xfrm>
            <a:off x="6921500" y="13335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3" name="TextBox 12">
            <a:extLst>
              <a:ext uri="{FF2B5EF4-FFF2-40B4-BE49-F238E27FC236}">
                <a16:creationId xmlns:a16="http://schemas.microsoft.com/office/drawing/2014/main" id="{A7CAA886-26C4-E900-D2C8-C30D58D721F5}"/>
              </a:ext>
            </a:extLst>
          </p:cNvPr>
          <p:cNvSpPr txBox="1"/>
          <p:nvPr/>
        </p:nvSpPr>
        <p:spPr>
          <a:xfrm>
            <a:off x="7277100" y="1320800"/>
            <a:ext cx="4216400" cy="267716"/>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Thư mục lưu: </a:t>
            </a:r>
            <a:r>
              <a:rPr lang="vi-VN" sz="1400">
                <a:solidFill>
                  <a:srgbClr val="000000"/>
                </a:solidFill>
                <a:latin typeface="Times New Roman" panose="02020603050405020304" pitchFamily="18" charset="0"/>
              </a:rPr>
              <a:t>nơi lưu ảnh</a:t>
            </a:r>
            <a:endParaRPr lang="en-US" sz="1400">
              <a:solidFill>
                <a:srgbClr val="000000"/>
              </a:solidFill>
              <a:latin typeface="Times New Roman" panose="02020603050405020304" pitchFamily="18" charset="0"/>
            </a:endParaRPr>
          </a:p>
        </p:txBody>
      </p:sp>
      <p:sp>
        <p:nvSpPr>
          <p:cNvPr id="14" name="Oval 13">
            <a:extLst>
              <a:ext uri="{FF2B5EF4-FFF2-40B4-BE49-F238E27FC236}">
                <a16:creationId xmlns:a16="http://schemas.microsoft.com/office/drawing/2014/main" id="{0EA23F67-B988-4819-79D8-FC64A1FF0DC8}"/>
              </a:ext>
            </a:extLst>
          </p:cNvPr>
          <p:cNvSpPr/>
          <p:nvPr/>
        </p:nvSpPr>
        <p:spPr>
          <a:xfrm>
            <a:off x="6921500" y="1753616"/>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5" name="TextBox 14">
            <a:extLst>
              <a:ext uri="{FF2B5EF4-FFF2-40B4-BE49-F238E27FC236}">
                <a16:creationId xmlns:a16="http://schemas.microsoft.com/office/drawing/2014/main" id="{F13B2147-D6F0-6B5E-61A8-1D0C65257C25}"/>
              </a:ext>
            </a:extLst>
          </p:cNvPr>
          <p:cNvSpPr txBox="1"/>
          <p:nvPr/>
        </p:nvSpPr>
        <p:spPr>
          <a:xfrm>
            <a:off x="7277100" y="1740916"/>
            <a:ext cx="4216400" cy="701548"/>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Mẫu tên: </a:t>
            </a:r>
            <a:r>
              <a:rPr lang="vi-VN" sz="1400">
                <a:solidFill>
                  <a:srgbClr val="000000"/>
                </a:solidFill>
                <a:latin typeface="Times New Roman" panose="02020603050405020304" pitchFamily="18" charset="0"/>
              </a:rPr>
              <a:t>thông tin của mẫu đang chụp, nối bằng _, cần đổi trước khi chụp mẫu mới. Ví dụ: </a:t>
            </a:r>
            <a:r>
              <a:rPr lang="vi-VN" sz="1400">
                <a:solidFill>
                  <a:srgbClr val="002060"/>
                </a:solidFill>
                <a:latin typeface="Consolas" panose="020B0609020204030204" pitchFamily="49" charset="0"/>
              </a:rPr>
              <a:t>ĐK1_1_Lens_Sheet1_A-1_Top_Xước</a:t>
            </a:r>
            <a:endParaRPr lang="en-US" sz="1400">
              <a:solidFill>
                <a:srgbClr val="002060"/>
              </a:solidFill>
              <a:latin typeface="Consolas" panose="020B0609020204030204" pitchFamily="49" charset="0"/>
            </a:endParaRPr>
          </a:p>
        </p:txBody>
      </p:sp>
      <p:sp>
        <p:nvSpPr>
          <p:cNvPr id="16" name="Oval 15">
            <a:extLst>
              <a:ext uri="{FF2B5EF4-FFF2-40B4-BE49-F238E27FC236}">
                <a16:creationId xmlns:a16="http://schemas.microsoft.com/office/drawing/2014/main" id="{2F839C08-8C88-3FB1-F76A-70D623F6438A}"/>
              </a:ext>
            </a:extLst>
          </p:cNvPr>
          <p:cNvSpPr/>
          <p:nvPr/>
        </p:nvSpPr>
        <p:spPr>
          <a:xfrm>
            <a:off x="6921500" y="2607564"/>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3</a:t>
            </a:r>
          </a:p>
        </p:txBody>
      </p:sp>
      <p:sp>
        <p:nvSpPr>
          <p:cNvPr id="17" name="TextBox 16">
            <a:extLst>
              <a:ext uri="{FF2B5EF4-FFF2-40B4-BE49-F238E27FC236}">
                <a16:creationId xmlns:a16="http://schemas.microsoft.com/office/drawing/2014/main" id="{74173BC9-C2DE-0FAE-7583-E805268AC0ED}"/>
              </a:ext>
            </a:extLst>
          </p:cNvPr>
          <p:cNvSpPr txBox="1"/>
          <p:nvPr/>
        </p:nvSpPr>
        <p:spPr>
          <a:xfrm>
            <a:off x="7277100" y="2594864"/>
            <a:ext cx="4216400" cy="484632"/>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Hậu tố: </a:t>
            </a:r>
            <a:r>
              <a:rPr lang="en-US" sz="1400">
                <a:solidFill>
                  <a:srgbClr val="000000"/>
                </a:solidFill>
                <a:latin typeface="Times New Roman" panose="02020603050405020304" pitchFamily="18" charset="0"/>
              </a:rPr>
              <a:t>Timestamp / Số thứ tự – tự thêm ngày giờ / lần chụp để ảnh không ghi đè nhau</a:t>
            </a:r>
          </a:p>
        </p:txBody>
      </p:sp>
      <p:sp>
        <p:nvSpPr>
          <p:cNvPr id="18" name="Oval 17">
            <a:extLst>
              <a:ext uri="{FF2B5EF4-FFF2-40B4-BE49-F238E27FC236}">
                <a16:creationId xmlns:a16="http://schemas.microsoft.com/office/drawing/2014/main" id="{77D33ED0-406B-DE29-3CC1-027E80D03E31}"/>
              </a:ext>
            </a:extLst>
          </p:cNvPr>
          <p:cNvSpPr/>
          <p:nvPr/>
        </p:nvSpPr>
        <p:spPr>
          <a:xfrm>
            <a:off x="6921500" y="3244596"/>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4</a:t>
            </a:r>
          </a:p>
        </p:txBody>
      </p:sp>
      <p:sp>
        <p:nvSpPr>
          <p:cNvPr id="19" name="TextBox 18">
            <a:extLst>
              <a:ext uri="{FF2B5EF4-FFF2-40B4-BE49-F238E27FC236}">
                <a16:creationId xmlns:a16="http://schemas.microsoft.com/office/drawing/2014/main" id="{EE6B664D-3ED5-0C8D-895B-4B7B122712FD}"/>
              </a:ext>
            </a:extLst>
          </p:cNvPr>
          <p:cNvSpPr txBox="1"/>
          <p:nvPr/>
        </p:nvSpPr>
        <p:spPr>
          <a:xfrm>
            <a:off x="7277100" y="3231896"/>
            <a:ext cx="4216400" cy="484632"/>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Tick Lưu Raw và Lưu Mask</a:t>
            </a:r>
            <a:r>
              <a:rPr lang="vi-VN" sz="1400">
                <a:solidFill>
                  <a:srgbClr val="000000"/>
                </a:solidFill>
                <a:latin typeface="Times New Roman" panose="02020603050405020304" pitchFamily="18" charset="0"/>
              </a:rPr>
              <a:t> (phần mềm tự tạo thư mục con \raw và \mask)</a:t>
            </a:r>
            <a:endParaRPr lang="en-US" sz="1400">
              <a:solidFill>
                <a:srgbClr val="000000"/>
              </a:solidFill>
              <a:latin typeface="Times New Roman" panose="02020603050405020304" pitchFamily="18" charset="0"/>
            </a:endParaRPr>
          </a:p>
        </p:txBody>
      </p:sp>
      <p:sp>
        <p:nvSpPr>
          <p:cNvPr id="20" name="Oval 19">
            <a:extLst>
              <a:ext uri="{FF2B5EF4-FFF2-40B4-BE49-F238E27FC236}">
                <a16:creationId xmlns:a16="http://schemas.microsoft.com/office/drawing/2014/main" id="{CA3779A0-6206-A265-44D8-3B74F8DF63C0}"/>
              </a:ext>
            </a:extLst>
          </p:cNvPr>
          <p:cNvSpPr/>
          <p:nvPr/>
        </p:nvSpPr>
        <p:spPr>
          <a:xfrm>
            <a:off x="6921500" y="3881628"/>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5</a:t>
            </a:r>
          </a:p>
        </p:txBody>
      </p:sp>
      <p:sp>
        <p:nvSpPr>
          <p:cNvPr id="21" name="TextBox 20">
            <a:extLst>
              <a:ext uri="{FF2B5EF4-FFF2-40B4-BE49-F238E27FC236}">
                <a16:creationId xmlns:a16="http://schemas.microsoft.com/office/drawing/2014/main" id="{28B818A0-83AC-6799-6B12-19BAA2EF282A}"/>
              </a:ext>
            </a:extLst>
          </p:cNvPr>
          <p:cNvSpPr txBox="1"/>
          <p:nvPr/>
        </p:nvSpPr>
        <p:spPr>
          <a:xfrm>
            <a:off x="7277100" y="3868928"/>
            <a:ext cx="4216400" cy="267716"/>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Chụp ảnh</a:t>
            </a:r>
          </a:p>
        </p:txBody>
      </p:sp>
    </p:spTree>
    <p:extLst>
      <p:ext uri="{BB962C8B-B14F-4D97-AF65-F5344CB8AC3E}">
        <p14:creationId xmlns:p14="http://schemas.microsoft.com/office/powerpoint/2010/main" val="629691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6D13641-7453-BBD6-B196-49972FBECCAA}"/>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dirty="0">
                <a:solidFill>
                  <a:srgbClr val="002060"/>
                </a:solidFill>
                <a:latin typeface="Times New Roman" panose="02020603050405020304" pitchFamily="18" charset="0"/>
              </a:rPr>
              <a:t>3.2. </a:t>
            </a:r>
            <a:r>
              <a:rPr lang="en-US" sz="1600" b="1" dirty="0" err="1">
                <a:solidFill>
                  <a:srgbClr val="002060"/>
                </a:solidFill>
                <a:latin typeface="Times New Roman" panose="02020603050405020304" pitchFamily="18" charset="0"/>
              </a:rPr>
              <a:t>Cách</a:t>
            </a:r>
            <a:r>
              <a:rPr lang="en-US" sz="1600" b="1" dirty="0">
                <a:solidFill>
                  <a:srgbClr val="002060"/>
                </a:solidFill>
                <a:latin typeface="Times New Roman" panose="02020603050405020304" pitchFamily="18" charset="0"/>
              </a:rPr>
              <a:t> 1 – </a:t>
            </a:r>
            <a:r>
              <a:rPr lang="en-US" sz="1600" b="1" dirty="0" err="1">
                <a:solidFill>
                  <a:srgbClr val="002060"/>
                </a:solidFill>
                <a:latin typeface="Times New Roman" panose="02020603050405020304" pitchFamily="18" charset="0"/>
              </a:rPr>
              <a:t>Điều</a:t>
            </a:r>
            <a:r>
              <a:rPr lang="en-US" sz="1600" b="1" dirty="0">
                <a:solidFill>
                  <a:srgbClr val="002060"/>
                </a:solidFill>
                <a:latin typeface="Times New Roman" panose="02020603050405020304" pitchFamily="18" charset="0"/>
              </a:rPr>
              <a:t> </a:t>
            </a:r>
            <a:r>
              <a:rPr lang="en-US" sz="1600" b="1" dirty="0" err="1">
                <a:solidFill>
                  <a:srgbClr val="002060"/>
                </a:solidFill>
                <a:latin typeface="Times New Roman" panose="02020603050405020304" pitchFamily="18" charset="0"/>
              </a:rPr>
              <a:t>gì</a:t>
            </a:r>
            <a:r>
              <a:rPr lang="en-US" sz="1600" b="1" dirty="0">
                <a:solidFill>
                  <a:srgbClr val="002060"/>
                </a:solidFill>
                <a:latin typeface="Times New Roman" panose="02020603050405020304" pitchFamily="18" charset="0"/>
              </a:rPr>
              <a:t> </a:t>
            </a:r>
            <a:r>
              <a:rPr lang="en-US" sz="1600" b="1" dirty="0" err="1">
                <a:solidFill>
                  <a:srgbClr val="002060"/>
                </a:solidFill>
                <a:latin typeface="Times New Roman" panose="02020603050405020304" pitchFamily="18" charset="0"/>
              </a:rPr>
              <a:t>xảy</a:t>
            </a:r>
            <a:r>
              <a:rPr lang="en-US" sz="1600" b="1" dirty="0">
                <a:solidFill>
                  <a:srgbClr val="002060"/>
                </a:solidFill>
                <a:latin typeface="Times New Roman" panose="02020603050405020304" pitchFamily="18" charset="0"/>
              </a:rPr>
              <a:t> </a:t>
            </a:r>
            <a:r>
              <a:rPr lang="en-US" sz="1600" b="1" dirty="0" err="1">
                <a:solidFill>
                  <a:srgbClr val="002060"/>
                </a:solidFill>
                <a:latin typeface="Times New Roman" panose="02020603050405020304" pitchFamily="18" charset="0"/>
              </a:rPr>
              <a:t>ra</a:t>
            </a:r>
            <a:r>
              <a:rPr lang="en-US" sz="1600" b="1" dirty="0">
                <a:solidFill>
                  <a:srgbClr val="002060"/>
                </a:solidFill>
                <a:latin typeface="Times New Roman" panose="02020603050405020304" pitchFamily="18" charset="0"/>
              </a:rPr>
              <a:t> </a:t>
            </a:r>
            <a:r>
              <a:rPr lang="en-US" sz="1600" b="1" dirty="0" err="1">
                <a:solidFill>
                  <a:srgbClr val="002060"/>
                </a:solidFill>
                <a:latin typeface="Times New Roman" panose="02020603050405020304" pitchFamily="18" charset="0"/>
              </a:rPr>
              <a:t>khi</a:t>
            </a:r>
            <a:r>
              <a:rPr lang="en-US" sz="1600" b="1" dirty="0">
                <a:solidFill>
                  <a:srgbClr val="002060"/>
                </a:solidFill>
                <a:latin typeface="Times New Roman" panose="02020603050405020304" pitchFamily="18" charset="0"/>
              </a:rPr>
              <a:t> trigger?</a:t>
            </a:r>
          </a:p>
        </p:txBody>
      </p:sp>
      <p:sp>
        <p:nvSpPr>
          <p:cNvPr id="12" name="TextBox 11">
            <a:extLst>
              <a:ext uri="{FF2B5EF4-FFF2-40B4-BE49-F238E27FC236}">
                <a16:creationId xmlns:a16="http://schemas.microsoft.com/office/drawing/2014/main" id="{632F0C6F-4C84-057D-2065-63E776A410F9}"/>
              </a:ext>
            </a:extLst>
          </p:cNvPr>
          <p:cNvSpPr txBox="1"/>
          <p:nvPr/>
        </p:nvSpPr>
        <p:spPr>
          <a:xfrm>
            <a:off x="697778" y="1270000"/>
            <a:ext cx="4572000" cy="254000"/>
          </a:xfrm>
          <a:prstGeom prst="rect">
            <a:avLst/>
          </a:prstGeom>
          <a:noFill/>
        </p:spPr>
        <p:txBody>
          <a:bodyPr vert="horz" wrap="square" lIns="25400" tIns="12700" rIns="25400" bIns="12700" rtlCol="0" anchor="t">
            <a:noAutofit/>
          </a:bodyPr>
          <a:lstStyle/>
          <a:p>
            <a:r>
              <a:rPr lang="en-US" sz="1400" b="1">
                <a:solidFill>
                  <a:srgbClr val="002060"/>
                </a:solidFill>
                <a:latin typeface="Times New Roman" panose="02020603050405020304" pitchFamily="18" charset="0"/>
              </a:rPr>
              <a:t>Khi trigger:</a:t>
            </a:r>
          </a:p>
        </p:txBody>
      </p:sp>
      <p:sp>
        <p:nvSpPr>
          <p:cNvPr id="13" name="TextBox 12">
            <a:extLst>
              <a:ext uri="{FF2B5EF4-FFF2-40B4-BE49-F238E27FC236}">
                <a16:creationId xmlns:a16="http://schemas.microsoft.com/office/drawing/2014/main" id="{3C2575CF-65E8-35FD-0DEB-A9B630A18A07}"/>
              </a:ext>
            </a:extLst>
          </p:cNvPr>
          <p:cNvSpPr txBox="1"/>
          <p:nvPr/>
        </p:nvSpPr>
        <p:spPr>
          <a:xfrm>
            <a:off x="697778" y="1574800"/>
            <a:ext cx="4572000" cy="1397000"/>
          </a:xfrm>
          <a:prstGeom prst="rect">
            <a:avLst/>
          </a:prstGeom>
          <a:noFill/>
        </p:spPr>
        <p:txBody>
          <a:bodyPr vert="horz" wrap="square" lIns="25400" tIns="12700" rIns="25400" bIns="12700" rtlCol="0" anchor="t">
            <a:noAutofit/>
          </a:bodyPr>
          <a:lstStyle/>
          <a:p>
            <a:pPr marL="177800" indent="-177800">
              <a:spcAft>
                <a:spcPts val="400"/>
              </a:spcAft>
              <a:buFont typeface="+mj-lt"/>
              <a:buChar char="•"/>
            </a:pPr>
            <a:r>
              <a:rPr lang="vi-VN" sz="1300" dirty="0">
                <a:solidFill>
                  <a:srgbClr val="000000"/>
                </a:solidFill>
                <a:latin typeface="Times New Roman" panose="02020603050405020304" pitchFamily="18" charset="0"/>
              </a:rPr>
              <a:t>Hình ảnh tự động lưu với tên theo cấu trúc đã nhập</a:t>
            </a:r>
          </a:p>
          <a:p>
            <a:pPr marL="177800" indent="-177800">
              <a:spcAft>
                <a:spcPts val="400"/>
              </a:spcAft>
              <a:buFont typeface="+mj-lt"/>
              <a:buChar char="•"/>
            </a:pPr>
            <a:r>
              <a:rPr lang="vi-VN" sz="1300" dirty="0">
                <a:solidFill>
                  <a:srgbClr val="000000"/>
                </a:solidFill>
                <a:latin typeface="Times New Roman" panose="02020603050405020304" pitchFamily="18" charset="0"/>
              </a:rPr>
              <a:t>Tự động phân thư mục </a:t>
            </a:r>
            <a:r>
              <a:rPr lang="vi-VN" sz="1300" dirty="0" err="1">
                <a:solidFill>
                  <a:srgbClr val="000000"/>
                </a:solidFill>
                <a:latin typeface="Times New Roman" panose="02020603050405020304" pitchFamily="18" charset="0"/>
              </a:rPr>
              <a:t>Raw</a:t>
            </a:r>
            <a:r>
              <a:rPr lang="vi-VN" sz="1300" dirty="0">
                <a:solidFill>
                  <a:srgbClr val="000000"/>
                </a:solidFill>
                <a:latin typeface="Times New Roman" panose="02020603050405020304" pitchFamily="18" charset="0"/>
              </a:rPr>
              <a:t> | </a:t>
            </a:r>
            <a:r>
              <a:rPr lang="vi-VN" sz="1300" dirty="0" err="1">
                <a:solidFill>
                  <a:srgbClr val="000000"/>
                </a:solidFill>
                <a:latin typeface="Times New Roman" panose="02020603050405020304" pitchFamily="18" charset="0"/>
              </a:rPr>
              <a:t>Mask</a:t>
            </a:r>
            <a:endParaRPr lang="vi-VN" sz="1300" dirty="0">
              <a:solidFill>
                <a:srgbClr val="000000"/>
              </a:solidFill>
              <a:latin typeface="Times New Roman" panose="02020603050405020304" pitchFamily="18" charset="0"/>
            </a:endParaRPr>
          </a:p>
          <a:p>
            <a:pPr marL="177800" indent="-177800">
              <a:spcAft>
                <a:spcPts val="400"/>
              </a:spcAft>
              <a:buFont typeface="+mj-lt"/>
              <a:buChar char="•"/>
            </a:pPr>
            <a:r>
              <a:rPr lang="vi-VN" sz="1300" dirty="0" err="1">
                <a:solidFill>
                  <a:srgbClr val="000000"/>
                </a:solidFill>
                <a:latin typeface="Times New Roman" panose="02020603050405020304" pitchFamily="18" charset="0"/>
              </a:rPr>
              <a:t>Raw</a:t>
            </a:r>
            <a:r>
              <a:rPr lang="vi-VN" sz="1300" dirty="0">
                <a:solidFill>
                  <a:srgbClr val="000000"/>
                </a:solidFill>
                <a:latin typeface="Times New Roman" panose="02020603050405020304" pitchFamily="18" charset="0"/>
              </a:rPr>
              <a:t> và </a:t>
            </a:r>
            <a:r>
              <a:rPr lang="vi-VN" sz="1300" dirty="0" err="1">
                <a:solidFill>
                  <a:srgbClr val="000000"/>
                </a:solidFill>
                <a:latin typeface="Times New Roman" panose="02020603050405020304" pitchFamily="18" charset="0"/>
              </a:rPr>
              <a:t>Mask</a:t>
            </a:r>
            <a:r>
              <a:rPr lang="vi-VN" sz="1300" dirty="0">
                <a:solidFill>
                  <a:srgbClr val="000000"/>
                </a:solidFill>
                <a:latin typeface="Times New Roman" panose="02020603050405020304" pitchFamily="18" charset="0"/>
              </a:rPr>
              <a:t> của cùng một lần chụp có cùng ngày giờ → tự ghép cặp</a:t>
            </a:r>
            <a:endParaRPr lang="en-US" sz="1300" dirty="0">
              <a:solidFill>
                <a:srgbClr val="000000"/>
              </a:solidFill>
              <a:latin typeface="Times New Roman" panose="02020603050405020304" pitchFamily="18" charset="0"/>
            </a:endParaRPr>
          </a:p>
        </p:txBody>
      </p:sp>
      <p:sp>
        <p:nvSpPr>
          <p:cNvPr id="14" name="TextBox 13">
            <a:extLst>
              <a:ext uri="{FF2B5EF4-FFF2-40B4-BE49-F238E27FC236}">
                <a16:creationId xmlns:a16="http://schemas.microsoft.com/office/drawing/2014/main" id="{B4A50FD2-B930-26E6-62A3-89E315DE017A}"/>
              </a:ext>
            </a:extLst>
          </p:cNvPr>
          <p:cNvSpPr txBox="1"/>
          <p:nvPr/>
        </p:nvSpPr>
        <p:spPr>
          <a:xfrm>
            <a:off x="697778" y="2537011"/>
            <a:ext cx="4572000" cy="254000"/>
          </a:xfrm>
          <a:prstGeom prst="rect">
            <a:avLst/>
          </a:prstGeom>
          <a:noFill/>
        </p:spPr>
        <p:txBody>
          <a:bodyPr vert="horz" wrap="square" lIns="25400" tIns="12700" rIns="25400" bIns="12700" rtlCol="0" anchor="t">
            <a:noAutofit/>
          </a:bodyPr>
          <a:lstStyle/>
          <a:p>
            <a:r>
              <a:rPr lang="en-US" sz="1400" b="1">
                <a:solidFill>
                  <a:srgbClr val="002060"/>
                </a:solidFill>
                <a:latin typeface="Times New Roman" panose="02020603050405020304" pitchFamily="18" charset="0"/>
              </a:rPr>
              <a:t>Dữ liệu sẽ thế nào?</a:t>
            </a:r>
          </a:p>
        </p:txBody>
      </p:sp>
      <p:sp>
        <p:nvSpPr>
          <p:cNvPr id="15" name="TextBox 14">
            <a:extLst>
              <a:ext uri="{FF2B5EF4-FFF2-40B4-BE49-F238E27FC236}">
                <a16:creationId xmlns:a16="http://schemas.microsoft.com/office/drawing/2014/main" id="{5814B3B1-9109-6662-3022-9855653B12D8}"/>
              </a:ext>
            </a:extLst>
          </p:cNvPr>
          <p:cNvSpPr txBox="1"/>
          <p:nvPr/>
        </p:nvSpPr>
        <p:spPr>
          <a:xfrm>
            <a:off x="697778" y="2841811"/>
            <a:ext cx="4572000" cy="1397000"/>
          </a:xfrm>
          <a:prstGeom prst="rect">
            <a:avLst/>
          </a:prstGeom>
          <a:noFill/>
        </p:spPr>
        <p:txBody>
          <a:bodyPr vert="horz" wrap="square" lIns="25400" tIns="12700" rIns="25400" bIns="12700" rtlCol="0" anchor="t">
            <a:noAutofit/>
          </a:bodyPr>
          <a:lstStyle/>
          <a:p>
            <a:pPr marL="177800" indent="-177800">
              <a:spcAft>
                <a:spcPts val="400"/>
              </a:spcAft>
              <a:buFont typeface="+mj-lt"/>
              <a:buChar char="•"/>
            </a:pPr>
            <a:r>
              <a:rPr lang="vi-VN" sz="1300" dirty="0">
                <a:solidFill>
                  <a:srgbClr val="000000"/>
                </a:solidFill>
                <a:latin typeface="Times New Roman" panose="02020603050405020304" pitchFamily="18" charset="0"/>
              </a:rPr>
              <a:t>Mở thư mục lưu ở </a:t>
            </a:r>
            <a:r>
              <a:rPr lang="vi-VN" sz="1300" dirty="0" err="1">
                <a:solidFill>
                  <a:srgbClr val="000000"/>
                </a:solidFill>
                <a:latin typeface="Times New Roman" panose="02020603050405020304" pitchFamily="18" charset="0"/>
              </a:rPr>
              <a:t>tab</a:t>
            </a:r>
            <a:r>
              <a:rPr lang="vi-VN" sz="1300" dirty="0">
                <a:solidFill>
                  <a:srgbClr val="000000"/>
                </a:solidFill>
                <a:latin typeface="Times New Roman" panose="02020603050405020304" pitchFamily="18" charset="0"/>
              </a:rPr>
              <a:t> </a:t>
            </a:r>
            <a:r>
              <a:rPr lang="vi-VN" sz="1300" dirty="0" err="1">
                <a:solidFill>
                  <a:srgbClr val="000000"/>
                </a:solidFill>
                <a:latin typeface="Times New Roman" panose="02020603050405020304" pitchFamily="18" charset="0"/>
              </a:rPr>
              <a:t>Dataset</a:t>
            </a:r>
            <a:r>
              <a:rPr lang="vi-VN" sz="1300" dirty="0">
                <a:solidFill>
                  <a:srgbClr val="000000"/>
                </a:solidFill>
                <a:latin typeface="Times New Roman" panose="02020603050405020304" pitchFamily="18" charset="0"/>
              </a:rPr>
              <a:t> </a:t>
            </a:r>
            <a:r>
              <a:rPr lang="vi-VN" sz="1300" dirty="0" err="1">
                <a:solidFill>
                  <a:srgbClr val="000000"/>
                </a:solidFill>
                <a:latin typeface="Times New Roman" panose="02020603050405020304" pitchFamily="18" charset="0"/>
              </a:rPr>
              <a:t>Manager</a:t>
            </a:r>
            <a:r>
              <a:rPr lang="vi-VN" sz="1300" dirty="0">
                <a:solidFill>
                  <a:srgbClr val="000000"/>
                </a:solidFill>
                <a:latin typeface="Times New Roman" panose="02020603050405020304" pitchFamily="18" charset="0"/>
              </a:rPr>
              <a:t> với </a:t>
            </a:r>
            <a:r>
              <a:rPr lang="vi-VN" sz="1300" dirty="0" err="1">
                <a:solidFill>
                  <a:srgbClr val="000000"/>
                </a:solidFill>
                <a:latin typeface="Times New Roman" panose="02020603050405020304" pitchFamily="18" charset="0"/>
              </a:rPr>
              <a:t>schema</a:t>
            </a:r>
            <a:r>
              <a:rPr lang="vi-VN" sz="1300" dirty="0">
                <a:solidFill>
                  <a:srgbClr val="000000"/>
                </a:solidFill>
                <a:latin typeface="Times New Roman" panose="02020603050405020304" pitchFamily="18" charset="0"/>
              </a:rPr>
              <a:t> trên: mỗi mẫu là một hàng</a:t>
            </a:r>
          </a:p>
          <a:p>
            <a:pPr marL="177800" indent="-177800">
              <a:spcAft>
                <a:spcPts val="400"/>
              </a:spcAft>
              <a:buFont typeface="+mj-lt"/>
              <a:buChar char="•"/>
            </a:pPr>
            <a:r>
              <a:rPr lang="vi-VN" sz="1300" dirty="0">
                <a:solidFill>
                  <a:srgbClr val="000000"/>
                </a:solidFill>
                <a:latin typeface="Times New Roman" panose="02020603050405020304" pitchFamily="18" charset="0"/>
              </a:rPr>
              <a:t>Có nhiều hơn 1 điều kiện: ĐK1 / ĐK2 gộp </a:t>
            </a:r>
            <a:r>
              <a:rPr lang="vi-VN" sz="1300" dirty="0" err="1">
                <a:solidFill>
                  <a:srgbClr val="000000"/>
                </a:solidFill>
                <a:latin typeface="Times New Roman" panose="02020603050405020304" pitchFamily="18" charset="0"/>
              </a:rPr>
              <a:t>block</a:t>
            </a:r>
            <a:r>
              <a:rPr lang="vi-VN" sz="1300" dirty="0">
                <a:solidFill>
                  <a:srgbClr val="000000"/>
                </a:solidFill>
                <a:latin typeface="Times New Roman" panose="02020603050405020304" pitchFamily="18" charset="0"/>
              </a:rPr>
              <a:t> nằm cạnh nhau</a:t>
            </a:r>
            <a:endParaRPr lang="en-US" sz="1300" dirty="0">
              <a:solidFill>
                <a:srgbClr val="000000"/>
              </a:solidFill>
              <a:latin typeface="Times New Roman" panose="02020603050405020304" pitchFamily="18" charset="0"/>
            </a:endParaRPr>
          </a:p>
        </p:txBody>
      </p:sp>
      <p:pic>
        <p:nvPicPr>
          <p:cNvPr id="17" name="Picture 16">
            <a:extLst>
              <a:ext uri="{FF2B5EF4-FFF2-40B4-BE49-F238E27FC236}">
                <a16:creationId xmlns:a16="http://schemas.microsoft.com/office/drawing/2014/main" id="{0EB50F58-8769-04D1-2118-8D8CF89AACB5}"/>
              </a:ext>
            </a:extLst>
          </p:cNvPr>
          <p:cNvPicPr>
            <a:picLocks/>
          </p:cNvPicPr>
          <p:nvPr/>
        </p:nvPicPr>
        <p:blipFill>
          <a:blip r:embed="rId3">
            <a:extLst>
              <a:ext uri="{28A0092B-C50C-407E-A947-70E740481C1C}">
                <a14:useLocalDpi xmlns:a14="http://schemas.microsoft.com/office/drawing/2010/main" val="0"/>
              </a:ext>
            </a:extLst>
          </a:blip>
          <a:srcRect r="23154"/>
          <a:stretch>
            <a:fillRect/>
          </a:stretch>
        </p:blipFill>
        <p:spPr>
          <a:xfrm>
            <a:off x="558321" y="3886201"/>
            <a:ext cx="11214575" cy="1529978"/>
          </a:xfrm>
          <a:prstGeom prst="rect">
            <a:avLst/>
          </a:prstGeom>
          <a:ln w="9525">
            <a:solidFill>
              <a:srgbClr val="BFBFBF"/>
            </a:solidFill>
          </a:ln>
        </p:spPr>
      </p:pic>
    </p:spTree>
    <p:extLst>
      <p:ext uri="{BB962C8B-B14F-4D97-AF65-F5344CB8AC3E}">
        <p14:creationId xmlns:p14="http://schemas.microsoft.com/office/powerpoint/2010/main" val="4230771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5C865DE-F86A-BE04-446D-E87DFE918B9B}"/>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3.3. Cách 2 – Dùng thư mục ảnh có sẵn: quy tắc</a:t>
            </a:r>
            <a:endParaRPr lang="en-US" sz="1600" b="1">
              <a:solidFill>
                <a:srgbClr val="002060"/>
              </a:solidFill>
              <a:latin typeface="Times New Roman" panose="02020603050405020304" pitchFamily="18" charset="0"/>
            </a:endParaRPr>
          </a:p>
        </p:txBody>
      </p:sp>
      <p:sp>
        <p:nvSpPr>
          <p:cNvPr id="3" name="TextBox 2">
            <a:extLst>
              <a:ext uri="{FF2B5EF4-FFF2-40B4-BE49-F238E27FC236}">
                <a16:creationId xmlns:a16="http://schemas.microsoft.com/office/drawing/2014/main" id="{A755F482-B12B-8B4D-7AEC-352122BC5CA6}"/>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vi-VN" sz="1400" i="1" dirty="0">
                <a:solidFill>
                  <a:srgbClr val="000000"/>
                </a:solidFill>
                <a:latin typeface="Times New Roman" panose="02020603050405020304" pitchFamily="18" charset="0"/>
              </a:rPr>
              <a:t>Tên </a:t>
            </a:r>
            <a:r>
              <a:rPr lang="vi-VN" sz="1400" i="1" dirty="0" err="1">
                <a:solidFill>
                  <a:srgbClr val="000000"/>
                </a:solidFill>
                <a:latin typeface="Times New Roman" panose="02020603050405020304" pitchFamily="18" charset="0"/>
              </a:rPr>
              <a:t>file</a:t>
            </a:r>
            <a:r>
              <a:rPr lang="vi-VN" sz="1400" i="1" dirty="0">
                <a:solidFill>
                  <a:srgbClr val="000000"/>
                </a:solidFill>
                <a:latin typeface="Times New Roman" panose="02020603050405020304" pitchFamily="18" charset="0"/>
              </a:rPr>
              <a:t> / thư mục phải theo một quy tắc thống nhất để phần mềm đọc được và ghép đúng </a:t>
            </a:r>
            <a:r>
              <a:rPr lang="vi-VN" sz="1400" i="1" dirty="0" err="1">
                <a:solidFill>
                  <a:srgbClr val="000000"/>
                </a:solidFill>
                <a:latin typeface="Times New Roman" panose="02020603050405020304" pitchFamily="18" charset="0"/>
              </a:rPr>
              <a:t>Raw</a:t>
            </a:r>
            <a:r>
              <a:rPr lang="vi-VN" sz="1400" i="1" dirty="0">
                <a:solidFill>
                  <a:srgbClr val="000000"/>
                </a:solidFill>
                <a:latin typeface="Times New Roman" panose="02020603050405020304" pitchFamily="18" charset="0"/>
              </a:rPr>
              <a:t> – </a:t>
            </a:r>
            <a:r>
              <a:rPr lang="vi-VN" sz="1400" i="1" dirty="0" err="1">
                <a:solidFill>
                  <a:srgbClr val="000000"/>
                </a:solidFill>
                <a:latin typeface="Times New Roman" panose="02020603050405020304" pitchFamily="18" charset="0"/>
              </a:rPr>
              <a:t>Mask</a:t>
            </a:r>
            <a:r>
              <a:rPr lang="vi-VN" sz="1400" i="1" dirty="0">
                <a:solidFill>
                  <a:srgbClr val="000000"/>
                </a:solidFill>
                <a:latin typeface="Times New Roman" panose="02020603050405020304" pitchFamily="18" charset="0"/>
              </a:rPr>
              <a:t> – ĐK.</a:t>
            </a:r>
            <a:endParaRPr lang="en-US" sz="1400" i="1" dirty="0">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B0C5394D-FE22-C136-E011-92246279E3B1}"/>
              </a:ext>
            </a:extLst>
          </p:cNvPr>
          <p:cNvSpPr txBox="1"/>
          <p:nvPr/>
        </p:nvSpPr>
        <p:spPr>
          <a:xfrm>
            <a:off x="698500" y="1701800"/>
            <a:ext cx="5207000" cy="254000"/>
          </a:xfrm>
          <a:prstGeom prst="rect">
            <a:avLst/>
          </a:prstGeom>
          <a:noFill/>
        </p:spPr>
        <p:txBody>
          <a:bodyPr vert="horz" wrap="square" lIns="25400" tIns="12700" rIns="25400" bIns="12700" rtlCol="0" anchor="t">
            <a:noAutofit/>
          </a:bodyPr>
          <a:lstStyle/>
          <a:p>
            <a:r>
              <a:rPr lang="en-US" sz="1400" b="1">
                <a:solidFill>
                  <a:srgbClr val="002060"/>
                </a:solidFill>
                <a:latin typeface="Times New Roman" panose="02020603050405020304" pitchFamily="18" charset="0"/>
              </a:rPr>
              <a:t>Quy tắc đặt tên file</a:t>
            </a:r>
          </a:p>
        </p:txBody>
      </p:sp>
      <p:sp>
        <p:nvSpPr>
          <p:cNvPr id="10" name="TextBox 9">
            <a:extLst>
              <a:ext uri="{FF2B5EF4-FFF2-40B4-BE49-F238E27FC236}">
                <a16:creationId xmlns:a16="http://schemas.microsoft.com/office/drawing/2014/main" id="{C9A456D3-AD87-DAB9-C4E3-93CCACBED810}"/>
              </a:ext>
            </a:extLst>
          </p:cNvPr>
          <p:cNvSpPr txBox="1"/>
          <p:nvPr/>
        </p:nvSpPr>
        <p:spPr>
          <a:xfrm>
            <a:off x="698500" y="2032000"/>
            <a:ext cx="5207000" cy="3810000"/>
          </a:xfrm>
          <a:prstGeom prst="rect">
            <a:avLst/>
          </a:prstGeom>
          <a:noFill/>
        </p:spPr>
        <p:txBody>
          <a:bodyPr vert="horz" wrap="square" lIns="25400" tIns="12700" rIns="25400" bIns="12700" rtlCol="0" anchor="t">
            <a:noAutofit/>
          </a:bodyPr>
          <a:lstStyle/>
          <a:p>
            <a:pPr marL="177800" indent="-177800">
              <a:spcAft>
                <a:spcPts val="1000"/>
              </a:spcAft>
              <a:buFont typeface="+mj-lt"/>
              <a:buChar char="•"/>
            </a:pPr>
            <a:r>
              <a:rPr lang="vi-VN" sz="1400" dirty="0">
                <a:solidFill>
                  <a:srgbClr val="000000"/>
                </a:solidFill>
                <a:latin typeface="Times New Roman" panose="02020603050405020304" pitchFamily="18" charset="0"/>
              </a:rPr>
              <a:t>Các trường nối bằng dấu _; thứ tự trường giống nhau ở mọi </a:t>
            </a:r>
            <a:r>
              <a:rPr lang="vi-VN" sz="1400" dirty="0" err="1">
                <a:solidFill>
                  <a:srgbClr val="000000"/>
                </a:solidFill>
                <a:latin typeface="Times New Roman" panose="02020603050405020304" pitchFamily="18" charset="0"/>
              </a:rPr>
              <a:t>file</a:t>
            </a:r>
            <a:endParaRPr lang="vi-VN" sz="1400" dirty="0">
              <a:solidFill>
                <a:srgbClr val="000000"/>
              </a:solidFill>
              <a:latin typeface="Times New Roman" panose="02020603050405020304" pitchFamily="18" charset="0"/>
            </a:endParaRPr>
          </a:p>
          <a:p>
            <a:pPr marL="177800" indent="-177800">
              <a:spcAft>
                <a:spcPts val="1000"/>
              </a:spcAft>
              <a:buFont typeface="+mj-lt"/>
              <a:buChar char="•"/>
            </a:pPr>
            <a:r>
              <a:rPr lang="vi-VN" sz="1400" dirty="0">
                <a:solidFill>
                  <a:srgbClr val="000000"/>
                </a:solidFill>
                <a:latin typeface="Times New Roman" panose="02020603050405020304" pitchFamily="18" charset="0"/>
              </a:rPr>
              <a:t>Ảnh </a:t>
            </a:r>
            <a:r>
              <a:rPr lang="vi-VN" sz="1400" dirty="0" err="1">
                <a:solidFill>
                  <a:srgbClr val="000000"/>
                </a:solidFill>
                <a:latin typeface="Times New Roman" panose="02020603050405020304" pitchFamily="18" charset="0"/>
              </a:rPr>
              <a:t>Raw</a:t>
            </a:r>
            <a:r>
              <a:rPr lang="vi-VN" sz="1400" dirty="0">
                <a:solidFill>
                  <a:srgbClr val="000000"/>
                </a:solidFill>
                <a:latin typeface="Times New Roman" panose="02020603050405020304" pitchFamily="18" charset="0"/>
              </a:rPr>
              <a:t> và </a:t>
            </a:r>
            <a:r>
              <a:rPr lang="vi-VN" sz="1400" dirty="0" err="1">
                <a:solidFill>
                  <a:srgbClr val="000000"/>
                </a:solidFill>
                <a:latin typeface="Times New Roman" panose="02020603050405020304" pitchFamily="18" charset="0"/>
              </a:rPr>
              <a:t>Mask</a:t>
            </a:r>
            <a:r>
              <a:rPr lang="vi-VN" sz="1400" dirty="0">
                <a:solidFill>
                  <a:srgbClr val="000000"/>
                </a:solidFill>
                <a:latin typeface="Times New Roman" panose="02020603050405020304" pitchFamily="18" charset="0"/>
              </a:rPr>
              <a:t> của cùng mẫu: tên giống hệt, chỉ khác chữ </a:t>
            </a:r>
            <a:r>
              <a:rPr lang="vi-VN" sz="1400" dirty="0" err="1">
                <a:solidFill>
                  <a:srgbClr val="000000"/>
                </a:solidFill>
                <a:latin typeface="Times New Roman" panose="02020603050405020304" pitchFamily="18" charset="0"/>
              </a:rPr>
              <a:t>Raw</a:t>
            </a:r>
            <a:r>
              <a:rPr lang="vi-VN" sz="1400" dirty="0">
                <a:solidFill>
                  <a:srgbClr val="000000"/>
                </a:solidFill>
                <a:latin typeface="Times New Roman" panose="02020603050405020304" pitchFamily="18" charset="0"/>
              </a:rPr>
              <a:t> / </a:t>
            </a:r>
            <a:r>
              <a:rPr lang="vi-VN" sz="1400" dirty="0" err="1">
                <a:solidFill>
                  <a:srgbClr val="000000"/>
                </a:solidFill>
                <a:latin typeface="Times New Roman" panose="02020603050405020304" pitchFamily="18" charset="0"/>
              </a:rPr>
              <a:t>Mask</a:t>
            </a:r>
            <a:endParaRPr lang="vi-VN" sz="1400" dirty="0">
              <a:solidFill>
                <a:srgbClr val="000000"/>
              </a:solidFill>
              <a:latin typeface="Times New Roman" panose="02020603050405020304" pitchFamily="18" charset="0"/>
            </a:endParaRPr>
          </a:p>
          <a:p>
            <a:pPr marL="177800" indent="-177800">
              <a:spcAft>
                <a:spcPts val="1000"/>
              </a:spcAft>
              <a:buFont typeface="+mj-lt"/>
              <a:buChar char="•"/>
            </a:pPr>
            <a:r>
              <a:rPr lang="vi-VN" sz="1400" dirty="0">
                <a:solidFill>
                  <a:srgbClr val="000000"/>
                </a:solidFill>
                <a:latin typeface="Times New Roman" panose="02020603050405020304" pitchFamily="18" charset="0"/>
              </a:rPr>
              <a:t>Các ĐK của cùng mẫu: giống nhau, chỉ khác &lt;ĐK&gt; và &lt;Đánh giá&gt;</a:t>
            </a:r>
          </a:p>
          <a:p>
            <a:pPr marL="177800" indent="-177800">
              <a:spcAft>
                <a:spcPts val="1000"/>
              </a:spcAft>
              <a:buFont typeface="+mj-lt"/>
              <a:buChar char="•"/>
            </a:pPr>
            <a:r>
              <a:rPr lang="vi-VN" sz="1400" dirty="0">
                <a:solidFill>
                  <a:srgbClr val="000000"/>
                </a:solidFill>
                <a:latin typeface="Times New Roman" panose="02020603050405020304" pitchFamily="18" charset="0"/>
              </a:rPr>
              <a:t>Không dùng ký tự đặc biệt  \ / : * ? " &lt; &gt; |</a:t>
            </a:r>
            <a:endParaRPr lang="en-US" sz="1400" dirty="0">
              <a:solidFill>
                <a:srgbClr val="000000"/>
              </a:solidFill>
              <a:latin typeface="Times New Roman" panose="02020603050405020304" pitchFamily="18" charset="0"/>
            </a:endParaRPr>
          </a:p>
        </p:txBody>
      </p:sp>
      <p:sp>
        <p:nvSpPr>
          <p:cNvPr id="12" name="TextBox 11">
            <a:extLst>
              <a:ext uri="{FF2B5EF4-FFF2-40B4-BE49-F238E27FC236}">
                <a16:creationId xmlns:a16="http://schemas.microsoft.com/office/drawing/2014/main" id="{9236FC0E-B995-1AE8-23D7-0997A3405201}"/>
              </a:ext>
            </a:extLst>
          </p:cNvPr>
          <p:cNvSpPr txBox="1"/>
          <p:nvPr/>
        </p:nvSpPr>
        <p:spPr>
          <a:xfrm>
            <a:off x="6286500" y="1701800"/>
            <a:ext cx="5207000" cy="254000"/>
          </a:xfrm>
          <a:prstGeom prst="rect">
            <a:avLst/>
          </a:prstGeom>
          <a:noFill/>
        </p:spPr>
        <p:txBody>
          <a:bodyPr vert="horz" wrap="square" lIns="25400" tIns="12700" rIns="25400" bIns="12700" rtlCol="0" anchor="t">
            <a:noAutofit/>
          </a:bodyPr>
          <a:lstStyle/>
          <a:p>
            <a:r>
              <a:rPr lang="vi-VN" sz="1400" b="1" dirty="0">
                <a:solidFill>
                  <a:srgbClr val="002060"/>
                </a:solidFill>
                <a:latin typeface="Times New Roman" panose="02020603050405020304" pitchFamily="18" charset="0"/>
              </a:rPr>
              <a:t>Quy tắc quản lý bằng thư mục</a:t>
            </a:r>
            <a:endParaRPr lang="en-US" sz="1400" b="1" dirty="0">
              <a:solidFill>
                <a:srgbClr val="002060"/>
              </a:solidFill>
              <a:latin typeface="Times New Roman" panose="02020603050405020304" pitchFamily="18" charset="0"/>
            </a:endParaRPr>
          </a:p>
        </p:txBody>
      </p:sp>
      <p:sp>
        <p:nvSpPr>
          <p:cNvPr id="13" name="TextBox 12">
            <a:extLst>
              <a:ext uri="{FF2B5EF4-FFF2-40B4-BE49-F238E27FC236}">
                <a16:creationId xmlns:a16="http://schemas.microsoft.com/office/drawing/2014/main" id="{0822784F-7140-0026-3899-50405A9D0A20}"/>
              </a:ext>
            </a:extLst>
          </p:cNvPr>
          <p:cNvSpPr txBox="1"/>
          <p:nvPr/>
        </p:nvSpPr>
        <p:spPr>
          <a:xfrm>
            <a:off x="6286500" y="2032000"/>
            <a:ext cx="5207000" cy="3810000"/>
          </a:xfrm>
          <a:prstGeom prst="rect">
            <a:avLst/>
          </a:prstGeom>
          <a:noFill/>
        </p:spPr>
        <p:txBody>
          <a:bodyPr vert="horz" wrap="square" lIns="25400" tIns="12700" rIns="25400" bIns="12700" rtlCol="0" anchor="t">
            <a:noAutofit/>
          </a:bodyPr>
          <a:lstStyle/>
          <a:p>
            <a:pPr marL="177800" indent="-177800">
              <a:spcAft>
                <a:spcPts val="1000"/>
              </a:spcAft>
              <a:buFont typeface="+mj-lt"/>
              <a:buChar char="•"/>
            </a:pPr>
            <a:r>
              <a:rPr lang="vi-VN" sz="1400">
                <a:solidFill>
                  <a:srgbClr val="000000"/>
                </a:solidFill>
                <a:latin typeface="Times New Roman" panose="02020603050405020304" pitchFamily="18" charset="0"/>
              </a:rPr>
              <a:t>Mỗi cấp thư mục là một trường</a:t>
            </a:r>
          </a:p>
          <a:p>
            <a:pPr marL="177800" indent="-177800">
              <a:spcAft>
                <a:spcPts val="1000"/>
              </a:spcAft>
              <a:buFont typeface="+mj-lt"/>
              <a:buChar char="•"/>
            </a:pPr>
            <a:r>
              <a:rPr lang="vi-VN" sz="1400">
                <a:solidFill>
                  <a:srgbClr val="000000"/>
                </a:solidFill>
                <a:latin typeface="Times New Roman" panose="02020603050405020304" pitchFamily="18" charset="0"/>
              </a:rPr>
              <a:t>Thứ tự các cấp giống nhau ở mọi nhánh; ảnh chỉ nằm ở cấp cuối</a:t>
            </a:r>
          </a:p>
          <a:p>
            <a:pPr marL="177800" indent="-177800">
              <a:spcAft>
                <a:spcPts val="1000"/>
              </a:spcAft>
              <a:buFont typeface="+mj-lt"/>
              <a:buChar char="•"/>
            </a:pPr>
            <a:r>
              <a:rPr lang="vi-VN" sz="1400">
                <a:solidFill>
                  <a:srgbClr val="000000"/>
                </a:solidFill>
                <a:latin typeface="Times New Roman" panose="02020603050405020304" pitchFamily="18" charset="0"/>
              </a:rPr>
              <a:t>Trường đã đưa lên thư mục thì bỏ khỏi tên file</a:t>
            </a:r>
          </a:p>
          <a:p>
            <a:pPr marL="177800" indent="-177800">
              <a:spcAft>
                <a:spcPts val="1000"/>
              </a:spcAft>
              <a:buFont typeface="+mj-lt"/>
              <a:buChar char="•"/>
            </a:pPr>
            <a:r>
              <a:rPr lang="vi-VN" sz="1400">
                <a:solidFill>
                  <a:srgbClr val="000000"/>
                </a:solidFill>
                <a:latin typeface="Times New Roman" panose="02020603050405020304" pitchFamily="18" charset="0"/>
              </a:rPr>
              <a:t>Trong schema, giữa các cấp dùng dấu \ (chi tiết ở Bước 2)</a:t>
            </a:r>
            <a:endParaRPr 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154792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1C279A2-F90A-ACCF-6AD1-D05F2A71B9DD}"/>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3.3. Cách 2 – Ví dụ nên / không nên</a:t>
            </a:r>
          </a:p>
        </p:txBody>
      </p:sp>
      <p:graphicFrame>
        <p:nvGraphicFramePr>
          <p:cNvPr id="3" name="Table 2">
            <a:extLst>
              <a:ext uri="{FF2B5EF4-FFF2-40B4-BE49-F238E27FC236}">
                <a16:creationId xmlns:a16="http://schemas.microsoft.com/office/drawing/2014/main" id="{8305EF7B-CFE3-0BEE-2411-4D074BA61C09}"/>
              </a:ext>
            </a:extLst>
          </p:cNvPr>
          <p:cNvGraphicFramePr>
            <a:graphicFrameLocks noGrp="1"/>
          </p:cNvGraphicFramePr>
          <p:nvPr>
            <p:extLst>
              <p:ext uri="{D42A27DB-BD31-4B8C-83A1-F6EECF244321}">
                <p14:modId xmlns:p14="http://schemas.microsoft.com/office/powerpoint/2010/main" val="3191617649"/>
              </p:ext>
            </p:extLst>
          </p:nvPr>
        </p:nvGraphicFramePr>
        <p:xfrm>
          <a:off x="698500" y="1397000"/>
          <a:ext cx="10795000" cy="2616200"/>
        </p:xfrm>
        <a:graphic>
          <a:graphicData uri="http://schemas.openxmlformats.org/drawingml/2006/table">
            <a:tbl>
              <a:tblPr firstRow="1" bandRow="1">
                <a:tableStyleId>{5940675A-B579-460E-94D1-54222C63F5DA}</a:tableStyleId>
              </a:tblPr>
              <a:tblGrid>
                <a:gridCol w="3810000">
                  <a:extLst>
                    <a:ext uri="{9D8B030D-6E8A-4147-A177-3AD203B41FA5}">
                      <a16:colId xmlns:a16="http://schemas.microsoft.com/office/drawing/2014/main" val="1463543689"/>
                    </a:ext>
                  </a:extLst>
                </a:gridCol>
                <a:gridCol w="3810000">
                  <a:extLst>
                    <a:ext uri="{9D8B030D-6E8A-4147-A177-3AD203B41FA5}">
                      <a16:colId xmlns:a16="http://schemas.microsoft.com/office/drawing/2014/main" val="1621664567"/>
                    </a:ext>
                  </a:extLst>
                </a:gridCol>
                <a:gridCol w="3175000">
                  <a:extLst>
                    <a:ext uri="{9D8B030D-6E8A-4147-A177-3AD203B41FA5}">
                      <a16:colId xmlns:a16="http://schemas.microsoft.com/office/drawing/2014/main" val="2063397026"/>
                    </a:ext>
                  </a:extLst>
                </a:gridCol>
              </a:tblGrid>
              <a:tr h="330200">
                <a:tc>
                  <a:txBody>
                    <a:bodyPr/>
                    <a:lstStyle/>
                    <a:p>
                      <a:pPr marL="0" indent="0" algn="ctr">
                        <a:spcBef>
                          <a:spcPts val="0"/>
                        </a:spcBef>
                        <a:spcAft>
                          <a:spcPts val="0"/>
                        </a:spcAft>
                        <a:buFontTx/>
                        <a:buNone/>
                      </a:pPr>
                      <a:r>
                        <a:rPr lang="en-US" sz="1300" b="1" i="0">
                          <a:solidFill>
                            <a:srgbClr val="FFFFFF"/>
                          </a:solidFill>
                          <a:latin typeface="Times New Roman" panose="02020603050405020304" pitchFamily="18" charset="0"/>
                        </a:rPr>
                        <a:t>Nên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300" b="1" i="0">
                          <a:solidFill>
                            <a:srgbClr val="FFFFFF"/>
                          </a:solidFill>
                          <a:latin typeface="Times New Roman" panose="02020603050405020304" pitchFamily="18" charset="0"/>
                        </a:rPr>
                        <a:t>Không nên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300" b="1" i="0">
                          <a:solidFill>
                            <a:srgbClr val="FFFFFF"/>
                          </a:solidFill>
                          <a:latin typeface="Times New Roman" panose="02020603050405020304" pitchFamily="18" charset="0"/>
                        </a:rPr>
                        <a:t>Lý do</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1145047587"/>
                  </a:ext>
                </a:extLst>
              </a:tr>
              <a:tr h="762000">
                <a:tc>
                  <a:txBody>
                    <a:bodyPr/>
                    <a:lstStyle/>
                    <a:p>
                      <a:pPr marL="0" indent="0" algn="l">
                        <a:spcBef>
                          <a:spcPts val="0"/>
                        </a:spcBef>
                        <a:spcAft>
                          <a:spcPts val="0"/>
                        </a:spcAft>
                        <a:buFontTx/>
                        <a:buNone/>
                      </a:pPr>
                      <a:r>
                        <a:rPr lang="en-US" sz="1300" b="0" i="0">
                          <a:solidFill>
                            <a:srgbClr val="002060"/>
                          </a:solidFill>
                          <a:latin typeface="Consolas" panose="020B0609020204030204" pitchFamily="49" charset="0"/>
                        </a:rPr>
                        <a:t>…_Sheet1_A-1_Top_</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C00000"/>
                          </a:solidFill>
                          <a:latin typeface="Consolas" panose="020B0609020204030204" pitchFamily="49" charset="0"/>
                        </a:rPr>
                        <a:t>…_Sheet1_A_1_Top_</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000000"/>
                          </a:solidFill>
                          <a:latin typeface="Times New Roman" panose="02020603050405020304" pitchFamily="18" charset="0"/>
                        </a:rPr>
                        <a:t>Thừa dấu _ trong tên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604462465"/>
                  </a:ext>
                </a:extLst>
              </a:tr>
              <a:tr h="762000">
                <a:tc>
                  <a:txBody>
                    <a:bodyPr/>
                    <a:lstStyle/>
                    <a:p>
                      <a:pPr marL="0" indent="0" algn="l">
                        <a:spcBef>
                          <a:spcPts val="0"/>
                        </a:spcBef>
                        <a:spcAft>
                          <a:spcPts val="0"/>
                        </a:spcAft>
                        <a:buFontTx/>
                        <a:buNone/>
                      </a:pPr>
                      <a:r>
                        <a:rPr lang="vi-VN" sz="1300" b="0" i="0">
                          <a:solidFill>
                            <a:srgbClr val="002060"/>
                          </a:solidFill>
                          <a:latin typeface="Consolas" panose="020B0609020204030204" pitchFamily="49" charset="0"/>
                        </a:rPr>
                        <a:t>…_Xước_NG_Raw_1.jpg</a:t>
                      </a:r>
                      <a:br>
                        <a:rPr lang="vi-VN" sz="1300" b="0" i="0">
                          <a:solidFill>
                            <a:srgbClr val="002060"/>
                          </a:solidFill>
                          <a:latin typeface="Consolas" panose="020B0609020204030204" pitchFamily="49" charset="0"/>
                        </a:rPr>
                      </a:br>
                      <a:r>
                        <a:rPr lang="vi-VN" sz="1300" b="0" i="0">
                          <a:solidFill>
                            <a:srgbClr val="002060"/>
                          </a:solidFill>
                          <a:latin typeface="Consolas" panose="020B0609020204030204" pitchFamily="49" charset="0"/>
                        </a:rPr>
                        <a:t>…_Xước_NG_Mask_1.jpg</a:t>
                      </a:r>
                      <a:endParaRPr lang="en-US" sz="1300" b="0" i="0">
                        <a:solidFill>
                          <a:srgbClr val="002060"/>
                        </a:solidFill>
                        <a:latin typeface="Consolas" panose="020B0609020204030204" pitchFamily="49"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300" b="0" i="0">
                          <a:solidFill>
                            <a:srgbClr val="C00000"/>
                          </a:solidFill>
                          <a:latin typeface="Consolas" panose="020B0609020204030204" pitchFamily="49" charset="0"/>
                        </a:rPr>
                        <a:t>…_Xước_NG_Raw_1</a:t>
                      </a:r>
                      <a:br>
                        <a:rPr lang="vi-VN" sz="1300" b="0" i="0">
                          <a:solidFill>
                            <a:srgbClr val="C00000"/>
                          </a:solidFill>
                          <a:latin typeface="Consolas" panose="020B0609020204030204" pitchFamily="49" charset="0"/>
                        </a:rPr>
                      </a:br>
                      <a:r>
                        <a:rPr lang="vi-VN" sz="1300" b="0" i="0">
                          <a:solidFill>
                            <a:srgbClr val="C00000"/>
                          </a:solidFill>
                          <a:latin typeface="Consolas" panose="020B0609020204030204" pitchFamily="49" charset="0"/>
                        </a:rPr>
                        <a:t>…_Xuoc_NG_Mask_1</a:t>
                      </a:r>
                      <a:endParaRPr lang="en-US" sz="1300" b="0" i="0">
                        <a:solidFill>
                          <a:srgbClr val="C00000"/>
                        </a:solidFill>
                        <a:latin typeface="Consolas" panose="020B0609020204030204" pitchFamily="49"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000000"/>
                          </a:solidFill>
                          <a:latin typeface="Times New Roman" panose="02020603050405020304" pitchFamily="18" charset="0"/>
                        </a:rPr>
                        <a:t>Tên lỗi của 1 cặp ảnh Raw | Mask khác nhau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931296032"/>
                  </a:ext>
                </a:extLst>
              </a:tr>
              <a:tr h="762000">
                <a:tc>
                  <a:txBody>
                    <a:bodyPr/>
                    <a:lstStyle/>
                    <a:p>
                      <a:pPr marL="0" indent="0" algn="l">
                        <a:spcBef>
                          <a:spcPts val="0"/>
                        </a:spcBef>
                        <a:spcAft>
                          <a:spcPts val="0"/>
                        </a:spcAft>
                        <a:buFontTx/>
                        <a:buNone/>
                      </a:pPr>
                      <a:r>
                        <a:rPr lang="en-US" sz="1300" b="0" i="0">
                          <a:solidFill>
                            <a:srgbClr val="002060"/>
                          </a:solidFill>
                          <a:latin typeface="Consolas" panose="020B0609020204030204" pitchFamily="49" charset="0"/>
                        </a:rPr>
                        <a:t>…_NG_Raw_…</a:t>
                      </a:r>
                      <a:br>
                        <a:rPr lang="en-US" sz="1300" b="0" i="0">
                          <a:solidFill>
                            <a:srgbClr val="002060"/>
                          </a:solidFill>
                          <a:latin typeface="Consolas" panose="020B0609020204030204" pitchFamily="49" charset="0"/>
                        </a:rPr>
                      </a:br>
                      <a:r>
                        <a:rPr lang="en-US" sz="1300" b="0" i="0">
                          <a:solidFill>
                            <a:srgbClr val="002060"/>
                          </a:solidFill>
                          <a:latin typeface="Consolas" panose="020B0609020204030204" pitchFamily="49" charset="0"/>
                        </a:rPr>
                        <a:t>…_OK_Mask_…</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C00000"/>
                          </a:solidFill>
                          <a:latin typeface="Consolas" panose="020B0609020204030204" pitchFamily="49" charset="0"/>
                        </a:rPr>
                        <a:t>…_KhongDat_AnhGoc_…</a:t>
                      </a:r>
                      <a:br>
                        <a:rPr lang="en-US" sz="1300" b="0" i="0">
                          <a:solidFill>
                            <a:srgbClr val="C00000"/>
                          </a:solidFill>
                          <a:latin typeface="Consolas" panose="020B0609020204030204" pitchFamily="49" charset="0"/>
                        </a:rPr>
                      </a:br>
                      <a:r>
                        <a:rPr lang="en-US" sz="1300" b="0" i="0">
                          <a:solidFill>
                            <a:srgbClr val="C00000"/>
                          </a:solidFill>
                          <a:latin typeface="Consolas" panose="020B0609020204030204" pitchFamily="49" charset="0"/>
                        </a:rPr>
                        <a:t>…_OK_Mask_…</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000000"/>
                          </a:solidFill>
                          <a:latin typeface="Times New Roman" panose="02020603050405020304" pitchFamily="18" charset="0"/>
                        </a:rPr>
                        <a:t>Sai từ khoá</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107754564"/>
                  </a:ext>
                </a:extLst>
              </a:tr>
            </a:tbl>
          </a:graphicData>
        </a:graphic>
      </p:graphicFrame>
    </p:spTree>
    <p:extLst>
      <p:ext uri="{BB962C8B-B14F-4D97-AF65-F5344CB8AC3E}">
        <p14:creationId xmlns:p14="http://schemas.microsoft.com/office/powerpoint/2010/main" val="2519545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7D79179-1361-10F3-CC2C-26BC33C0BFD7}"/>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4. Bước 2 – Nhập Schema cấu trúc tập dữ liệu</a:t>
            </a:r>
            <a:endParaRPr lang="en-US" sz="1600" b="1">
              <a:solidFill>
                <a:srgbClr val="002060"/>
              </a:solidFill>
              <a:latin typeface="Times New Roman" panose="02020603050405020304" pitchFamily="18" charset="0"/>
            </a:endParaRPr>
          </a:p>
        </p:txBody>
      </p:sp>
      <p:pic>
        <p:nvPicPr>
          <p:cNvPr id="9" name="Picture 8">
            <a:extLst>
              <a:ext uri="{FF2B5EF4-FFF2-40B4-BE49-F238E27FC236}">
                <a16:creationId xmlns:a16="http://schemas.microsoft.com/office/drawing/2014/main" id="{0CDBDA68-A94C-A66E-3279-CA3688D250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270000"/>
            <a:ext cx="6604000" cy="4127500"/>
          </a:xfrm>
          <a:prstGeom prst="rect">
            <a:avLst/>
          </a:prstGeom>
          <a:ln w="9525">
            <a:solidFill>
              <a:srgbClr val="BFBFBF"/>
            </a:solidFill>
          </a:ln>
        </p:spPr>
      </p:pic>
      <p:sp>
        <p:nvSpPr>
          <p:cNvPr id="12" name="Oval 11">
            <a:extLst>
              <a:ext uri="{FF2B5EF4-FFF2-40B4-BE49-F238E27FC236}">
                <a16:creationId xmlns:a16="http://schemas.microsoft.com/office/drawing/2014/main" id="{79E34FBE-893F-3219-BBBA-89E94BEB51BA}"/>
              </a:ext>
            </a:extLst>
          </p:cNvPr>
          <p:cNvSpPr/>
          <p:nvPr/>
        </p:nvSpPr>
        <p:spPr>
          <a:xfrm>
            <a:off x="7556500" y="13335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3" name="TextBox 12">
            <a:extLst>
              <a:ext uri="{FF2B5EF4-FFF2-40B4-BE49-F238E27FC236}">
                <a16:creationId xmlns:a16="http://schemas.microsoft.com/office/drawing/2014/main" id="{34D653CE-3BD8-6697-308F-10456A4CB26A}"/>
              </a:ext>
            </a:extLst>
          </p:cNvPr>
          <p:cNvSpPr txBox="1"/>
          <p:nvPr/>
        </p:nvSpPr>
        <p:spPr>
          <a:xfrm>
            <a:off x="7912100" y="1320800"/>
            <a:ext cx="3581400" cy="267716"/>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Mở tab </a:t>
            </a:r>
            <a:r>
              <a:rPr lang="en-US" sz="1400" b="1">
                <a:solidFill>
                  <a:srgbClr val="000000"/>
                </a:solidFill>
                <a:latin typeface="Times New Roman" panose="02020603050405020304" pitchFamily="18" charset="0"/>
              </a:rPr>
              <a:t>Dataset Manager</a:t>
            </a:r>
          </a:p>
        </p:txBody>
      </p:sp>
      <p:sp>
        <p:nvSpPr>
          <p:cNvPr id="14" name="Oval 13">
            <a:extLst>
              <a:ext uri="{FF2B5EF4-FFF2-40B4-BE49-F238E27FC236}">
                <a16:creationId xmlns:a16="http://schemas.microsoft.com/office/drawing/2014/main" id="{3F58516A-7627-E8A1-5BE8-B718F7D6B099}"/>
              </a:ext>
            </a:extLst>
          </p:cNvPr>
          <p:cNvSpPr/>
          <p:nvPr/>
        </p:nvSpPr>
        <p:spPr>
          <a:xfrm>
            <a:off x="7556500" y="1804416"/>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5" name="TextBox 14">
            <a:extLst>
              <a:ext uri="{FF2B5EF4-FFF2-40B4-BE49-F238E27FC236}">
                <a16:creationId xmlns:a16="http://schemas.microsoft.com/office/drawing/2014/main" id="{C766FBF7-FADC-2A74-5506-690F3488E578}"/>
              </a:ext>
            </a:extLst>
          </p:cNvPr>
          <p:cNvSpPr txBox="1"/>
          <p:nvPr/>
        </p:nvSpPr>
        <p:spPr>
          <a:xfrm>
            <a:off x="7912100" y="1791716"/>
            <a:ext cx="3581400" cy="484632"/>
          </a:xfrm>
          <a:prstGeom prst="rect">
            <a:avLst/>
          </a:prstGeom>
          <a:noFill/>
        </p:spPr>
        <p:txBody>
          <a:bodyPr vert="horz" wrap="square" lIns="25400" tIns="12700" rIns="25400" bIns="12700" rtlCol="0" anchor="t">
            <a:noAutofit/>
          </a:bodyPr>
          <a:lstStyle/>
          <a:p>
            <a:r>
              <a:rPr lang="vi-VN" sz="1400">
                <a:solidFill>
                  <a:srgbClr val="000000"/>
                </a:solidFill>
                <a:latin typeface="Times New Roman" panose="02020603050405020304" pitchFamily="18" charset="0"/>
              </a:rPr>
              <a:t>Thư mục ảnh: bấm </a:t>
            </a:r>
            <a:r>
              <a:rPr lang="vi-VN" sz="1400" b="1">
                <a:solidFill>
                  <a:srgbClr val="000000"/>
                </a:solidFill>
                <a:latin typeface="Times New Roman" panose="02020603050405020304" pitchFamily="18" charset="0"/>
              </a:rPr>
              <a:t>Duyệt…</a:t>
            </a:r>
            <a:r>
              <a:rPr lang="vi-VN" sz="1400">
                <a:solidFill>
                  <a:srgbClr val="000000"/>
                </a:solidFill>
                <a:latin typeface="Times New Roman" panose="02020603050405020304" pitchFamily="18" charset="0"/>
              </a:rPr>
              <a:t> chọn thư mục → </a:t>
            </a:r>
            <a:r>
              <a:rPr lang="vi-VN" sz="1400" b="1">
                <a:solidFill>
                  <a:srgbClr val="000000"/>
                </a:solidFill>
                <a:latin typeface="Times New Roman" panose="02020603050405020304" pitchFamily="18" charset="0"/>
              </a:rPr>
              <a:t>Quét thư mục</a:t>
            </a:r>
            <a:endParaRPr lang="en-US" sz="1400" b="1">
              <a:solidFill>
                <a:srgbClr val="000000"/>
              </a:solidFill>
              <a:latin typeface="Times New Roman" panose="02020603050405020304" pitchFamily="18" charset="0"/>
            </a:endParaRPr>
          </a:p>
        </p:txBody>
      </p:sp>
      <p:sp>
        <p:nvSpPr>
          <p:cNvPr id="16" name="Oval 15">
            <a:extLst>
              <a:ext uri="{FF2B5EF4-FFF2-40B4-BE49-F238E27FC236}">
                <a16:creationId xmlns:a16="http://schemas.microsoft.com/office/drawing/2014/main" id="{A5CD42D9-8D34-6900-A3F2-6AB3CF2AD411}"/>
              </a:ext>
            </a:extLst>
          </p:cNvPr>
          <p:cNvSpPr/>
          <p:nvPr/>
        </p:nvSpPr>
        <p:spPr>
          <a:xfrm>
            <a:off x="7556500" y="2492248"/>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3</a:t>
            </a:r>
          </a:p>
        </p:txBody>
      </p:sp>
      <p:sp>
        <p:nvSpPr>
          <p:cNvPr id="17" name="TextBox 16">
            <a:extLst>
              <a:ext uri="{FF2B5EF4-FFF2-40B4-BE49-F238E27FC236}">
                <a16:creationId xmlns:a16="http://schemas.microsoft.com/office/drawing/2014/main" id="{8254E7FA-4F27-160A-4FD3-D4BA5ADF084A}"/>
              </a:ext>
            </a:extLst>
          </p:cNvPr>
          <p:cNvSpPr txBox="1"/>
          <p:nvPr/>
        </p:nvSpPr>
        <p:spPr>
          <a:xfrm>
            <a:off x="7912100" y="2479548"/>
            <a:ext cx="3581400" cy="267716"/>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Nhập Schema → </a:t>
            </a:r>
            <a:r>
              <a:rPr lang="en-US" sz="1400" b="1">
                <a:solidFill>
                  <a:srgbClr val="000000"/>
                </a:solidFill>
                <a:latin typeface="Times New Roman" panose="02020603050405020304" pitchFamily="18" charset="0"/>
              </a:rPr>
              <a:t>Áp dụng Schema</a:t>
            </a:r>
            <a:r>
              <a:rPr lang="en-US" sz="1400">
                <a:solidFill>
                  <a:srgbClr val="000000"/>
                </a:solidFill>
                <a:latin typeface="Times New Roman" panose="02020603050405020304" pitchFamily="18" charset="0"/>
              </a:rPr>
              <a:t> (hoặc Enter)</a:t>
            </a:r>
          </a:p>
        </p:txBody>
      </p:sp>
      <p:sp>
        <p:nvSpPr>
          <p:cNvPr id="18" name="Oval 17">
            <a:extLst>
              <a:ext uri="{FF2B5EF4-FFF2-40B4-BE49-F238E27FC236}">
                <a16:creationId xmlns:a16="http://schemas.microsoft.com/office/drawing/2014/main" id="{6CEA5809-936D-76BC-6F8C-32AC10BE5DF5}"/>
              </a:ext>
            </a:extLst>
          </p:cNvPr>
          <p:cNvSpPr/>
          <p:nvPr/>
        </p:nvSpPr>
        <p:spPr>
          <a:xfrm>
            <a:off x="7556500" y="2963164"/>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4</a:t>
            </a:r>
          </a:p>
        </p:txBody>
      </p:sp>
      <p:sp>
        <p:nvSpPr>
          <p:cNvPr id="19" name="TextBox 18">
            <a:extLst>
              <a:ext uri="{FF2B5EF4-FFF2-40B4-BE49-F238E27FC236}">
                <a16:creationId xmlns:a16="http://schemas.microsoft.com/office/drawing/2014/main" id="{175138AE-0227-8E87-DF43-F1A19910CF17}"/>
              </a:ext>
            </a:extLst>
          </p:cNvPr>
          <p:cNvSpPr txBox="1"/>
          <p:nvPr/>
        </p:nvSpPr>
        <p:spPr>
          <a:xfrm>
            <a:off x="7912100" y="2950464"/>
            <a:ext cx="3581400" cy="267716"/>
          </a:xfrm>
          <a:prstGeom prst="rect">
            <a:avLst/>
          </a:prstGeom>
          <a:noFill/>
        </p:spPr>
        <p:txBody>
          <a:bodyPr vert="horz" wrap="square" lIns="25400" tIns="12700" rIns="25400" bIns="12700" rtlCol="0" anchor="t">
            <a:noAutofit/>
          </a:bodyPr>
          <a:lstStyle/>
          <a:p>
            <a:r>
              <a:rPr lang="vi-VN" sz="1400">
                <a:solidFill>
                  <a:srgbClr val="000000"/>
                </a:solidFill>
                <a:latin typeface="Times New Roman" panose="02020603050405020304" pitchFamily="18" charset="0"/>
              </a:rPr>
              <a:t>Nút </a:t>
            </a:r>
            <a:r>
              <a:rPr lang="vi-VN" sz="1400" b="1">
                <a:solidFill>
                  <a:srgbClr val="000000"/>
                </a:solidFill>
                <a:latin typeface="Times New Roman" panose="02020603050405020304" pitchFamily="18" charset="0"/>
              </a:rPr>
              <a:t>Xuất</a:t>
            </a:r>
            <a:r>
              <a:rPr lang="vi-VN" sz="1400">
                <a:solidFill>
                  <a:srgbClr val="000000"/>
                </a:solidFill>
                <a:latin typeface="Times New Roman" panose="02020603050405020304" pitchFamily="18" charset="0"/>
              </a:rPr>
              <a:t> – dùng ở Bước 3</a:t>
            </a:r>
            <a:endParaRPr 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93537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D8BCC40-9B88-4DEF-B311-331FA8FC062C}"/>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4. Bước 2 – Quy tắc nhập Schema</a:t>
            </a:r>
            <a:endParaRPr lang="en-US" sz="1600" b="1">
              <a:solidFill>
                <a:srgbClr val="00206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8232F54B-7296-7E31-4711-37E885DAE694}"/>
              </a:ext>
            </a:extLst>
          </p:cNvPr>
          <p:cNvGraphicFramePr>
            <a:graphicFrameLocks noGrp="1"/>
          </p:cNvGraphicFramePr>
          <p:nvPr>
            <p:extLst>
              <p:ext uri="{D42A27DB-BD31-4B8C-83A1-F6EECF244321}">
                <p14:modId xmlns:p14="http://schemas.microsoft.com/office/powerpoint/2010/main" val="4288145739"/>
              </p:ext>
            </p:extLst>
          </p:nvPr>
        </p:nvGraphicFramePr>
        <p:xfrm>
          <a:off x="698500" y="1270000"/>
          <a:ext cx="10795000" cy="12446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406332252"/>
                    </a:ext>
                  </a:extLst>
                </a:gridCol>
                <a:gridCol w="9271000">
                  <a:extLst>
                    <a:ext uri="{9D8B030D-6E8A-4147-A177-3AD203B41FA5}">
                      <a16:colId xmlns:a16="http://schemas.microsoft.com/office/drawing/2014/main" val="3259714407"/>
                    </a:ext>
                  </a:extLst>
                </a:gridCol>
              </a:tblGrid>
              <a:tr h="330200">
                <a:tc>
                  <a:txBody>
                    <a:bodyPr/>
                    <a:lstStyle/>
                    <a:p>
                      <a:pPr marL="0" indent="0" algn="ctr">
                        <a:spcBef>
                          <a:spcPts val="0"/>
                        </a:spcBef>
                        <a:spcAft>
                          <a:spcPts val="0"/>
                        </a:spcAft>
                        <a:buFontTx/>
                        <a:buNone/>
                      </a:pPr>
                      <a:r>
                        <a:rPr lang="en-US" sz="1300" b="1" i="0">
                          <a:solidFill>
                            <a:srgbClr val="FFFFFF"/>
                          </a:solidFill>
                          <a:latin typeface="Times New Roman" panose="02020603050405020304" pitchFamily="18" charset="0"/>
                        </a:rPr>
                        <a:t>Ký hiệu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300" b="1" i="0">
                          <a:solidFill>
                            <a:srgbClr val="FFFFFF"/>
                          </a:solidFill>
                          <a:latin typeface="Times New Roman" panose="02020603050405020304" pitchFamily="18" charset="0"/>
                        </a:rPr>
                        <a:t>Ý nghĩa</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521917578"/>
                  </a:ext>
                </a:extLst>
              </a:tr>
              <a:tr h="304800">
                <a:tc>
                  <a:txBody>
                    <a:bodyPr/>
                    <a:lstStyle/>
                    <a:p>
                      <a:pPr marL="0" indent="0" algn="ctr">
                        <a:spcBef>
                          <a:spcPts val="0"/>
                        </a:spcBef>
                        <a:spcAft>
                          <a:spcPts val="0"/>
                        </a:spcAft>
                        <a:buFontTx/>
                        <a:buNone/>
                      </a:pPr>
                      <a:r>
                        <a:rPr lang="en-US" sz="1300" b="0" i="0">
                          <a:solidFill>
                            <a:srgbClr val="002060"/>
                          </a:solidFill>
                          <a:latin typeface="Consolas" panose="020B0609020204030204" pitchFamily="49" charset="0"/>
                        </a:rPr>
                        <a:t>&lt; &gt;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300" b="0" i="0">
                          <a:solidFill>
                            <a:srgbClr val="000000"/>
                          </a:solidFill>
                          <a:latin typeface="Times New Roman" panose="02020603050405020304" pitchFamily="18" charset="0"/>
                        </a:rPr>
                        <a:t>Mỗi trường đặt trong &lt; &gt;</a:t>
                      </a:r>
                      <a:endParaRPr lang="en-US" sz="13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059724139"/>
                  </a:ext>
                </a:extLst>
              </a:tr>
              <a:tr h="304800">
                <a:tc>
                  <a:txBody>
                    <a:bodyPr/>
                    <a:lstStyle/>
                    <a:p>
                      <a:pPr marL="0" indent="0" algn="ctr">
                        <a:spcBef>
                          <a:spcPts val="0"/>
                        </a:spcBef>
                        <a:spcAft>
                          <a:spcPts val="0"/>
                        </a:spcAft>
                        <a:buFontTx/>
                        <a:buNone/>
                      </a:pPr>
                      <a:r>
                        <a:rPr lang="en-US" sz="1300" b="0" i="0">
                          <a:solidFill>
                            <a:srgbClr val="002060"/>
                          </a:solidFill>
                          <a:latin typeface="Consolas" panose="020B0609020204030204" pitchFamily="49" charset="0"/>
                        </a:rPr>
                        <a: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000000"/>
                          </a:solidFill>
                          <a:latin typeface="Times New Roman" panose="02020603050405020304" pitchFamily="18" charset="0"/>
                        </a:rPr>
                        <a:t>Phân loại theo cấp folder</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506326370"/>
                  </a:ext>
                </a:extLst>
              </a:tr>
              <a:tr h="304800">
                <a:tc>
                  <a:txBody>
                    <a:bodyPr/>
                    <a:lstStyle/>
                    <a:p>
                      <a:pPr marL="0" indent="0" algn="ctr">
                        <a:spcBef>
                          <a:spcPts val="0"/>
                        </a:spcBef>
                        <a:spcAft>
                          <a:spcPts val="0"/>
                        </a:spcAft>
                        <a:buFontTx/>
                        <a:buNone/>
                      </a:pPr>
                      <a:r>
                        <a:rPr lang="en-US" sz="1300" b="0" i="0">
                          <a:solidFill>
                            <a:srgbClr val="002060"/>
                          </a:solidFill>
                          <a:latin typeface="Consolas" panose="020B0609020204030204" pitchFamily="49" charset="0"/>
                        </a:rPr>
                        <a:t>_</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300" b="0" i="0">
                          <a:solidFill>
                            <a:srgbClr val="000000"/>
                          </a:solidFill>
                          <a:latin typeface="Times New Roman" panose="02020603050405020304" pitchFamily="18" charset="0"/>
                        </a:rPr>
                        <a:t>Phân loại theo tên file</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395593660"/>
                  </a:ext>
                </a:extLst>
              </a:tr>
            </a:tbl>
          </a:graphicData>
        </a:graphic>
      </p:graphicFrame>
      <p:sp>
        <p:nvSpPr>
          <p:cNvPr id="9" name="TextBox 8">
            <a:extLst>
              <a:ext uri="{FF2B5EF4-FFF2-40B4-BE49-F238E27FC236}">
                <a16:creationId xmlns:a16="http://schemas.microsoft.com/office/drawing/2014/main" id="{FBFC5F79-CB01-7798-37F0-9AAC1AFCD243}"/>
              </a:ext>
            </a:extLst>
          </p:cNvPr>
          <p:cNvSpPr txBox="1"/>
          <p:nvPr/>
        </p:nvSpPr>
        <p:spPr>
          <a:xfrm>
            <a:off x="698500" y="2590800"/>
            <a:ext cx="3810000" cy="254000"/>
          </a:xfrm>
          <a:prstGeom prst="rect">
            <a:avLst/>
          </a:prstGeom>
          <a:noFill/>
        </p:spPr>
        <p:txBody>
          <a:bodyPr vert="horz" wrap="square" lIns="25400" tIns="12700" rIns="25400" bIns="12700" rtlCol="0" anchor="t">
            <a:noAutofit/>
          </a:bodyPr>
          <a:lstStyle/>
          <a:p>
            <a:r>
              <a:rPr lang="en-US" sz="1400" b="1">
                <a:solidFill>
                  <a:srgbClr val="002060"/>
                </a:solidFill>
                <a:latin typeface="Times New Roman" panose="02020603050405020304" pitchFamily="18" charset="0"/>
              </a:rPr>
              <a:t>Ví dụ kiểu C</a:t>
            </a:r>
          </a:p>
        </p:txBody>
      </p:sp>
      <p:pic>
        <p:nvPicPr>
          <p:cNvPr id="12" name="Picture 11">
            <a:extLst>
              <a:ext uri="{FF2B5EF4-FFF2-40B4-BE49-F238E27FC236}">
                <a16:creationId xmlns:a16="http://schemas.microsoft.com/office/drawing/2014/main" id="{5D87A3B5-8B84-2C83-FA3E-9E2BB162F53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2895600"/>
            <a:ext cx="7112000" cy="1288143"/>
          </a:xfrm>
          <a:prstGeom prst="rect">
            <a:avLst/>
          </a:prstGeom>
          <a:ln w="9525">
            <a:solidFill>
              <a:srgbClr val="BFBFBF"/>
            </a:solidFill>
          </a:ln>
        </p:spPr>
      </p:pic>
      <p:sp>
        <p:nvSpPr>
          <p:cNvPr id="13" name="TextBox 12">
            <a:extLst>
              <a:ext uri="{FF2B5EF4-FFF2-40B4-BE49-F238E27FC236}">
                <a16:creationId xmlns:a16="http://schemas.microsoft.com/office/drawing/2014/main" id="{F6AD17E8-6634-46BF-D96B-EA96A527891C}"/>
              </a:ext>
            </a:extLst>
          </p:cNvPr>
          <p:cNvSpPr txBox="1"/>
          <p:nvPr/>
        </p:nvSpPr>
        <p:spPr>
          <a:xfrm>
            <a:off x="698500" y="4209143"/>
            <a:ext cx="7112000" cy="203200"/>
          </a:xfrm>
          <a:prstGeom prst="rect">
            <a:avLst/>
          </a:prstGeom>
          <a:noFill/>
        </p:spPr>
        <p:txBody>
          <a:bodyPr vert="horz" wrap="square" lIns="25400" tIns="12700" rIns="25400" bIns="12700" rtlCol="0" anchor="t">
            <a:noAutofit/>
          </a:bodyPr>
          <a:lstStyle/>
          <a:p>
            <a:r>
              <a:rPr lang="en-US" sz="1100" i="1" dirty="0" err="1">
                <a:solidFill>
                  <a:srgbClr val="595959"/>
                </a:solidFill>
                <a:latin typeface="Times New Roman" panose="02020603050405020304" pitchFamily="18" charset="0"/>
              </a:rPr>
              <a:t>Ví</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dụ</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kiểu</a:t>
            </a:r>
            <a:r>
              <a:rPr lang="en-US" sz="1100" i="1" dirty="0">
                <a:solidFill>
                  <a:srgbClr val="595959"/>
                </a:solidFill>
                <a:latin typeface="Times New Roman" panose="02020603050405020304" pitchFamily="18" charset="0"/>
              </a:rPr>
              <a:t> C</a:t>
            </a:r>
          </a:p>
        </p:txBody>
      </p:sp>
      <p:sp>
        <p:nvSpPr>
          <p:cNvPr id="14" name="Oval 13">
            <a:extLst>
              <a:ext uri="{FF2B5EF4-FFF2-40B4-BE49-F238E27FC236}">
                <a16:creationId xmlns:a16="http://schemas.microsoft.com/office/drawing/2014/main" id="{6C4BE928-63EC-CD2B-CDEA-4FC9B37C4082}"/>
              </a:ext>
            </a:extLst>
          </p:cNvPr>
          <p:cNvSpPr/>
          <p:nvPr/>
        </p:nvSpPr>
        <p:spPr>
          <a:xfrm>
            <a:off x="8064500" y="29083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5" name="TextBox 14">
            <a:extLst>
              <a:ext uri="{FF2B5EF4-FFF2-40B4-BE49-F238E27FC236}">
                <a16:creationId xmlns:a16="http://schemas.microsoft.com/office/drawing/2014/main" id="{B1DFC09B-B619-6AB5-AB55-AA78F373A309}"/>
              </a:ext>
            </a:extLst>
          </p:cNvPr>
          <p:cNvSpPr txBox="1"/>
          <p:nvPr/>
        </p:nvSpPr>
        <p:spPr>
          <a:xfrm>
            <a:off x="8420100" y="2895600"/>
            <a:ext cx="3073400" cy="453644"/>
          </a:xfrm>
          <a:prstGeom prst="rect">
            <a:avLst/>
          </a:prstGeom>
          <a:noFill/>
        </p:spPr>
        <p:txBody>
          <a:bodyPr vert="horz" wrap="square" lIns="25400" tIns="12700" rIns="25400" bIns="12700" rtlCol="0" anchor="t">
            <a:noAutofit/>
          </a:bodyPr>
          <a:lstStyle/>
          <a:p>
            <a:r>
              <a:rPr lang="en-US" sz="1300" b="1">
                <a:solidFill>
                  <a:srgbClr val="000000"/>
                </a:solidFill>
                <a:latin typeface="Times New Roman" panose="02020603050405020304" pitchFamily="18" charset="0"/>
              </a:rPr>
              <a:t>Nhập ô schema</a:t>
            </a:r>
            <a:r>
              <a:rPr lang="en-US" sz="1300">
                <a:solidFill>
                  <a:srgbClr val="000000"/>
                </a:solidFill>
                <a:latin typeface="Times New Roman" panose="02020603050405020304" pitchFamily="18" charset="0"/>
              </a:rPr>
              <a:t> (nút 🕘 mở lại các schema đã dùng)</a:t>
            </a:r>
          </a:p>
        </p:txBody>
      </p:sp>
      <p:sp>
        <p:nvSpPr>
          <p:cNvPr id="16" name="Oval 15">
            <a:extLst>
              <a:ext uri="{FF2B5EF4-FFF2-40B4-BE49-F238E27FC236}">
                <a16:creationId xmlns:a16="http://schemas.microsoft.com/office/drawing/2014/main" id="{BE94EAC7-E8C9-C939-C1F3-F4ED02D3BC42}"/>
              </a:ext>
            </a:extLst>
          </p:cNvPr>
          <p:cNvSpPr/>
          <p:nvPr/>
        </p:nvSpPr>
        <p:spPr>
          <a:xfrm>
            <a:off x="8064500" y="3463544"/>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7" name="TextBox 16">
            <a:extLst>
              <a:ext uri="{FF2B5EF4-FFF2-40B4-BE49-F238E27FC236}">
                <a16:creationId xmlns:a16="http://schemas.microsoft.com/office/drawing/2014/main" id="{70F1BC4E-5BFF-AABF-10A6-D29EB5CEAA38}"/>
              </a:ext>
            </a:extLst>
          </p:cNvPr>
          <p:cNvSpPr txBox="1"/>
          <p:nvPr/>
        </p:nvSpPr>
        <p:spPr>
          <a:xfrm>
            <a:off x="8420100" y="3450844"/>
            <a:ext cx="3073400" cy="254000"/>
          </a:xfrm>
          <a:prstGeom prst="rect">
            <a:avLst/>
          </a:prstGeom>
          <a:noFill/>
        </p:spPr>
        <p:txBody>
          <a:bodyPr vert="horz" wrap="square" lIns="25400" tIns="12700" rIns="25400" bIns="12700" rtlCol="0" anchor="t">
            <a:noAutofit/>
          </a:bodyPr>
          <a:lstStyle/>
          <a:p>
            <a:r>
              <a:rPr lang="en-US" sz="1300" b="1">
                <a:solidFill>
                  <a:srgbClr val="000000"/>
                </a:solidFill>
                <a:latin typeface="Times New Roman" panose="02020603050405020304" pitchFamily="18" charset="0"/>
              </a:rPr>
              <a:t>Áp dụng Schema</a:t>
            </a:r>
          </a:p>
        </p:txBody>
      </p:sp>
      <p:sp>
        <p:nvSpPr>
          <p:cNvPr id="18" name="Oval 17">
            <a:extLst>
              <a:ext uri="{FF2B5EF4-FFF2-40B4-BE49-F238E27FC236}">
                <a16:creationId xmlns:a16="http://schemas.microsoft.com/office/drawing/2014/main" id="{AEA4E6B4-231E-4EF3-EE7A-B8B87CFF99D5}"/>
              </a:ext>
            </a:extLst>
          </p:cNvPr>
          <p:cNvSpPr/>
          <p:nvPr/>
        </p:nvSpPr>
        <p:spPr>
          <a:xfrm>
            <a:off x="8064500" y="3819144"/>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3</a:t>
            </a:r>
          </a:p>
        </p:txBody>
      </p:sp>
      <p:sp>
        <p:nvSpPr>
          <p:cNvPr id="19" name="TextBox 18">
            <a:extLst>
              <a:ext uri="{FF2B5EF4-FFF2-40B4-BE49-F238E27FC236}">
                <a16:creationId xmlns:a16="http://schemas.microsoft.com/office/drawing/2014/main" id="{8C53C16B-7AB9-DDD1-BBA1-4FE173D20BCF}"/>
              </a:ext>
            </a:extLst>
          </p:cNvPr>
          <p:cNvSpPr txBox="1"/>
          <p:nvPr/>
        </p:nvSpPr>
        <p:spPr>
          <a:xfrm>
            <a:off x="8420100" y="3806444"/>
            <a:ext cx="3073400" cy="655066"/>
          </a:xfrm>
          <a:prstGeom prst="rect">
            <a:avLst/>
          </a:prstGeom>
          <a:noFill/>
        </p:spPr>
        <p:txBody>
          <a:bodyPr vert="horz" wrap="square" lIns="25400" tIns="12700" rIns="25400" bIns="12700" rtlCol="0" anchor="t">
            <a:noAutofit/>
          </a:bodyPr>
          <a:lstStyle/>
          <a:p>
            <a:r>
              <a:rPr lang="en-US" sz="1300" b="1">
                <a:solidFill>
                  <a:srgbClr val="000000"/>
                </a:solidFill>
                <a:latin typeface="Times New Roman" panose="02020603050405020304" pitchFamily="18" charset="0"/>
              </a:rPr>
              <a:t>Thành phần schema: </a:t>
            </a:r>
            <a:r>
              <a:rPr lang="en-US" sz="1300">
                <a:solidFill>
                  <a:srgbClr val="000000"/>
                </a:solidFill>
                <a:latin typeface="Times New Roman" panose="02020603050405020304" pitchFamily="18" charset="0"/>
              </a:rPr>
              <a:t>thể hiện cấu trúc schema hiện thời và thêm nhanh thành phần</a:t>
            </a:r>
          </a:p>
        </p:txBody>
      </p:sp>
    </p:spTree>
    <p:extLst>
      <p:ext uri="{BB962C8B-B14F-4D97-AF65-F5344CB8AC3E}">
        <p14:creationId xmlns:p14="http://schemas.microsoft.com/office/powerpoint/2010/main" val="271510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4B817DF-0341-6E08-34E5-089081380E4E}"/>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4. Bước 2 – Kiểm tra dữ liệu trước khi xuất</a:t>
            </a:r>
            <a:endParaRPr lang="en-US" sz="1600" b="1">
              <a:solidFill>
                <a:srgbClr val="002060"/>
              </a:solidFill>
              <a:latin typeface="Times New Roman" panose="02020603050405020304" pitchFamily="18" charset="0"/>
            </a:endParaRPr>
          </a:p>
        </p:txBody>
      </p:sp>
      <p:sp>
        <p:nvSpPr>
          <p:cNvPr id="3" name="TextBox 2">
            <a:extLst>
              <a:ext uri="{FF2B5EF4-FFF2-40B4-BE49-F238E27FC236}">
                <a16:creationId xmlns:a16="http://schemas.microsoft.com/office/drawing/2014/main" id="{AA8BFBCB-58F1-A132-FD95-EC21061B36C9}"/>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en-US" sz="1400" b="1">
                <a:solidFill>
                  <a:srgbClr val="00863D"/>
                </a:solidFill>
                <a:latin typeface="Times New Roman" panose="02020603050405020304" pitchFamily="18" charset="0"/>
              </a:rPr>
              <a:t>✓ Dữ liệu chuẩn – </a:t>
            </a:r>
            <a:r>
              <a:rPr lang="en-US" sz="1400">
                <a:solidFill>
                  <a:srgbClr val="000000"/>
                </a:solidFill>
                <a:latin typeface="Times New Roman" panose="02020603050405020304" pitchFamily="18" charset="0"/>
              </a:rPr>
              <a:t>Lỗi schema: 0, Raw = Mask, không có vấn đề dữ liệu</a:t>
            </a:r>
          </a:p>
        </p:txBody>
      </p:sp>
      <p:pic>
        <p:nvPicPr>
          <p:cNvPr id="10" name="Picture 9">
            <a:extLst>
              <a:ext uri="{FF2B5EF4-FFF2-40B4-BE49-F238E27FC236}">
                <a16:creationId xmlns:a16="http://schemas.microsoft.com/office/drawing/2014/main" id="{5FC115A8-F8FD-3F3A-6EEE-130C063D2D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93694" y="1574800"/>
            <a:ext cx="10004612" cy="1143000"/>
          </a:xfrm>
          <a:prstGeom prst="rect">
            <a:avLst/>
          </a:prstGeom>
          <a:ln w="9525">
            <a:solidFill>
              <a:srgbClr val="BFBFBF"/>
            </a:solidFill>
          </a:ln>
        </p:spPr>
      </p:pic>
      <p:sp>
        <p:nvSpPr>
          <p:cNvPr id="13" name="TextBox 12">
            <a:extLst>
              <a:ext uri="{FF2B5EF4-FFF2-40B4-BE49-F238E27FC236}">
                <a16:creationId xmlns:a16="http://schemas.microsoft.com/office/drawing/2014/main" id="{91B18A7E-ADE8-E0DB-1DD1-BF4FB0D2E9EA}"/>
              </a:ext>
            </a:extLst>
          </p:cNvPr>
          <p:cNvSpPr txBox="1"/>
          <p:nvPr/>
        </p:nvSpPr>
        <p:spPr>
          <a:xfrm>
            <a:off x="698500" y="3048000"/>
            <a:ext cx="10795000" cy="254000"/>
          </a:xfrm>
          <a:prstGeom prst="rect">
            <a:avLst/>
          </a:prstGeom>
          <a:noFill/>
        </p:spPr>
        <p:txBody>
          <a:bodyPr vert="horz" wrap="square" lIns="25400" tIns="12700" rIns="25400" bIns="12700" rtlCol="0" anchor="t">
            <a:noAutofit/>
          </a:bodyPr>
          <a:lstStyle/>
          <a:p>
            <a:r>
              <a:rPr lang="en-US" sz="1400" b="1">
                <a:solidFill>
                  <a:srgbClr val="C00000"/>
                </a:solidFill>
                <a:latin typeface="Times New Roman" panose="02020603050405020304" pitchFamily="18" charset="0"/>
              </a:rPr>
              <a:t>⚠ Có lỗi – </a:t>
            </a:r>
            <a:r>
              <a:rPr lang="en-US" sz="1400">
                <a:solidFill>
                  <a:srgbClr val="000000"/>
                </a:solidFill>
                <a:latin typeface="Times New Roman" panose="02020603050405020304" pitchFamily="18" charset="0"/>
              </a:rPr>
              <a:t>thanh trạng thái báo đỏ, khung Vấn đề dữ liệu liệt kê từng file (double-click để tới ảnh đang bị sai)</a:t>
            </a:r>
          </a:p>
        </p:txBody>
      </p:sp>
      <p:pic>
        <p:nvPicPr>
          <p:cNvPr id="15" name="Picture 14">
            <a:extLst>
              <a:ext uri="{FF2B5EF4-FFF2-40B4-BE49-F238E27FC236}">
                <a16:creationId xmlns:a16="http://schemas.microsoft.com/office/drawing/2014/main" id="{CB70B6F3-2F99-4FEC-9D2E-BEBB7008E55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98500" y="3391207"/>
            <a:ext cx="10795000" cy="1828186"/>
          </a:xfrm>
          <a:prstGeom prst="rect">
            <a:avLst/>
          </a:prstGeom>
          <a:ln w="9525">
            <a:solidFill>
              <a:srgbClr val="BFBFBF"/>
            </a:solidFill>
          </a:ln>
        </p:spPr>
      </p:pic>
      <p:sp>
        <p:nvSpPr>
          <p:cNvPr id="16" name="TextBox 15">
            <a:extLst>
              <a:ext uri="{FF2B5EF4-FFF2-40B4-BE49-F238E27FC236}">
                <a16:creationId xmlns:a16="http://schemas.microsoft.com/office/drawing/2014/main" id="{9B143ABE-C02F-47DD-B492-2CF3D10514AB}"/>
              </a:ext>
            </a:extLst>
          </p:cNvPr>
          <p:cNvSpPr txBox="1"/>
          <p:nvPr/>
        </p:nvSpPr>
        <p:spPr>
          <a:xfrm>
            <a:off x="698500" y="5244793"/>
            <a:ext cx="10795000" cy="203200"/>
          </a:xfrm>
          <a:prstGeom prst="rect">
            <a:avLst/>
          </a:prstGeom>
          <a:noFill/>
        </p:spPr>
        <p:txBody>
          <a:bodyPr vert="horz" wrap="square" lIns="25400" tIns="12700" rIns="25400" bIns="12700" rtlCol="0" anchor="t">
            <a:noAutofit/>
          </a:bodyPr>
          <a:lstStyle/>
          <a:p>
            <a:r>
              <a:rPr lang="vi-VN" sz="1100" i="1" dirty="0">
                <a:solidFill>
                  <a:srgbClr val="595959"/>
                </a:solidFill>
                <a:latin typeface="Times New Roman" panose="02020603050405020304" pitchFamily="18" charset="0"/>
              </a:rPr>
              <a:t>2 ảnh sai tên (sai </a:t>
            </a:r>
            <a:r>
              <a:rPr lang="vi-VN" sz="1100" i="1" dirty="0" err="1">
                <a:solidFill>
                  <a:srgbClr val="595959"/>
                </a:solidFill>
                <a:latin typeface="Times New Roman" panose="02020603050405020304" pitchFamily="18" charset="0"/>
              </a:rPr>
              <a:t>schema</a:t>
            </a:r>
            <a:r>
              <a:rPr lang="vi-VN" sz="1100" i="1" dirty="0">
                <a:solidFill>
                  <a:srgbClr val="595959"/>
                </a:solidFill>
                <a:latin typeface="Times New Roman" panose="02020603050405020304" pitchFamily="18" charset="0"/>
              </a:rPr>
              <a:t>) + 1 ảnh thiếu </a:t>
            </a:r>
            <a:r>
              <a:rPr lang="vi-VN" sz="1100" i="1" dirty="0" err="1">
                <a:solidFill>
                  <a:srgbClr val="595959"/>
                </a:solidFill>
                <a:latin typeface="Times New Roman" panose="02020603050405020304" pitchFamily="18" charset="0"/>
              </a:rPr>
              <a:t>Mask</a:t>
            </a:r>
            <a:r>
              <a:rPr lang="vi-VN" sz="1100" i="1" dirty="0">
                <a:solidFill>
                  <a:srgbClr val="595959"/>
                </a:solidFill>
                <a:latin typeface="Times New Roman" panose="02020603050405020304" pitchFamily="18" charset="0"/>
              </a:rPr>
              <a:t> → sửa tên / bổ sung ảnh rồi quét thư mục lại</a:t>
            </a:r>
            <a:endParaRPr lang="en-US" sz="1100" i="1" dirty="0">
              <a:solidFill>
                <a:srgbClr val="595959"/>
              </a:solidFill>
              <a:latin typeface="Times New Roman" panose="02020603050405020304" pitchFamily="18" charset="0"/>
            </a:endParaRPr>
          </a:p>
        </p:txBody>
      </p:sp>
    </p:spTree>
    <p:extLst>
      <p:ext uri="{BB962C8B-B14F-4D97-AF65-F5344CB8AC3E}">
        <p14:creationId xmlns:p14="http://schemas.microsoft.com/office/powerpoint/2010/main" val="2314512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E5772D9-DC7B-C4D0-3435-BE16A484BC8D}"/>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5. Bước 3 – Xuất dữ liệu</a:t>
            </a:r>
            <a:endParaRPr lang="en-US" sz="1600" b="1">
              <a:solidFill>
                <a:srgbClr val="002060"/>
              </a:solidFill>
              <a:latin typeface="Times New Roman" panose="02020603050405020304" pitchFamily="18" charset="0"/>
            </a:endParaRPr>
          </a:p>
        </p:txBody>
      </p:sp>
      <p:sp>
        <p:nvSpPr>
          <p:cNvPr id="3" name="TextBox 2">
            <a:extLst>
              <a:ext uri="{FF2B5EF4-FFF2-40B4-BE49-F238E27FC236}">
                <a16:creationId xmlns:a16="http://schemas.microsoft.com/office/drawing/2014/main" id="{439A058E-3E16-8271-9750-0DC593DF6DB7}"/>
              </a:ext>
            </a:extLst>
          </p:cNvPr>
          <p:cNvSpPr txBox="1"/>
          <p:nvPr/>
        </p:nvSpPr>
        <p:spPr>
          <a:xfrm>
            <a:off x="698500" y="1270000"/>
            <a:ext cx="10795000" cy="254000"/>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Xác nhận schema và dữ liệu &gt; bấm </a:t>
            </a:r>
            <a:r>
              <a:rPr lang="en-US" sz="1400" b="1">
                <a:solidFill>
                  <a:srgbClr val="000000"/>
                </a:solidFill>
                <a:latin typeface="Times New Roman" panose="02020603050405020304" pitchFamily="18" charset="0"/>
              </a:rPr>
              <a:t>⬇ Xuất</a:t>
            </a:r>
            <a:r>
              <a:rPr lang="en-US" sz="1400">
                <a:solidFill>
                  <a:srgbClr val="000000"/>
                </a:solidFill>
                <a:latin typeface="Times New Roman" panose="02020603050405020304" pitchFamily="18" charset="0"/>
              </a:rPr>
              <a:t> trên Bảng kết quả.</a:t>
            </a:r>
          </a:p>
        </p:txBody>
      </p:sp>
      <p:pic>
        <p:nvPicPr>
          <p:cNvPr id="10" name="Picture 9">
            <a:extLst>
              <a:ext uri="{FF2B5EF4-FFF2-40B4-BE49-F238E27FC236}">
                <a16:creationId xmlns:a16="http://schemas.microsoft.com/office/drawing/2014/main" id="{7DC0E459-D052-A9BB-3F49-0F55CD2508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600200"/>
            <a:ext cx="6350000" cy="2726435"/>
          </a:xfrm>
          <a:prstGeom prst="rect">
            <a:avLst/>
          </a:prstGeom>
          <a:ln w="9525">
            <a:solidFill>
              <a:srgbClr val="BFBFBF"/>
            </a:solidFill>
          </a:ln>
        </p:spPr>
      </p:pic>
      <p:sp>
        <p:nvSpPr>
          <p:cNvPr id="13" name="Oval 12">
            <a:extLst>
              <a:ext uri="{FF2B5EF4-FFF2-40B4-BE49-F238E27FC236}">
                <a16:creationId xmlns:a16="http://schemas.microsoft.com/office/drawing/2014/main" id="{6807C6B8-3974-2B7B-0CFC-4A9E1C9A9CE1}"/>
              </a:ext>
            </a:extLst>
          </p:cNvPr>
          <p:cNvSpPr/>
          <p:nvPr/>
        </p:nvSpPr>
        <p:spPr>
          <a:xfrm>
            <a:off x="7302500" y="16637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4" name="TextBox 13">
            <a:extLst>
              <a:ext uri="{FF2B5EF4-FFF2-40B4-BE49-F238E27FC236}">
                <a16:creationId xmlns:a16="http://schemas.microsoft.com/office/drawing/2014/main" id="{863D73B0-6177-2DBD-C3DF-86B4E3AC5627}"/>
              </a:ext>
            </a:extLst>
          </p:cNvPr>
          <p:cNvSpPr txBox="1"/>
          <p:nvPr/>
        </p:nvSpPr>
        <p:spPr>
          <a:xfrm>
            <a:off x="7658100" y="1651000"/>
            <a:ext cx="3835400" cy="484632"/>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Kéo thả</a:t>
            </a:r>
            <a:r>
              <a:rPr lang="en-US" sz="1400">
                <a:solidFill>
                  <a:srgbClr val="000000"/>
                </a:solidFill>
                <a:latin typeface="Times New Roman" panose="02020603050405020304" pitchFamily="18" charset="0"/>
              </a:rPr>
              <a:t> thẻ để đổi thứ tự cột; </a:t>
            </a:r>
            <a:r>
              <a:rPr lang="en-US" sz="1400" b="1">
                <a:solidFill>
                  <a:srgbClr val="000000"/>
                </a:solidFill>
                <a:latin typeface="Times New Roman" panose="02020603050405020304" pitchFamily="18" charset="0"/>
              </a:rPr>
              <a:t>↺ Theo schema</a:t>
            </a:r>
            <a:r>
              <a:rPr lang="en-US" sz="1400">
                <a:solidFill>
                  <a:srgbClr val="000000"/>
                </a:solidFill>
                <a:latin typeface="Times New Roman" panose="02020603050405020304" pitchFamily="18" charset="0"/>
              </a:rPr>
              <a:t> trả về thứ tự gốc</a:t>
            </a:r>
          </a:p>
        </p:txBody>
      </p:sp>
      <p:sp>
        <p:nvSpPr>
          <p:cNvPr id="15" name="Oval 14">
            <a:extLst>
              <a:ext uri="{FF2B5EF4-FFF2-40B4-BE49-F238E27FC236}">
                <a16:creationId xmlns:a16="http://schemas.microsoft.com/office/drawing/2014/main" id="{DA343071-9B60-0534-9D38-71C34B468C9D}"/>
              </a:ext>
            </a:extLst>
          </p:cNvPr>
          <p:cNvSpPr/>
          <p:nvPr/>
        </p:nvSpPr>
        <p:spPr>
          <a:xfrm>
            <a:off x="7302500" y="2326132"/>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6" name="TextBox 15">
            <a:extLst>
              <a:ext uri="{FF2B5EF4-FFF2-40B4-BE49-F238E27FC236}">
                <a16:creationId xmlns:a16="http://schemas.microsoft.com/office/drawing/2014/main" id="{610696E2-7C85-81E0-FC82-38CE2B822BA3}"/>
              </a:ext>
            </a:extLst>
          </p:cNvPr>
          <p:cNvSpPr txBox="1"/>
          <p:nvPr/>
        </p:nvSpPr>
        <p:spPr>
          <a:xfrm>
            <a:off x="7658100" y="2313432"/>
            <a:ext cx="3835400" cy="484632"/>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 bỏ cột</a:t>
            </a:r>
            <a:r>
              <a:rPr lang="vi-VN" sz="1400">
                <a:solidFill>
                  <a:srgbClr val="000000"/>
                </a:solidFill>
                <a:latin typeface="Times New Roman" panose="02020603050405020304" pitchFamily="18" charset="0"/>
              </a:rPr>
              <a:t> không cần (bấm lại để lấy lại); thẻ có khoá là trường bắt buộc</a:t>
            </a:r>
            <a:endParaRPr lang="en-US" sz="1400">
              <a:solidFill>
                <a:srgbClr val="000000"/>
              </a:solidFill>
              <a:latin typeface="Times New Roman" panose="02020603050405020304" pitchFamily="18" charset="0"/>
            </a:endParaRPr>
          </a:p>
        </p:txBody>
      </p:sp>
      <p:sp>
        <p:nvSpPr>
          <p:cNvPr id="17" name="Oval 16">
            <a:extLst>
              <a:ext uri="{FF2B5EF4-FFF2-40B4-BE49-F238E27FC236}">
                <a16:creationId xmlns:a16="http://schemas.microsoft.com/office/drawing/2014/main" id="{C3994C82-6CCE-6DB2-4218-0736461C2EA6}"/>
              </a:ext>
            </a:extLst>
          </p:cNvPr>
          <p:cNvSpPr/>
          <p:nvPr/>
        </p:nvSpPr>
        <p:spPr>
          <a:xfrm>
            <a:off x="7302500" y="2988564"/>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3</a:t>
            </a:r>
          </a:p>
        </p:txBody>
      </p:sp>
      <p:sp>
        <p:nvSpPr>
          <p:cNvPr id="18" name="TextBox 17">
            <a:extLst>
              <a:ext uri="{FF2B5EF4-FFF2-40B4-BE49-F238E27FC236}">
                <a16:creationId xmlns:a16="http://schemas.microsoft.com/office/drawing/2014/main" id="{C9DE87E9-CA9D-AAC2-0A7E-AEFF6A2579DD}"/>
              </a:ext>
            </a:extLst>
          </p:cNvPr>
          <p:cNvSpPr txBox="1"/>
          <p:nvPr/>
        </p:nvSpPr>
        <p:spPr>
          <a:xfrm>
            <a:off x="7658100" y="2975864"/>
            <a:ext cx="3835400" cy="267716"/>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Xem trước</a:t>
            </a:r>
            <a:r>
              <a:rPr lang="vi-VN" sz="1400">
                <a:solidFill>
                  <a:srgbClr val="000000"/>
                </a:solidFill>
                <a:latin typeface="Times New Roman" panose="02020603050405020304" pitchFamily="18" charset="0"/>
              </a:rPr>
              <a:t> các cột sẽ xuất</a:t>
            </a:r>
            <a:endParaRPr lang="en-US" sz="1400">
              <a:solidFill>
                <a:srgbClr val="000000"/>
              </a:solidFill>
              <a:latin typeface="Times New Roman" panose="02020603050405020304" pitchFamily="18" charset="0"/>
            </a:endParaRPr>
          </a:p>
        </p:txBody>
      </p:sp>
      <p:sp>
        <p:nvSpPr>
          <p:cNvPr id="19" name="Oval 18">
            <a:extLst>
              <a:ext uri="{FF2B5EF4-FFF2-40B4-BE49-F238E27FC236}">
                <a16:creationId xmlns:a16="http://schemas.microsoft.com/office/drawing/2014/main" id="{012CA6EA-7924-661C-C091-35E8FDBB6980}"/>
              </a:ext>
            </a:extLst>
          </p:cNvPr>
          <p:cNvSpPr/>
          <p:nvPr/>
        </p:nvSpPr>
        <p:spPr>
          <a:xfrm>
            <a:off x="7302500" y="343408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4</a:t>
            </a:r>
          </a:p>
        </p:txBody>
      </p:sp>
      <p:sp>
        <p:nvSpPr>
          <p:cNvPr id="20" name="TextBox 19">
            <a:extLst>
              <a:ext uri="{FF2B5EF4-FFF2-40B4-BE49-F238E27FC236}">
                <a16:creationId xmlns:a16="http://schemas.microsoft.com/office/drawing/2014/main" id="{F96E15D0-501F-FD8B-68A0-254D5A3B2CA3}"/>
              </a:ext>
            </a:extLst>
          </p:cNvPr>
          <p:cNvSpPr txBox="1"/>
          <p:nvPr/>
        </p:nvSpPr>
        <p:spPr>
          <a:xfrm>
            <a:off x="7658100" y="3421380"/>
            <a:ext cx="3835400" cy="267716"/>
          </a:xfrm>
          <a:prstGeom prst="rect">
            <a:avLst/>
          </a:prstGeom>
          <a:noFill/>
        </p:spPr>
        <p:txBody>
          <a:bodyPr vert="horz" wrap="square" lIns="25400" tIns="12700" rIns="25400" bIns="12700" rtlCol="0" anchor="t">
            <a:noAutofit/>
          </a:bodyPr>
          <a:lstStyle/>
          <a:p>
            <a:r>
              <a:rPr lang="en-US" sz="1400">
                <a:solidFill>
                  <a:srgbClr val="000000"/>
                </a:solidFill>
                <a:latin typeface="Times New Roman" panose="02020603050405020304" pitchFamily="18" charset="0"/>
              </a:rPr>
              <a:t>Chọn </a:t>
            </a:r>
            <a:r>
              <a:rPr lang="en-US" sz="1400" b="1">
                <a:solidFill>
                  <a:srgbClr val="000000"/>
                </a:solidFill>
                <a:latin typeface="Times New Roman" panose="02020603050405020304" pitchFamily="18" charset="0"/>
              </a:rPr>
              <a:t>Xuất Excel (.xlsx)</a:t>
            </a:r>
            <a:r>
              <a:rPr lang="en-US" sz="1400">
                <a:solidFill>
                  <a:srgbClr val="000000"/>
                </a:solidFill>
                <a:latin typeface="Times New Roman" panose="02020603050405020304" pitchFamily="18" charset="0"/>
              </a:rPr>
              <a:t> hoặc </a:t>
            </a:r>
            <a:r>
              <a:rPr lang="en-US" sz="1400" b="1">
                <a:solidFill>
                  <a:srgbClr val="000000"/>
                </a:solidFill>
                <a:latin typeface="Times New Roman" panose="02020603050405020304" pitchFamily="18" charset="0"/>
              </a:rPr>
              <a:t>Xuất JSON</a:t>
            </a:r>
          </a:p>
        </p:txBody>
      </p:sp>
    </p:spTree>
    <p:extLst>
      <p:ext uri="{BB962C8B-B14F-4D97-AF65-F5344CB8AC3E}">
        <p14:creationId xmlns:p14="http://schemas.microsoft.com/office/powerpoint/2010/main" val="3728008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A33848D-6B62-3961-FCA8-6BEDF184F7CD}"/>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5.1. Bước 3 – Tuỳ chọn Excel</a:t>
            </a:r>
            <a:endParaRPr lang="en-US" sz="1600" b="1">
              <a:solidFill>
                <a:srgbClr val="002060"/>
              </a:solidFill>
              <a:latin typeface="Times New Roman" panose="02020603050405020304" pitchFamily="18" charset="0"/>
            </a:endParaRPr>
          </a:p>
        </p:txBody>
      </p:sp>
      <p:pic>
        <p:nvPicPr>
          <p:cNvPr id="9" name="Picture 8">
            <a:extLst>
              <a:ext uri="{FF2B5EF4-FFF2-40B4-BE49-F238E27FC236}">
                <a16:creationId xmlns:a16="http://schemas.microsoft.com/office/drawing/2014/main" id="{AE17B59B-89E2-899B-7C87-6D67061041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270000"/>
            <a:ext cx="4826000" cy="4481286"/>
          </a:xfrm>
          <a:prstGeom prst="rect">
            <a:avLst/>
          </a:prstGeom>
          <a:ln w="9525">
            <a:solidFill>
              <a:srgbClr val="BFBFBF"/>
            </a:solidFill>
          </a:ln>
        </p:spPr>
      </p:pic>
      <p:sp>
        <p:nvSpPr>
          <p:cNvPr id="12" name="Oval 11">
            <a:extLst>
              <a:ext uri="{FF2B5EF4-FFF2-40B4-BE49-F238E27FC236}">
                <a16:creationId xmlns:a16="http://schemas.microsoft.com/office/drawing/2014/main" id="{F75BF960-FA6A-E3F1-8332-16FEEFA273E1}"/>
              </a:ext>
            </a:extLst>
          </p:cNvPr>
          <p:cNvSpPr/>
          <p:nvPr/>
        </p:nvSpPr>
        <p:spPr>
          <a:xfrm>
            <a:off x="5905500" y="1409700"/>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1</a:t>
            </a:r>
          </a:p>
        </p:txBody>
      </p:sp>
      <p:sp>
        <p:nvSpPr>
          <p:cNvPr id="13" name="TextBox 12">
            <a:extLst>
              <a:ext uri="{FF2B5EF4-FFF2-40B4-BE49-F238E27FC236}">
                <a16:creationId xmlns:a16="http://schemas.microsoft.com/office/drawing/2014/main" id="{7484F47E-88BE-1093-5945-7349497E06D7}"/>
              </a:ext>
            </a:extLst>
          </p:cNvPr>
          <p:cNvSpPr txBox="1"/>
          <p:nvPr/>
        </p:nvSpPr>
        <p:spPr>
          <a:xfrm>
            <a:off x="6261100" y="1397000"/>
            <a:ext cx="5232400" cy="267716"/>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Cột Raw / Mask chứa gì</a:t>
            </a:r>
            <a:r>
              <a:rPr lang="en-US" sz="1400">
                <a:solidFill>
                  <a:srgbClr val="000000"/>
                </a:solidFill>
                <a:latin typeface="Times New Roman" panose="02020603050405020304" pitchFamily="18" charset="0"/>
              </a:rPr>
              <a:t> – 3 option (trang sau)</a:t>
            </a:r>
          </a:p>
        </p:txBody>
      </p:sp>
      <p:sp>
        <p:nvSpPr>
          <p:cNvPr id="14" name="Oval 13">
            <a:extLst>
              <a:ext uri="{FF2B5EF4-FFF2-40B4-BE49-F238E27FC236}">
                <a16:creationId xmlns:a16="http://schemas.microsoft.com/office/drawing/2014/main" id="{E8F979CE-95DF-41AD-0B16-2D4739F7E472}"/>
              </a:ext>
            </a:extLst>
          </p:cNvPr>
          <p:cNvSpPr/>
          <p:nvPr/>
        </p:nvSpPr>
        <p:spPr>
          <a:xfrm>
            <a:off x="5905500" y="1906016"/>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2</a:t>
            </a:r>
          </a:p>
        </p:txBody>
      </p:sp>
      <p:sp>
        <p:nvSpPr>
          <p:cNvPr id="15" name="TextBox 14">
            <a:extLst>
              <a:ext uri="{FF2B5EF4-FFF2-40B4-BE49-F238E27FC236}">
                <a16:creationId xmlns:a16="http://schemas.microsoft.com/office/drawing/2014/main" id="{5FDD0EB4-ABF9-A657-A198-03B4513A1C9D}"/>
              </a:ext>
            </a:extLst>
          </p:cNvPr>
          <p:cNvSpPr txBox="1"/>
          <p:nvPr/>
        </p:nvSpPr>
        <p:spPr>
          <a:xfrm>
            <a:off x="6261100" y="1893316"/>
            <a:ext cx="5232400" cy="267716"/>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Kích thước ô ảnh: </a:t>
            </a:r>
            <a:r>
              <a:rPr lang="vi-VN" sz="1400">
                <a:solidFill>
                  <a:srgbClr val="000000"/>
                </a:solidFill>
                <a:latin typeface="Times New Roman" panose="02020603050405020304" pitchFamily="18" charset="0"/>
              </a:rPr>
              <a:t>theo tỷ lệ ảnh hoặc nhập tay</a:t>
            </a:r>
            <a:endParaRPr lang="en-US" sz="1400">
              <a:solidFill>
                <a:srgbClr val="000000"/>
              </a:solidFill>
              <a:latin typeface="Times New Roman" panose="02020603050405020304" pitchFamily="18" charset="0"/>
            </a:endParaRPr>
          </a:p>
        </p:txBody>
      </p:sp>
      <p:sp>
        <p:nvSpPr>
          <p:cNvPr id="16" name="Oval 15">
            <a:extLst>
              <a:ext uri="{FF2B5EF4-FFF2-40B4-BE49-F238E27FC236}">
                <a16:creationId xmlns:a16="http://schemas.microsoft.com/office/drawing/2014/main" id="{18E49B79-5026-008F-2B39-B02AF901B19F}"/>
              </a:ext>
            </a:extLst>
          </p:cNvPr>
          <p:cNvSpPr/>
          <p:nvPr/>
        </p:nvSpPr>
        <p:spPr>
          <a:xfrm>
            <a:off x="5905500" y="2402332"/>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3</a:t>
            </a:r>
          </a:p>
        </p:txBody>
      </p:sp>
      <p:sp>
        <p:nvSpPr>
          <p:cNvPr id="17" name="TextBox 16">
            <a:extLst>
              <a:ext uri="{FF2B5EF4-FFF2-40B4-BE49-F238E27FC236}">
                <a16:creationId xmlns:a16="http://schemas.microsoft.com/office/drawing/2014/main" id="{A0D95692-C66D-D603-6527-B046988258B7}"/>
              </a:ext>
            </a:extLst>
          </p:cNvPr>
          <p:cNvSpPr txBox="1"/>
          <p:nvPr/>
        </p:nvSpPr>
        <p:spPr>
          <a:xfrm>
            <a:off x="6261100" y="2389632"/>
            <a:ext cx="5232400" cy="484632"/>
          </a:xfrm>
          <a:prstGeom prst="rect">
            <a:avLst/>
          </a:prstGeom>
          <a:noFill/>
        </p:spPr>
        <p:txBody>
          <a:bodyPr vert="horz" wrap="square" lIns="25400" tIns="12700" rIns="25400" bIns="12700" rtlCol="0" anchor="t">
            <a:noAutofit/>
          </a:bodyPr>
          <a:lstStyle/>
          <a:p>
            <a:r>
              <a:rPr lang="en-US" sz="1400" b="1">
                <a:solidFill>
                  <a:srgbClr val="000000"/>
                </a:solidFill>
                <a:latin typeface="Times New Roman" panose="02020603050405020304" pitchFamily="18" charset="0"/>
              </a:rPr>
              <a:t>Xuất cột Vision: </a:t>
            </a:r>
            <a:r>
              <a:rPr lang="en-US" sz="1400">
                <a:solidFill>
                  <a:srgbClr val="000000"/>
                </a:solidFill>
                <a:latin typeface="Times New Roman" panose="02020603050405020304" pitchFamily="18" charset="0"/>
              </a:rPr>
              <a:t>mặc định không tick – chỉ xuất Đánh giá + Ghi chú</a:t>
            </a:r>
          </a:p>
        </p:txBody>
      </p:sp>
      <p:sp>
        <p:nvSpPr>
          <p:cNvPr id="18" name="Oval 17">
            <a:extLst>
              <a:ext uri="{FF2B5EF4-FFF2-40B4-BE49-F238E27FC236}">
                <a16:creationId xmlns:a16="http://schemas.microsoft.com/office/drawing/2014/main" id="{07C04EDE-029B-C567-6A36-DA946CDC60B0}"/>
              </a:ext>
            </a:extLst>
          </p:cNvPr>
          <p:cNvSpPr/>
          <p:nvPr/>
        </p:nvSpPr>
        <p:spPr>
          <a:xfrm>
            <a:off x="5905500" y="3115564"/>
            <a:ext cx="254000" cy="2540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lstStyle/>
          <a:p>
            <a:pPr algn="ctr"/>
            <a:r>
              <a:rPr lang="en-US" sz="1100" b="1">
                <a:solidFill>
                  <a:srgbClr val="FFFFFF"/>
                </a:solidFill>
                <a:latin typeface="Times New Roman" panose="02020603050405020304" pitchFamily="18" charset="0"/>
              </a:rPr>
              <a:t>4</a:t>
            </a:r>
          </a:p>
        </p:txBody>
      </p:sp>
      <p:sp>
        <p:nvSpPr>
          <p:cNvPr id="19" name="TextBox 18">
            <a:extLst>
              <a:ext uri="{FF2B5EF4-FFF2-40B4-BE49-F238E27FC236}">
                <a16:creationId xmlns:a16="http://schemas.microsoft.com/office/drawing/2014/main" id="{E7CEC609-FF0C-A561-1EFA-96A0EA3F5A64}"/>
              </a:ext>
            </a:extLst>
          </p:cNvPr>
          <p:cNvSpPr txBox="1"/>
          <p:nvPr/>
        </p:nvSpPr>
        <p:spPr>
          <a:xfrm>
            <a:off x="6261100" y="3102864"/>
            <a:ext cx="5232400" cy="267716"/>
          </a:xfrm>
          <a:prstGeom prst="rect">
            <a:avLst/>
          </a:prstGeom>
          <a:noFill/>
        </p:spPr>
        <p:txBody>
          <a:bodyPr vert="horz" wrap="square" lIns="25400" tIns="12700" rIns="25400" bIns="12700" rtlCol="0" anchor="t">
            <a:noAutofit/>
          </a:bodyPr>
          <a:lstStyle/>
          <a:p>
            <a:r>
              <a:rPr lang="vi-VN" sz="1400" b="1">
                <a:solidFill>
                  <a:srgbClr val="000000"/>
                </a:solidFill>
                <a:latin typeface="Times New Roman" panose="02020603050405020304" pitchFamily="18" charset="0"/>
              </a:rPr>
              <a:t>Xuất Excel</a:t>
            </a:r>
            <a:r>
              <a:rPr lang="vi-VN" sz="1400">
                <a:solidFill>
                  <a:srgbClr val="000000"/>
                </a:solidFill>
                <a:latin typeface="Times New Roman" panose="02020603050405020304" pitchFamily="18" charset="0"/>
              </a:rPr>
              <a:t> → chọn nơi lưu</a:t>
            </a:r>
            <a:endParaRPr 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172675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B603DB2-5164-B6B2-F146-650C03D529E6}"/>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fr-FR" sz="1600" b="1">
                <a:solidFill>
                  <a:srgbClr val="002060"/>
                </a:solidFill>
                <a:latin typeface="Times New Roman" panose="02020603050405020304" pitchFamily="18" charset="0"/>
              </a:rPr>
              <a:t>5.1. Bước 3 – 3 option xuất Excel</a:t>
            </a:r>
            <a:endParaRPr lang="en-US" sz="1600" b="1">
              <a:solidFill>
                <a:srgbClr val="002060"/>
              </a:solidFill>
              <a:latin typeface="Times New Roman" panose="02020603050405020304" pitchFamily="18" charset="0"/>
            </a:endParaRPr>
          </a:p>
        </p:txBody>
      </p:sp>
      <p:sp>
        <p:nvSpPr>
          <p:cNvPr id="3" name="TextBox 2">
            <a:extLst>
              <a:ext uri="{FF2B5EF4-FFF2-40B4-BE49-F238E27FC236}">
                <a16:creationId xmlns:a16="http://schemas.microsoft.com/office/drawing/2014/main" id="{2EDB0732-7E3E-94FC-3BD1-CEB40A7E2226}"/>
              </a:ext>
            </a:extLst>
          </p:cNvPr>
          <p:cNvSpPr txBox="1"/>
          <p:nvPr/>
        </p:nvSpPr>
        <p:spPr>
          <a:xfrm>
            <a:off x="698500" y="1270000"/>
            <a:ext cx="3048000" cy="1397000"/>
          </a:xfrm>
          <a:prstGeom prst="rect">
            <a:avLst/>
          </a:prstGeom>
          <a:noFill/>
        </p:spPr>
        <p:txBody>
          <a:bodyPr vert="horz" wrap="square" lIns="25400" tIns="12700" rIns="25400" bIns="12700" rtlCol="0" anchor="t">
            <a:noAutofit/>
          </a:bodyPr>
          <a:lstStyle/>
          <a:p>
            <a:r>
              <a:rPr lang="en-US" sz="1300" b="1">
                <a:solidFill>
                  <a:srgbClr val="002060"/>
                </a:solidFill>
                <a:latin typeface="Times New Roman" panose="02020603050405020304" pitchFamily="18" charset="0"/>
              </a:rPr>
              <a:t>① Hyperlink + thumbnail (mặc định)</a:t>
            </a:r>
          </a:p>
          <a:p>
            <a:r>
              <a:rPr lang="en-US" sz="1300">
                <a:solidFill>
                  <a:srgbClr val="000000"/>
                </a:solidFill>
                <a:latin typeface="Times New Roman" panose="02020603050405020304" pitchFamily="18" charset="0"/>
              </a:rPr>
              <a:t>Ảnh nhỏ trong ô, bấm vào mở ảnh gốc</a:t>
            </a:r>
          </a:p>
        </p:txBody>
      </p:sp>
      <p:sp>
        <p:nvSpPr>
          <p:cNvPr id="12" name="TextBox 11">
            <a:extLst>
              <a:ext uri="{FF2B5EF4-FFF2-40B4-BE49-F238E27FC236}">
                <a16:creationId xmlns:a16="http://schemas.microsoft.com/office/drawing/2014/main" id="{E807B199-1238-1F2E-9404-9ECDF56A17BC}"/>
              </a:ext>
            </a:extLst>
          </p:cNvPr>
          <p:cNvSpPr txBox="1"/>
          <p:nvPr/>
        </p:nvSpPr>
        <p:spPr>
          <a:xfrm>
            <a:off x="698500" y="2870200"/>
            <a:ext cx="3048000" cy="1397000"/>
          </a:xfrm>
          <a:prstGeom prst="rect">
            <a:avLst/>
          </a:prstGeom>
          <a:noFill/>
        </p:spPr>
        <p:txBody>
          <a:bodyPr vert="horz" wrap="square" lIns="25400" tIns="12700" rIns="25400" bIns="12700" rtlCol="0" anchor="t">
            <a:noAutofit/>
          </a:bodyPr>
          <a:lstStyle/>
          <a:p>
            <a:r>
              <a:rPr lang="en-US" sz="1300" b="1">
                <a:solidFill>
                  <a:srgbClr val="002060"/>
                </a:solidFill>
                <a:latin typeface="Times New Roman" panose="02020603050405020304" pitchFamily="18" charset="0"/>
              </a:rPr>
              <a:t>② Hyperlink</a:t>
            </a:r>
          </a:p>
          <a:p>
            <a:r>
              <a:rPr lang="en-US" sz="1300">
                <a:solidFill>
                  <a:srgbClr val="000000"/>
                </a:solidFill>
                <a:latin typeface="Times New Roman" panose="02020603050405020304" pitchFamily="18" charset="0"/>
              </a:rPr>
              <a:t>Bỏ tick Hiện thumbnail – bấm vào tên file mở ảnh gốc</a:t>
            </a:r>
          </a:p>
        </p:txBody>
      </p:sp>
      <p:sp>
        <p:nvSpPr>
          <p:cNvPr id="15" name="TextBox 14">
            <a:extLst>
              <a:ext uri="{FF2B5EF4-FFF2-40B4-BE49-F238E27FC236}">
                <a16:creationId xmlns:a16="http://schemas.microsoft.com/office/drawing/2014/main" id="{86628CA9-4D75-F724-0689-B6F424B460F4}"/>
              </a:ext>
            </a:extLst>
          </p:cNvPr>
          <p:cNvSpPr txBox="1"/>
          <p:nvPr/>
        </p:nvSpPr>
        <p:spPr>
          <a:xfrm>
            <a:off x="698500" y="4470400"/>
            <a:ext cx="3048000" cy="1397000"/>
          </a:xfrm>
          <a:prstGeom prst="rect">
            <a:avLst/>
          </a:prstGeom>
          <a:noFill/>
        </p:spPr>
        <p:txBody>
          <a:bodyPr vert="horz" wrap="square" lIns="25400" tIns="12700" rIns="25400" bIns="12700" rtlCol="0" anchor="t">
            <a:noAutofit/>
          </a:bodyPr>
          <a:lstStyle/>
          <a:p>
            <a:r>
              <a:rPr lang="en-US" sz="1300" b="1">
                <a:solidFill>
                  <a:srgbClr val="002060"/>
                </a:solidFill>
                <a:latin typeface="Times New Roman" panose="02020603050405020304" pitchFamily="18" charset="0"/>
              </a:rPr>
              <a:t>③ Chèn ảnh gốc</a:t>
            </a:r>
          </a:p>
          <a:p>
            <a:r>
              <a:rPr lang="en-US" sz="1300">
                <a:solidFill>
                  <a:srgbClr val="000000"/>
                </a:solidFill>
                <a:latin typeface="Times New Roman" panose="02020603050405020304" pitchFamily="18" charset="0"/>
              </a:rPr>
              <a:t>Nhúng nguyên ảnh, không nén, phóng to xem rõ chi tiết</a:t>
            </a:r>
          </a:p>
        </p:txBody>
      </p:sp>
      <p:pic>
        <p:nvPicPr>
          <p:cNvPr id="8" name="Picture 7">
            <a:extLst>
              <a:ext uri="{FF2B5EF4-FFF2-40B4-BE49-F238E27FC236}">
                <a16:creationId xmlns:a16="http://schemas.microsoft.com/office/drawing/2014/main" id="{CE46DA49-C904-95E9-57A5-B7BD22AC17C6}"/>
              </a:ext>
            </a:extLst>
          </p:cNvPr>
          <p:cNvPicPr>
            <a:picLocks noChangeAspect="1"/>
          </p:cNvPicPr>
          <p:nvPr/>
        </p:nvPicPr>
        <p:blipFill>
          <a:blip r:embed="rId3"/>
          <a:srcRect r="21503"/>
          <a:stretch>
            <a:fillRect/>
          </a:stretch>
        </p:blipFill>
        <p:spPr>
          <a:xfrm>
            <a:off x="4759179" y="1163887"/>
            <a:ext cx="4412253" cy="1551363"/>
          </a:xfrm>
          <a:prstGeom prst="rect">
            <a:avLst/>
          </a:prstGeom>
        </p:spPr>
      </p:pic>
      <p:pic>
        <p:nvPicPr>
          <p:cNvPr id="16" name="Picture 15">
            <a:extLst>
              <a:ext uri="{FF2B5EF4-FFF2-40B4-BE49-F238E27FC236}">
                <a16:creationId xmlns:a16="http://schemas.microsoft.com/office/drawing/2014/main" id="{404C2A0F-6A50-5FC2-1134-BC9F43BBE58A}"/>
              </a:ext>
            </a:extLst>
          </p:cNvPr>
          <p:cNvPicPr>
            <a:picLocks noChangeAspect="1"/>
          </p:cNvPicPr>
          <p:nvPr/>
        </p:nvPicPr>
        <p:blipFill>
          <a:blip r:embed="rId3"/>
          <a:srcRect r="21503"/>
          <a:stretch>
            <a:fillRect/>
          </a:stretch>
        </p:blipFill>
        <p:spPr>
          <a:xfrm>
            <a:off x="4775669" y="4267200"/>
            <a:ext cx="4412253" cy="1551363"/>
          </a:xfrm>
          <a:prstGeom prst="rect">
            <a:avLst/>
          </a:prstGeom>
        </p:spPr>
      </p:pic>
      <p:pic>
        <p:nvPicPr>
          <p:cNvPr id="19" name="Picture 18">
            <a:extLst>
              <a:ext uri="{FF2B5EF4-FFF2-40B4-BE49-F238E27FC236}">
                <a16:creationId xmlns:a16="http://schemas.microsoft.com/office/drawing/2014/main" id="{C9DED68F-55A1-E501-1C70-01FF5C19BF94}"/>
              </a:ext>
            </a:extLst>
          </p:cNvPr>
          <p:cNvPicPr>
            <a:picLocks noChangeAspect="1"/>
          </p:cNvPicPr>
          <p:nvPr/>
        </p:nvPicPr>
        <p:blipFill>
          <a:blip r:embed="rId4"/>
          <a:stretch>
            <a:fillRect/>
          </a:stretch>
        </p:blipFill>
        <p:spPr>
          <a:xfrm>
            <a:off x="4759179" y="2870200"/>
            <a:ext cx="7162800" cy="785112"/>
          </a:xfrm>
          <a:prstGeom prst="rect">
            <a:avLst/>
          </a:prstGeom>
        </p:spPr>
      </p:pic>
    </p:spTree>
    <p:extLst>
      <p:ext uri="{BB962C8B-B14F-4D97-AF65-F5344CB8AC3E}">
        <p14:creationId xmlns:p14="http://schemas.microsoft.com/office/powerpoint/2010/main" val="653030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1899FE3-F4FD-6CF0-E822-DC35C5904A58}"/>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5.1. Bước 3 – So sánh 3 option xuất Excel</a:t>
            </a:r>
            <a:endParaRPr lang="en-US" sz="1600" b="1">
              <a:solidFill>
                <a:srgbClr val="002060"/>
              </a:solidFill>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2EDAB894-D109-299A-29CB-65EAD2754CB6}"/>
              </a:ext>
            </a:extLst>
          </p:cNvPr>
          <p:cNvGraphicFramePr>
            <a:graphicFrameLocks noGrp="1"/>
          </p:cNvGraphicFramePr>
          <p:nvPr>
            <p:extLst>
              <p:ext uri="{D42A27DB-BD31-4B8C-83A1-F6EECF244321}">
                <p14:modId xmlns:p14="http://schemas.microsoft.com/office/powerpoint/2010/main" val="1013902425"/>
              </p:ext>
            </p:extLst>
          </p:nvPr>
        </p:nvGraphicFramePr>
        <p:xfrm>
          <a:off x="698498" y="1270001"/>
          <a:ext cx="10381877" cy="1751105"/>
        </p:xfrm>
        <a:graphic>
          <a:graphicData uri="http://schemas.openxmlformats.org/drawingml/2006/table">
            <a:tbl>
              <a:tblPr firstRow="1" bandRow="1">
                <a:tableStyleId>{5940675A-B579-460E-94D1-54222C63F5DA}</a:tableStyleId>
              </a:tblPr>
              <a:tblGrid>
                <a:gridCol w="2154729">
                  <a:extLst>
                    <a:ext uri="{9D8B030D-6E8A-4147-A177-3AD203B41FA5}">
                      <a16:colId xmlns:a16="http://schemas.microsoft.com/office/drawing/2014/main" val="1440505888"/>
                    </a:ext>
                  </a:extLst>
                </a:gridCol>
                <a:gridCol w="1762960">
                  <a:extLst>
                    <a:ext uri="{9D8B030D-6E8A-4147-A177-3AD203B41FA5}">
                      <a16:colId xmlns:a16="http://schemas.microsoft.com/office/drawing/2014/main" val="3238287017"/>
                    </a:ext>
                  </a:extLst>
                </a:gridCol>
                <a:gridCol w="1567076">
                  <a:extLst>
                    <a:ext uri="{9D8B030D-6E8A-4147-A177-3AD203B41FA5}">
                      <a16:colId xmlns:a16="http://schemas.microsoft.com/office/drawing/2014/main" val="2762677790"/>
                    </a:ext>
                  </a:extLst>
                </a:gridCol>
                <a:gridCol w="1567076">
                  <a:extLst>
                    <a:ext uri="{9D8B030D-6E8A-4147-A177-3AD203B41FA5}">
                      <a16:colId xmlns:a16="http://schemas.microsoft.com/office/drawing/2014/main" val="280106262"/>
                    </a:ext>
                  </a:extLst>
                </a:gridCol>
                <a:gridCol w="3330036">
                  <a:extLst>
                    <a:ext uri="{9D8B030D-6E8A-4147-A177-3AD203B41FA5}">
                      <a16:colId xmlns:a16="http://schemas.microsoft.com/office/drawing/2014/main" val="1489317255"/>
                    </a:ext>
                  </a:extLst>
                </a:gridCol>
              </a:tblGrid>
              <a:tr h="300485">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Option</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Ô Raw / Mask</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Bấm mở ảnh gốc</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vi-VN" sz="1200" b="1" i="0">
                          <a:solidFill>
                            <a:srgbClr val="FFFFFF"/>
                          </a:solidFill>
                          <a:latin typeface="Times New Roman" panose="02020603050405020304" pitchFamily="18" charset="0"/>
                        </a:rPr>
                        <a:t>Dung lượng*</a:t>
                      </a:r>
                      <a:endParaRPr lang="en-US" sz="1200" b="1" i="0">
                        <a:solidFill>
                          <a:srgbClr val="FFFFFF"/>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200" b="1" i="0">
                          <a:solidFill>
                            <a:srgbClr val="FFFFFF"/>
                          </a:solidFill>
                          <a:latin typeface="Times New Roman" panose="02020603050405020304" pitchFamily="18" charset="0"/>
                        </a:rPr>
                        <a:t>Dùng khi</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1509174807"/>
                  </a:ext>
                </a:extLst>
              </a:tr>
              <a:tr h="483540">
                <a:tc>
                  <a:txBody>
                    <a:bodyPr/>
                    <a:lstStyle/>
                    <a:p>
                      <a:pPr marL="0" indent="0" algn="l">
                        <a:spcBef>
                          <a:spcPts val="0"/>
                        </a:spcBef>
                        <a:spcAft>
                          <a:spcPts val="0"/>
                        </a:spcAft>
                        <a:buFontTx/>
                        <a:buNone/>
                      </a:pPr>
                      <a:r>
                        <a:rPr lang="en-US" sz="1200" b="1" i="0">
                          <a:solidFill>
                            <a:srgbClr val="000000"/>
                          </a:solidFill>
                          <a:latin typeface="Times New Roman" panose="02020603050405020304" pitchFamily="18" charset="0"/>
                        </a:rPr>
                        <a:t>① Thumbnail</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Ảnh nhỏ</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Có</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733 KB</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200" b="0" i="0">
                          <a:solidFill>
                            <a:srgbClr val="000000"/>
                          </a:solidFill>
                          <a:latin typeface="Times New Roman" panose="02020603050405020304" pitchFamily="18" charset="0"/>
                        </a:rPr>
                        <a:t>Xem nhanh, gửi kèm thư mục ảnh</a:t>
                      </a:r>
                      <a:endParaRPr lang="en-US" sz="12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570741248"/>
                  </a:ext>
                </a:extLst>
              </a:tr>
              <a:tr h="483540">
                <a:tc>
                  <a:txBody>
                    <a:bodyPr/>
                    <a:lstStyle/>
                    <a:p>
                      <a:pPr marL="0" indent="0" algn="l">
                        <a:spcBef>
                          <a:spcPts val="0"/>
                        </a:spcBef>
                        <a:spcAft>
                          <a:spcPts val="0"/>
                        </a:spcAft>
                        <a:buFontTx/>
                        <a:buNone/>
                      </a:pPr>
                      <a:r>
                        <a:rPr lang="en-US" sz="1200" b="1" i="0">
                          <a:solidFill>
                            <a:srgbClr val="000000"/>
                          </a:solidFill>
                          <a:latin typeface="Times New Roman" panose="02020603050405020304" pitchFamily="18" charset="0"/>
                        </a:rPr>
                        <a:t>② Hyperlink</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Tên file</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Có</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21 KB</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Dataset rất lớn, chỉ cần tra cứu</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028767513"/>
                  </a:ext>
                </a:extLst>
              </a:tr>
              <a:tr h="483540">
                <a:tc>
                  <a:txBody>
                    <a:bodyPr/>
                    <a:lstStyle/>
                    <a:p>
                      <a:pPr marL="0" indent="0" algn="l">
                        <a:spcBef>
                          <a:spcPts val="0"/>
                        </a:spcBef>
                        <a:spcAft>
                          <a:spcPts val="0"/>
                        </a:spcAft>
                        <a:buFontTx/>
                        <a:buNone/>
                      </a:pPr>
                      <a:r>
                        <a:rPr lang="en-US" sz="1200" b="1" i="0">
                          <a:solidFill>
                            <a:srgbClr val="000000"/>
                          </a:solidFill>
                          <a:latin typeface="Times New Roman" panose="02020603050405020304" pitchFamily="18" charset="0"/>
                        </a:rPr>
                        <a:t>③ Ảnh gốc</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a:solidFill>
                            <a:srgbClr val="000000"/>
                          </a:solidFill>
                          <a:latin typeface="Times New Roman" panose="02020603050405020304" pitchFamily="18" charset="0"/>
                        </a:rPr>
                        <a:t>Ảnh gốc nét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dirty="0" err="1">
                          <a:solidFill>
                            <a:srgbClr val="000000"/>
                          </a:solidFill>
                          <a:latin typeface="Times New Roman" panose="02020603050405020304" pitchFamily="18" charset="0"/>
                        </a:rPr>
                        <a:t>Không</a:t>
                      </a:r>
                      <a:endParaRPr lang="en-US" sz="1200" b="0" i="0" dirty="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dirty="0">
                          <a:solidFill>
                            <a:srgbClr val="000000"/>
                          </a:solidFill>
                          <a:latin typeface="Times New Roman" panose="02020603050405020304" pitchFamily="18" charset="0"/>
                        </a:rPr>
                        <a:t>7,2 MB</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200" b="0" i="0" dirty="0" err="1">
                          <a:solidFill>
                            <a:srgbClr val="000000"/>
                          </a:solidFill>
                          <a:latin typeface="Times New Roman" panose="02020603050405020304" pitchFamily="18" charset="0"/>
                        </a:rPr>
                        <a:t>Gửi</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riêng</a:t>
                      </a:r>
                      <a:r>
                        <a:rPr lang="en-US" sz="1200" b="0" i="0" dirty="0">
                          <a:solidFill>
                            <a:srgbClr val="000000"/>
                          </a:solidFill>
                          <a:latin typeface="Times New Roman" panose="02020603050405020304" pitchFamily="18" charset="0"/>
                        </a:rPr>
                        <a:t> file Excel, </a:t>
                      </a:r>
                      <a:r>
                        <a:rPr lang="en-US" sz="1200" b="0" i="0" dirty="0" err="1">
                          <a:solidFill>
                            <a:srgbClr val="000000"/>
                          </a:solidFill>
                          <a:latin typeface="Times New Roman" panose="02020603050405020304" pitchFamily="18" charset="0"/>
                        </a:rPr>
                        <a:t>ít</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dữ</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liệu</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hỗ</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trợ</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khách</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hàng</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xem</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trực</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tiếp</a:t>
                      </a:r>
                      <a:r>
                        <a:rPr lang="en-US" sz="1200" b="0" i="0" dirty="0">
                          <a:solidFill>
                            <a:srgbClr val="000000"/>
                          </a:solidFill>
                          <a:latin typeface="Times New Roman" panose="02020603050405020304" pitchFamily="18" charset="0"/>
                        </a:rPr>
                        <a:t> </a:t>
                      </a:r>
                      <a:r>
                        <a:rPr lang="en-US" sz="1200" b="0" i="0" dirty="0" err="1">
                          <a:solidFill>
                            <a:srgbClr val="000000"/>
                          </a:solidFill>
                          <a:latin typeface="Times New Roman" panose="02020603050405020304" pitchFamily="18" charset="0"/>
                        </a:rPr>
                        <a:t>trong</a:t>
                      </a:r>
                      <a:r>
                        <a:rPr lang="en-US" sz="1200" b="0" i="0" dirty="0">
                          <a:solidFill>
                            <a:srgbClr val="000000"/>
                          </a:solidFill>
                          <a:latin typeface="Times New Roman" panose="02020603050405020304" pitchFamily="18" charset="0"/>
                        </a:rPr>
                        <a:t> Excel</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782777808"/>
                  </a:ext>
                </a:extLst>
              </a:tr>
            </a:tbl>
          </a:graphicData>
        </a:graphic>
      </p:graphicFrame>
      <p:pic>
        <p:nvPicPr>
          <p:cNvPr id="12" name="Picture 11">
            <a:extLst>
              <a:ext uri="{FF2B5EF4-FFF2-40B4-BE49-F238E27FC236}">
                <a16:creationId xmlns:a16="http://schemas.microsoft.com/office/drawing/2014/main" id="{C2E1034E-08D1-CFC9-94AD-A02CD7BA84D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7778" y="3285565"/>
            <a:ext cx="5075493" cy="2242790"/>
          </a:xfrm>
          <a:prstGeom prst="rect">
            <a:avLst/>
          </a:prstGeom>
          <a:ln w="9525">
            <a:solidFill>
              <a:srgbClr val="BFBFBF"/>
            </a:solidFill>
          </a:ln>
        </p:spPr>
      </p:pic>
      <p:sp>
        <p:nvSpPr>
          <p:cNvPr id="13" name="TextBox 12">
            <a:extLst>
              <a:ext uri="{FF2B5EF4-FFF2-40B4-BE49-F238E27FC236}">
                <a16:creationId xmlns:a16="http://schemas.microsoft.com/office/drawing/2014/main" id="{6931E75C-55AE-62BB-C5D9-30978984C9DE}"/>
              </a:ext>
            </a:extLst>
          </p:cNvPr>
          <p:cNvSpPr txBox="1"/>
          <p:nvPr/>
        </p:nvSpPr>
        <p:spPr>
          <a:xfrm>
            <a:off x="697778" y="5582145"/>
            <a:ext cx="4252650" cy="226808"/>
          </a:xfrm>
          <a:prstGeom prst="rect">
            <a:avLst/>
          </a:prstGeom>
          <a:noFill/>
        </p:spPr>
        <p:txBody>
          <a:bodyPr vert="horz" wrap="square" lIns="25400" tIns="12700" rIns="25400" bIns="12700" rtlCol="0" anchor="t">
            <a:noAutofit/>
          </a:bodyPr>
          <a:lstStyle/>
          <a:p>
            <a:r>
              <a:rPr lang="en-US" sz="1100" i="1" dirty="0" err="1">
                <a:solidFill>
                  <a:srgbClr val="595959"/>
                </a:solidFill>
                <a:latin typeface="Times New Roman" panose="02020603050405020304" pitchFamily="18" charset="0"/>
              </a:rPr>
              <a:t>Phóng</a:t>
            </a:r>
            <a:r>
              <a:rPr lang="en-US" sz="1100" i="1" dirty="0">
                <a:solidFill>
                  <a:srgbClr val="595959"/>
                </a:solidFill>
                <a:latin typeface="Times New Roman" panose="02020603050405020304" pitchFamily="18" charset="0"/>
              </a:rPr>
              <a:t> to </a:t>
            </a:r>
            <a:r>
              <a:rPr lang="en-US" sz="1100" i="1" dirty="0" err="1">
                <a:solidFill>
                  <a:srgbClr val="595959"/>
                </a:solidFill>
                <a:latin typeface="Times New Roman" panose="02020603050405020304" pitchFamily="18" charset="0"/>
              </a:rPr>
              <a:t>cùng</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một</a:t>
            </a:r>
            <a:r>
              <a:rPr lang="en-US" sz="1100" i="1" dirty="0">
                <a:solidFill>
                  <a:srgbClr val="595959"/>
                </a:solidFill>
                <a:latin typeface="Times New Roman" panose="02020603050405020304" pitchFamily="18" charset="0"/>
              </a:rPr>
              <a:t> ô: ① Thumbnail </a:t>
            </a:r>
            <a:r>
              <a:rPr lang="en-US" sz="1100" i="1" dirty="0" err="1">
                <a:solidFill>
                  <a:srgbClr val="595959"/>
                </a:solidFill>
                <a:latin typeface="Times New Roman" panose="02020603050405020304" pitchFamily="18" charset="0"/>
              </a:rPr>
              <a:t>và</a:t>
            </a:r>
            <a:r>
              <a:rPr lang="en-US" sz="1100" i="1" dirty="0">
                <a:solidFill>
                  <a:srgbClr val="595959"/>
                </a:solidFill>
                <a:latin typeface="Times New Roman" panose="02020603050405020304" pitchFamily="18" charset="0"/>
              </a:rPr>
              <a:t> ③ </a:t>
            </a:r>
            <a:r>
              <a:rPr lang="en-US" sz="1100" i="1" dirty="0" err="1">
                <a:solidFill>
                  <a:srgbClr val="595959"/>
                </a:solidFill>
                <a:latin typeface="Times New Roman" panose="02020603050405020304" pitchFamily="18" charset="0"/>
              </a:rPr>
              <a:t>Ảnh</a:t>
            </a:r>
            <a:r>
              <a:rPr lang="en-US" sz="1100" i="1" dirty="0">
                <a:solidFill>
                  <a:srgbClr val="595959"/>
                </a:solidFill>
                <a:latin typeface="Times New Roman" panose="02020603050405020304" pitchFamily="18" charset="0"/>
              </a:rPr>
              <a:t> </a:t>
            </a:r>
            <a:r>
              <a:rPr lang="en-US" sz="1100" i="1" dirty="0" err="1">
                <a:solidFill>
                  <a:srgbClr val="595959"/>
                </a:solidFill>
                <a:latin typeface="Times New Roman" panose="02020603050405020304" pitchFamily="18" charset="0"/>
              </a:rPr>
              <a:t>gốc</a:t>
            </a:r>
            <a:endParaRPr lang="en-US" sz="1100" i="1" dirty="0">
              <a:solidFill>
                <a:srgbClr val="595959"/>
              </a:solidFill>
              <a:latin typeface="Times New Roman" panose="02020603050405020304" pitchFamily="18" charset="0"/>
            </a:endParaRPr>
          </a:p>
        </p:txBody>
      </p:sp>
      <p:sp>
        <p:nvSpPr>
          <p:cNvPr id="6" name="Rectangle 5">
            <a:extLst>
              <a:ext uri="{FF2B5EF4-FFF2-40B4-BE49-F238E27FC236}">
                <a16:creationId xmlns:a16="http://schemas.microsoft.com/office/drawing/2014/main" id="{C1B06FA6-71C6-BADF-2CDF-783F92F8175B}"/>
              </a:ext>
            </a:extLst>
          </p:cNvPr>
          <p:cNvSpPr/>
          <p:nvPr/>
        </p:nvSpPr>
        <p:spPr>
          <a:xfrm>
            <a:off x="5943600" y="3234765"/>
            <a:ext cx="6096000" cy="1204259"/>
          </a:xfrm>
          <a:prstGeom prst="rect">
            <a:avLst/>
          </a:prstGeom>
          <a:solidFill>
            <a:srgbClr val="FDECEA"/>
          </a:solidFill>
          <a:ln w="9525">
            <a:solidFill>
              <a:srgbClr val="F4B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8062D32-FDC6-ECEF-B83D-EE17C2DDFA5E}"/>
              </a:ext>
            </a:extLst>
          </p:cNvPr>
          <p:cNvSpPr/>
          <p:nvPr/>
        </p:nvSpPr>
        <p:spPr>
          <a:xfrm>
            <a:off x="5943600" y="3234765"/>
            <a:ext cx="76200" cy="1204259"/>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5A9E7D9-D93C-DCE1-D2FF-452260666CD3}"/>
              </a:ext>
            </a:extLst>
          </p:cNvPr>
          <p:cNvSpPr txBox="1"/>
          <p:nvPr/>
        </p:nvSpPr>
        <p:spPr>
          <a:xfrm>
            <a:off x="6096000" y="3285565"/>
            <a:ext cx="5867400" cy="1296894"/>
          </a:xfrm>
          <a:prstGeom prst="rect">
            <a:avLst/>
          </a:prstGeom>
          <a:noFill/>
        </p:spPr>
        <p:txBody>
          <a:bodyPr vert="horz" wrap="square" lIns="25400" tIns="12700" rIns="25400" bIns="12700" rtlCol="0" anchor="t">
            <a:noAutofit/>
          </a:bodyPr>
          <a:lstStyle/>
          <a:p>
            <a:r>
              <a:rPr lang="vi-VN" sz="1400" b="1" dirty="0">
                <a:solidFill>
                  <a:srgbClr val="C00000"/>
                </a:solidFill>
                <a:latin typeface="Times New Roman" panose="02020603050405020304" pitchFamily="18" charset="0"/>
              </a:rPr>
              <a:t>CẢNH BÁO</a:t>
            </a:r>
          </a:p>
          <a:p>
            <a:pPr marL="177800" indent="-177800">
              <a:buFont typeface="+mj-lt"/>
              <a:buChar char="•"/>
            </a:pPr>
            <a:r>
              <a:rPr lang="vi-VN" sz="1400" dirty="0" err="1">
                <a:solidFill>
                  <a:srgbClr val="000000"/>
                </a:solidFill>
                <a:latin typeface="Times New Roman" panose="02020603050405020304" pitchFamily="18" charset="0"/>
              </a:rPr>
              <a:t>Option</a:t>
            </a:r>
            <a:r>
              <a:rPr lang="vi-VN" sz="1400" dirty="0">
                <a:solidFill>
                  <a:srgbClr val="000000"/>
                </a:solidFill>
                <a:latin typeface="Times New Roman" panose="02020603050405020304" pitchFamily="18" charset="0"/>
              </a:rPr>
              <a:t> ① ② nên lưu </a:t>
            </a:r>
            <a:r>
              <a:rPr lang="vi-VN" sz="1400" dirty="0" err="1">
                <a:solidFill>
                  <a:srgbClr val="000000"/>
                </a:solidFill>
                <a:latin typeface="Times New Roman" panose="02020603050405020304" pitchFamily="18" charset="0"/>
              </a:rPr>
              <a:t>file</a:t>
            </a:r>
            <a:r>
              <a:rPr lang="vi-VN" sz="1400" dirty="0">
                <a:solidFill>
                  <a:srgbClr val="000000"/>
                </a:solidFill>
                <a:latin typeface="Times New Roman" panose="02020603050405020304" pitchFamily="18" charset="0"/>
              </a:rPr>
              <a:t> Excel trong thư mục </a:t>
            </a:r>
            <a:r>
              <a:rPr lang="vi-VN" sz="1400" dirty="0" err="1">
                <a:solidFill>
                  <a:srgbClr val="000000"/>
                </a:solidFill>
                <a:latin typeface="Times New Roman" panose="02020603050405020304" pitchFamily="18" charset="0"/>
              </a:rPr>
              <a:t>dataset</a:t>
            </a:r>
            <a:r>
              <a:rPr lang="vi-VN" sz="1400" dirty="0">
                <a:solidFill>
                  <a:srgbClr val="000000"/>
                </a:solidFill>
                <a:latin typeface="Times New Roman" panose="02020603050405020304" pitchFamily="18" charset="0"/>
              </a:rPr>
              <a:t> để </a:t>
            </a:r>
            <a:r>
              <a:rPr lang="vi-VN" sz="1400" dirty="0" err="1">
                <a:solidFill>
                  <a:srgbClr val="000000"/>
                </a:solidFill>
                <a:latin typeface="Times New Roman" panose="02020603050405020304" pitchFamily="18" charset="0"/>
              </a:rPr>
              <a:t>link</a:t>
            </a:r>
            <a:r>
              <a:rPr lang="vi-VN" sz="1400" dirty="0">
                <a:solidFill>
                  <a:srgbClr val="000000"/>
                </a:solidFill>
                <a:latin typeface="Times New Roman" panose="02020603050405020304" pitchFamily="18" charset="0"/>
              </a:rPr>
              <a:t> ảnh vẫn mở được khi gửi cả thư mục</a:t>
            </a:r>
          </a:p>
          <a:p>
            <a:pPr marL="177800" indent="-177800">
              <a:buFont typeface="+mj-lt"/>
              <a:buChar char="•"/>
            </a:pPr>
            <a:r>
              <a:rPr lang="vi-VN" sz="1400" dirty="0">
                <a:solidFill>
                  <a:srgbClr val="000000"/>
                </a:solidFill>
                <a:latin typeface="Times New Roman" panose="02020603050405020304" pitchFamily="18" charset="0"/>
              </a:rPr>
              <a:t>Xuất Excel không được phép đổi tên </a:t>
            </a:r>
            <a:r>
              <a:rPr lang="vi-VN" sz="1400" dirty="0" err="1">
                <a:solidFill>
                  <a:srgbClr val="000000"/>
                </a:solidFill>
                <a:latin typeface="Times New Roman" panose="02020603050405020304" pitchFamily="18" charset="0"/>
              </a:rPr>
              <a:t>file</a:t>
            </a:r>
            <a:r>
              <a:rPr lang="vi-VN" sz="1400" dirty="0">
                <a:solidFill>
                  <a:srgbClr val="000000"/>
                </a:solidFill>
                <a:latin typeface="Times New Roman" panose="02020603050405020304" pitchFamily="18" charset="0"/>
              </a:rPr>
              <a:t> / di chuyển ảnh và không đổi </a:t>
            </a:r>
            <a:r>
              <a:rPr lang="vi-VN" sz="1400" dirty="0" err="1">
                <a:solidFill>
                  <a:srgbClr val="000000"/>
                </a:solidFill>
                <a:latin typeface="Times New Roman" panose="02020603050405020304" pitchFamily="18" charset="0"/>
              </a:rPr>
              <a:t>schema</a:t>
            </a:r>
            <a:endParaRPr lang="vi-VN" sz="1400" dirty="0">
              <a:solidFill>
                <a:srgbClr val="000000"/>
              </a:solidFill>
              <a:latin typeface="Times New Roman" panose="02020603050405020304" pitchFamily="18" charset="0"/>
            </a:endParaRPr>
          </a:p>
          <a:p>
            <a:pPr marL="177800" indent="-177800">
              <a:buFont typeface="+mj-lt"/>
              <a:buChar char="•"/>
            </a:pPr>
            <a:r>
              <a:rPr lang="vi-VN" sz="1400" dirty="0" err="1">
                <a:solidFill>
                  <a:srgbClr val="000000"/>
                </a:solidFill>
                <a:latin typeface="Times New Roman" panose="02020603050405020304" pitchFamily="18" charset="0"/>
              </a:rPr>
              <a:t>File</a:t>
            </a:r>
            <a:r>
              <a:rPr lang="vi-VN" sz="1400" dirty="0">
                <a:solidFill>
                  <a:srgbClr val="000000"/>
                </a:solidFill>
                <a:latin typeface="Times New Roman" panose="02020603050405020304" pitchFamily="18" charset="0"/>
              </a:rPr>
              <a:t> báo cáo Excel phải cùng cấp với thư mục ảnh</a:t>
            </a:r>
            <a:endParaRPr lang="en-US" sz="1400" dirty="0">
              <a:solidFill>
                <a:srgbClr val="000000"/>
              </a:solidFill>
              <a:latin typeface="Times New Roman" panose="02020603050405020304" pitchFamily="18" charset="0"/>
            </a:endParaRPr>
          </a:p>
        </p:txBody>
      </p:sp>
      <p:sp>
        <p:nvSpPr>
          <p:cNvPr id="15" name="TextBox 14">
            <a:extLst>
              <a:ext uri="{FF2B5EF4-FFF2-40B4-BE49-F238E27FC236}">
                <a16:creationId xmlns:a16="http://schemas.microsoft.com/office/drawing/2014/main" id="{4B848BB0-48BF-0280-31D9-2B731620945F}"/>
              </a:ext>
            </a:extLst>
          </p:cNvPr>
          <p:cNvSpPr txBox="1"/>
          <p:nvPr/>
        </p:nvSpPr>
        <p:spPr>
          <a:xfrm>
            <a:off x="5969000" y="4489824"/>
            <a:ext cx="3810000" cy="254000"/>
          </a:xfrm>
          <a:prstGeom prst="rect">
            <a:avLst/>
          </a:prstGeom>
          <a:noFill/>
        </p:spPr>
        <p:txBody>
          <a:bodyPr vert="horz" wrap="square" lIns="25400" tIns="12700" rIns="25400" bIns="12700" rtlCol="0" anchor="t">
            <a:noAutofit/>
          </a:bodyPr>
          <a:lstStyle/>
          <a:p>
            <a:r>
              <a:rPr lang="vi-VN" sz="1400" b="1">
                <a:solidFill>
                  <a:srgbClr val="002060"/>
                </a:solidFill>
                <a:latin typeface="Times New Roman" panose="02020603050405020304" pitchFamily="18" charset="0"/>
              </a:rPr>
              <a:t>Ví dụ: thư mục Dataset</a:t>
            </a:r>
            <a:endParaRPr lang="en-US" sz="1400" b="1">
              <a:solidFill>
                <a:srgbClr val="002060"/>
              </a:solidFill>
              <a:latin typeface="Times New Roman" panose="02020603050405020304" pitchFamily="18" charset="0"/>
            </a:endParaRPr>
          </a:p>
        </p:txBody>
      </p:sp>
      <p:sp>
        <p:nvSpPr>
          <p:cNvPr id="17" name="TextBox 16">
            <a:extLst>
              <a:ext uri="{FF2B5EF4-FFF2-40B4-BE49-F238E27FC236}">
                <a16:creationId xmlns:a16="http://schemas.microsoft.com/office/drawing/2014/main" id="{F780C66B-CB85-B0BA-926B-FB1D38DCCD8C}"/>
              </a:ext>
            </a:extLst>
          </p:cNvPr>
          <p:cNvSpPr txBox="1"/>
          <p:nvPr/>
        </p:nvSpPr>
        <p:spPr>
          <a:xfrm>
            <a:off x="5969000" y="4794624"/>
            <a:ext cx="5994400" cy="880033"/>
          </a:xfrm>
          <a:prstGeom prst="rect">
            <a:avLst/>
          </a:prstGeom>
          <a:solidFill>
            <a:srgbClr val="F2F2F2"/>
          </a:solidFill>
          <a:ln w="9525">
            <a:solidFill>
              <a:srgbClr val="BFBFBF"/>
            </a:solidFill>
          </a:ln>
        </p:spPr>
        <p:txBody>
          <a:bodyPr vert="horz" wrap="square" lIns="101600" tIns="12700" rIns="101600" bIns="12700" rtlCol="0" anchor="t">
            <a:noAutofit/>
          </a:bodyPr>
          <a:lstStyle/>
          <a:p>
            <a:r>
              <a:rPr lang="vi-VN" sz="1000">
                <a:solidFill>
                  <a:srgbClr val="000000"/>
                </a:solidFill>
                <a:latin typeface="Consolas" panose="020B0609020204030204" pitchFamily="49" charset="0"/>
              </a:rPr>
              <a:t>Dataset\</a:t>
            </a:r>
          </a:p>
          <a:p>
            <a:r>
              <a:rPr lang="vi-VN" sz="1000">
                <a:solidFill>
                  <a:srgbClr val="000000"/>
                </a:solidFill>
                <a:latin typeface="Consolas" panose="020B0609020204030204" pitchFamily="49" charset="0"/>
              </a:rPr>
              <a:t>├── Report.xlsx</a:t>
            </a:r>
          </a:p>
          <a:p>
            <a:r>
              <a:rPr lang="vi-VN" sz="1000">
                <a:solidFill>
                  <a:srgbClr val="000000"/>
                </a:solidFill>
                <a:latin typeface="Consolas" panose="020B0609020204030204" pitchFamily="49" charset="0"/>
              </a:rPr>
              <a:t>├── ĐK1_1_Lens_Sheet1_A-1_Top_Xước_NG_Raw_1.jpg</a:t>
            </a:r>
          </a:p>
          <a:p>
            <a:r>
              <a:rPr lang="vi-VN" sz="1000">
                <a:solidFill>
                  <a:srgbClr val="000000"/>
                </a:solidFill>
                <a:latin typeface="Consolas" panose="020B0609020204030204" pitchFamily="49" charset="0"/>
              </a:rPr>
              <a:t>├── ĐK1_1_Lens_Sheet1_A-1_Top_Xước_NG_Mask_1.jpg</a:t>
            </a:r>
          </a:p>
          <a:p>
            <a:r>
              <a:rPr lang="vi-VN" sz="1000">
                <a:solidFill>
                  <a:srgbClr val="000000"/>
                </a:solidFill>
                <a:latin typeface="Consolas" panose="020B0609020204030204" pitchFamily="49" charset="0"/>
              </a:rPr>
              <a:t>└── ĐK2_1_Lens_Sheet1_A-1_Top_Xước_NG_Raw_1.jpg …</a:t>
            </a:r>
            <a:endParaRPr lang="en-US" sz="1000">
              <a:solidFill>
                <a:srgbClr val="000000"/>
              </a:solidFill>
              <a:latin typeface="Consolas" panose="020B0609020204030204" pitchFamily="49" charset="0"/>
            </a:endParaRPr>
          </a:p>
        </p:txBody>
      </p:sp>
    </p:spTree>
    <p:extLst>
      <p:ext uri="{BB962C8B-B14F-4D97-AF65-F5344CB8AC3E}">
        <p14:creationId xmlns:p14="http://schemas.microsoft.com/office/powerpoint/2010/main" val="2318744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III. PHẦN MỀM QUẢN LÝ DỮ LIỆU ẢNH – VISION IMAGE TOOL</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A7B27D2-D3C4-9FAB-1965-9F17C5912A14}"/>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vi-VN" sz="1600" b="1">
                <a:solidFill>
                  <a:srgbClr val="002060"/>
                </a:solidFill>
                <a:latin typeface="Times New Roman" panose="02020603050405020304" pitchFamily="18" charset="0"/>
              </a:rPr>
              <a:t>6. Bước 4 – Nhập dữ liệu lên Q One Edu</a:t>
            </a:r>
            <a:endParaRPr lang="en-US" sz="1600" b="1">
              <a:solidFill>
                <a:srgbClr val="002060"/>
              </a:solidFill>
              <a:latin typeface="Times New Roman" panose="02020603050405020304" pitchFamily="18" charset="0"/>
            </a:endParaRPr>
          </a:p>
        </p:txBody>
      </p:sp>
      <p:sp>
        <p:nvSpPr>
          <p:cNvPr id="3" name="TextBox 2">
            <a:extLst>
              <a:ext uri="{FF2B5EF4-FFF2-40B4-BE49-F238E27FC236}">
                <a16:creationId xmlns:a16="http://schemas.microsoft.com/office/drawing/2014/main" id="{CF04D205-F8D5-64F5-9346-69A0E2FF66E0}"/>
              </a:ext>
            </a:extLst>
          </p:cNvPr>
          <p:cNvSpPr txBox="1"/>
          <p:nvPr/>
        </p:nvSpPr>
        <p:spPr>
          <a:xfrm>
            <a:off x="698500" y="1270000"/>
            <a:ext cx="10795000" cy="457200"/>
          </a:xfrm>
          <a:prstGeom prst="rect">
            <a:avLst/>
          </a:prstGeom>
          <a:noFill/>
        </p:spPr>
        <p:txBody>
          <a:bodyPr vert="horz" wrap="square" lIns="25400" tIns="12700" rIns="25400" bIns="12700" rtlCol="0" anchor="t">
            <a:noAutofit/>
          </a:bodyPr>
          <a:lstStyle/>
          <a:p>
            <a:r>
              <a:rPr lang="vi-VN" sz="1400">
                <a:solidFill>
                  <a:srgbClr val="000000"/>
                </a:solidFill>
                <a:latin typeface="Times New Roman" panose="02020603050405020304" pitchFamily="18" charset="0"/>
              </a:rPr>
              <a:t>Lấy JSON hoặc Excel xuất từ phần mềm Vision Image Tool → nhập tại mục 9 &amp; 10 trong hồ sơ dự án. Dữ liệu sau khi nhập thành công sẽ thể hiện đầy đủ số lượng, các cột thông tin, đánh giá mẫu…</a:t>
            </a:r>
            <a:endParaRPr lang="en-US" sz="1400">
              <a:solidFill>
                <a:srgbClr val="000000"/>
              </a:solidFill>
              <a:latin typeface="Times New Roman" panose="02020603050405020304" pitchFamily="18" charset="0"/>
            </a:endParaRPr>
          </a:p>
        </p:txBody>
      </p:sp>
      <p:pic>
        <p:nvPicPr>
          <p:cNvPr id="10" name="Picture 9">
            <a:extLst>
              <a:ext uri="{FF2B5EF4-FFF2-40B4-BE49-F238E27FC236}">
                <a16:creationId xmlns:a16="http://schemas.microsoft.com/office/drawing/2014/main" id="{E4BF266F-C333-5064-7C1B-0E61637494EE}"/>
              </a:ext>
            </a:extLst>
          </p:cNvPr>
          <p:cNvPicPr>
            <a:picLocks/>
          </p:cNvPicPr>
          <p:nvPr/>
        </p:nvPicPr>
        <p:blipFill>
          <a:blip r:embed="rId3">
            <a:extLst>
              <a:ext uri="{28A0092B-C50C-407E-A947-70E740481C1C}">
                <a14:useLocalDpi xmlns:a14="http://schemas.microsoft.com/office/drawing/2010/main" val="0"/>
              </a:ext>
            </a:extLst>
          </a:blip>
          <a:srcRect l="31332" t="29400" r="1602"/>
          <a:stretch>
            <a:fillRect/>
          </a:stretch>
        </p:blipFill>
        <p:spPr>
          <a:xfrm>
            <a:off x="697778" y="1776503"/>
            <a:ext cx="4047208" cy="4469307"/>
          </a:xfrm>
          <a:prstGeom prst="rect">
            <a:avLst/>
          </a:prstGeom>
          <a:ln w="9525">
            <a:solidFill>
              <a:srgbClr val="BFBFBF"/>
            </a:solidFill>
          </a:ln>
        </p:spPr>
      </p:pic>
      <p:pic>
        <p:nvPicPr>
          <p:cNvPr id="14" name="Picture 13">
            <a:extLst>
              <a:ext uri="{FF2B5EF4-FFF2-40B4-BE49-F238E27FC236}">
                <a16:creationId xmlns:a16="http://schemas.microsoft.com/office/drawing/2014/main" id="{40375171-8988-79ED-3403-B71617239CA5}"/>
              </a:ext>
            </a:extLst>
          </p:cNvPr>
          <p:cNvPicPr>
            <a:picLocks/>
          </p:cNvPicPr>
          <p:nvPr/>
        </p:nvPicPr>
        <p:blipFill>
          <a:blip r:embed="rId4">
            <a:extLst>
              <a:ext uri="{28A0092B-C50C-407E-A947-70E740481C1C}">
                <a14:useLocalDpi xmlns:a14="http://schemas.microsoft.com/office/drawing/2010/main" val="0"/>
              </a:ext>
            </a:extLst>
          </a:blip>
          <a:srcRect b="40487"/>
          <a:stretch>
            <a:fillRect/>
          </a:stretch>
        </p:blipFill>
        <p:spPr>
          <a:xfrm>
            <a:off x="4921647" y="1727198"/>
            <a:ext cx="6571131" cy="2230021"/>
          </a:xfrm>
          <a:prstGeom prst="rect">
            <a:avLst/>
          </a:prstGeom>
          <a:ln w="9525">
            <a:solidFill>
              <a:srgbClr val="BFBFBF"/>
            </a:solidFill>
          </a:ln>
        </p:spPr>
      </p:pic>
      <p:pic>
        <p:nvPicPr>
          <p:cNvPr id="17" name="Picture 16">
            <a:extLst>
              <a:ext uri="{FF2B5EF4-FFF2-40B4-BE49-F238E27FC236}">
                <a16:creationId xmlns:a16="http://schemas.microsoft.com/office/drawing/2014/main" id="{67558B3C-937C-23F4-3E2F-0E3A89771D83}"/>
              </a:ext>
            </a:extLst>
          </p:cNvPr>
          <p:cNvPicPr>
            <a:picLocks/>
          </p:cNvPicPr>
          <p:nvPr/>
        </p:nvPicPr>
        <p:blipFill>
          <a:blip r:embed="rId5">
            <a:extLst>
              <a:ext uri="{28A0092B-C50C-407E-A947-70E740481C1C}">
                <a14:useLocalDpi xmlns:a14="http://schemas.microsoft.com/office/drawing/2010/main" val="0"/>
              </a:ext>
            </a:extLst>
          </a:blip>
          <a:srcRect b="38415"/>
          <a:stretch>
            <a:fillRect/>
          </a:stretch>
        </p:blipFill>
        <p:spPr>
          <a:xfrm>
            <a:off x="4921647" y="4015791"/>
            <a:ext cx="6571127" cy="2230020"/>
          </a:xfrm>
          <a:prstGeom prst="rect">
            <a:avLst/>
          </a:prstGeom>
          <a:ln w="9525">
            <a:solidFill>
              <a:srgbClr val="BFBFBF"/>
            </a:solidFill>
          </a:ln>
        </p:spPr>
      </p:pic>
    </p:spTree>
    <p:extLst>
      <p:ext uri="{BB962C8B-B14F-4D97-AF65-F5344CB8AC3E}">
        <p14:creationId xmlns:p14="http://schemas.microsoft.com/office/powerpoint/2010/main" val="1265283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1CEFA3-5A67-C8E8-AC83-DCBE2850FFD3}"/>
              </a:ext>
            </a:extLst>
          </p:cNvPr>
          <p:cNvSpPr txBox="1"/>
          <p:nvPr/>
        </p:nvSpPr>
        <p:spPr>
          <a:xfrm>
            <a:off x="697778" y="371435"/>
            <a:ext cx="10795000" cy="461665"/>
          </a:xfrm>
          <a:prstGeom prst="rect">
            <a:avLst/>
          </a:prstGeom>
          <a:noFill/>
        </p:spPr>
        <p:txBody>
          <a:bodyPr wrap="square" rtlCol="0">
            <a:noAutofit/>
          </a:bodyPr>
          <a:lstStyle/>
          <a:p>
            <a:r>
              <a:rPr lang="en-VN" sz="2400" b="1">
                <a:latin typeface="Times New Roman" panose="02020603050405020304" pitchFamily="18" charset="0"/>
                <a:cs typeface="Times New Roman" panose="02020603050405020304" pitchFamily="18" charset="0"/>
              </a:rPr>
              <a:t>IV. TỔNG KẾT</a:t>
            </a:r>
            <a:endParaRPr lang="en-V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3D01750-3C0F-FB68-1679-7FFA04120AB1}"/>
              </a:ext>
            </a:extLst>
          </p:cNvPr>
          <p:cNvSpPr txBox="1"/>
          <p:nvPr/>
        </p:nvSpPr>
        <p:spPr>
          <a:xfrm>
            <a:off x="698500" y="838200"/>
            <a:ext cx="10795000" cy="304800"/>
          </a:xfrm>
          <a:prstGeom prst="rect">
            <a:avLst/>
          </a:prstGeom>
          <a:noFill/>
        </p:spPr>
        <p:txBody>
          <a:bodyPr vert="horz" wrap="square" lIns="25400" tIns="12700" rIns="25400" bIns="12700" rtlCol="0" anchor="t">
            <a:noAutofit/>
          </a:bodyPr>
          <a:lstStyle/>
          <a:p>
            <a:r>
              <a:rPr lang="en-US" sz="1600" b="1">
                <a:solidFill>
                  <a:srgbClr val="002060"/>
                </a:solidFill>
                <a:latin typeface="Times New Roman" panose="02020603050405020304" pitchFamily="18" charset="0"/>
              </a:rPr>
              <a:t>Những điểm cần nhớ</a:t>
            </a:r>
          </a:p>
        </p:txBody>
      </p:sp>
      <p:graphicFrame>
        <p:nvGraphicFramePr>
          <p:cNvPr id="3" name="Table 2">
            <a:extLst>
              <a:ext uri="{FF2B5EF4-FFF2-40B4-BE49-F238E27FC236}">
                <a16:creationId xmlns:a16="http://schemas.microsoft.com/office/drawing/2014/main" id="{D581B5A9-B995-5A0C-C164-FE0B1D8E6FD9}"/>
              </a:ext>
            </a:extLst>
          </p:cNvPr>
          <p:cNvGraphicFramePr>
            <a:graphicFrameLocks noGrp="1"/>
          </p:cNvGraphicFramePr>
          <p:nvPr>
            <p:extLst>
              <p:ext uri="{D42A27DB-BD31-4B8C-83A1-F6EECF244321}">
                <p14:modId xmlns:p14="http://schemas.microsoft.com/office/powerpoint/2010/main" val="2414663524"/>
              </p:ext>
            </p:extLst>
          </p:nvPr>
        </p:nvGraphicFramePr>
        <p:xfrm>
          <a:off x="698500" y="1397000"/>
          <a:ext cx="10795000" cy="29718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1096228056"/>
                    </a:ext>
                  </a:extLst>
                </a:gridCol>
                <a:gridCol w="3175000">
                  <a:extLst>
                    <a:ext uri="{9D8B030D-6E8A-4147-A177-3AD203B41FA5}">
                      <a16:colId xmlns:a16="http://schemas.microsoft.com/office/drawing/2014/main" val="2017031264"/>
                    </a:ext>
                  </a:extLst>
                </a:gridCol>
                <a:gridCol w="6858000">
                  <a:extLst>
                    <a:ext uri="{9D8B030D-6E8A-4147-A177-3AD203B41FA5}">
                      <a16:colId xmlns:a16="http://schemas.microsoft.com/office/drawing/2014/main" val="3739679669"/>
                    </a:ext>
                  </a:extLst>
                </a:gridCol>
              </a:tblGrid>
              <a:tr h="330200">
                <a:tc>
                  <a:txBody>
                    <a:bodyPr/>
                    <a:lstStyle/>
                    <a:p>
                      <a:pPr marL="0" indent="0" algn="ctr">
                        <a:spcBef>
                          <a:spcPts val="0"/>
                        </a:spcBef>
                        <a:spcAft>
                          <a:spcPts val="0"/>
                        </a:spcAft>
                        <a:buFontTx/>
                        <a:buNone/>
                      </a:pPr>
                      <a:r>
                        <a:rPr lang="en-US" sz="1400" b="1" i="0">
                          <a:solidFill>
                            <a:srgbClr val="FFFFFF"/>
                          </a:solidFill>
                          <a:latin typeface="Times New Roman" panose="02020603050405020304" pitchFamily="18" charset="0"/>
                        </a:rPr>
                        <a: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400" b="1" i="0">
                          <a:solidFill>
                            <a:srgbClr val="FFFFFF"/>
                          </a:solidFill>
                          <a:latin typeface="Times New Roman" panose="02020603050405020304" pitchFamily="18" charset="0"/>
                        </a:rPr>
                        <a:t>Điểm cần nhớ</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tc>
                  <a:txBody>
                    <a:bodyPr/>
                    <a:lstStyle/>
                    <a:p>
                      <a:pPr marL="0" indent="0" algn="ctr">
                        <a:spcBef>
                          <a:spcPts val="0"/>
                        </a:spcBef>
                        <a:spcAft>
                          <a:spcPts val="0"/>
                        </a:spcAft>
                        <a:buFontTx/>
                        <a:buNone/>
                      </a:pPr>
                      <a:r>
                        <a:rPr lang="en-US" sz="1400" b="1" i="0">
                          <a:solidFill>
                            <a:srgbClr val="FFFFFF"/>
                          </a:solidFill>
                          <a:latin typeface="Times New Roman" panose="02020603050405020304" pitchFamily="18" charset="0"/>
                        </a:rPr>
                        <a:t>Nội dung</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002060"/>
                    </a:solidFill>
                  </a:tcPr>
                </a:tc>
                <a:extLst>
                  <a:ext uri="{0D108BD9-81ED-4DB2-BD59-A6C34878D82A}">
                    <a16:rowId xmlns:a16="http://schemas.microsoft.com/office/drawing/2014/main" val="956350205"/>
                  </a:ext>
                </a:extLst>
              </a:tr>
              <a:tr h="660400">
                <a:tc>
                  <a:txBody>
                    <a:bodyPr/>
                    <a:lstStyle/>
                    <a:p>
                      <a:pPr marL="0" indent="0" algn="ctr">
                        <a:spcBef>
                          <a:spcPts val="0"/>
                        </a:spcBef>
                        <a:spcAft>
                          <a:spcPts val="0"/>
                        </a:spcAft>
                        <a:buFontTx/>
                        <a:buNone/>
                      </a:pPr>
                      <a:r>
                        <a:rPr lang="en-US" sz="1400" b="1" i="0">
                          <a:solidFill>
                            <a:srgbClr val="000000"/>
                          </a:solidFill>
                          <a:latin typeface="Times New Roman" panose="02020603050405020304" pitchFamily="18" charset="0"/>
                        </a:rPr>
                        <a:t>1</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1" i="0">
                          <a:solidFill>
                            <a:srgbClr val="000000"/>
                          </a:solidFill>
                          <a:latin typeface="Times New Roman" panose="02020603050405020304" pitchFamily="18" charset="0"/>
                        </a:rPr>
                        <a:t>Làm theo thứ tự</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Vision Advisor → hồ sơ dự án (11 nội dung) → Vision Image Tool; mục sau lấy dữ liệu từ mục trước.</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3304921672"/>
                  </a:ext>
                </a:extLst>
              </a:tr>
              <a:tr h="660400">
                <a:tc>
                  <a:txBody>
                    <a:bodyPr/>
                    <a:lstStyle/>
                    <a:p>
                      <a:pPr marL="0" indent="0" algn="ctr">
                        <a:spcBef>
                          <a:spcPts val="0"/>
                        </a:spcBef>
                        <a:spcAft>
                          <a:spcPts val="0"/>
                        </a:spcAft>
                        <a:buFontTx/>
                        <a:buNone/>
                      </a:pPr>
                      <a:r>
                        <a:rPr lang="en-US" sz="1400" b="1" i="0">
                          <a:solidFill>
                            <a:srgbClr val="000000"/>
                          </a:solidFill>
                          <a:latin typeface="Times New Roman" panose="02020603050405020304" pitchFamily="18" charset="0"/>
                        </a:rPr>
                        <a:t>2</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1" i="0">
                          <a:solidFill>
                            <a:srgbClr val="000000"/>
                          </a:solidFill>
                          <a:latin typeface="Times New Roman" panose="02020603050405020304" pitchFamily="18" charset="0"/>
                        </a:rPr>
                        <a:t>Không bỏ trống, luôn rà soát</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Trường bắt buộc ở Nội dung 3, BOM sau khi dựng tự động, dữ liệu sau khi import.</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889265134"/>
                  </a:ext>
                </a:extLst>
              </a:tr>
              <a:tr h="660400">
                <a:tc>
                  <a:txBody>
                    <a:bodyPr/>
                    <a:lstStyle/>
                    <a:p>
                      <a:pPr marL="0" indent="0" algn="ctr">
                        <a:spcBef>
                          <a:spcPts val="0"/>
                        </a:spcBef>
                        <a:spcAft>
                          <a:spcPts val="0"/>
                        </a:spcAft>
                        <a:buFontTx/>
                        <a:buNone/>
                      </a:pPr>
                      <a:r>
                        <a:rPr lang="en-US" sz="1400" b="1" i="0">
                          <a:solidFill>
                            <a:srgbClr val="000000"/>
                          </a:solidFill>
                          <a:latin typeface="Times New Roman" panose="02020603050405020304" pitchFamily="18" charset="0"/>
                        </a:rPr>
                        <a:t>3</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en-US" sz="1400" b="1" i="0">
                          <a:solidFill>
                            <a:srgbClr val="000000"/>
                          </a:solidFill>
                          <a:latin typeface="Times New Roman" panose="02020603050405020304" pitchFamily="18" charset="0"/>
                        </a:rPr>
                        <a:t>Đặt tên đúng quy tắc</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Thứ tự trường thống nhất, Raw/Mask cùng tên, đúng từ khoá; lỗi schema = 0 trước khi xuất.</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2389621607"/>
                  </a:ext>
                </a:extLst>
              </a:tr>
              <a:tr h="660400">
                <a:tc>
                  <a:txBody>
                    <a:bodyPr/>
                    <a:lstStyle/>
                    <a:p>
                      <a:pPr marL="0" indent="0" algn="ctr">
                        <a:spcBef>
                          <a:spcPts val="0"/>
                        </a:spcBef>
                        <a:spcAft>
                          <a:spcPts val="0"/>
                        </a:spcAft>
                        <a:buFontTx/>
                        <a:buNone/>
                      </a:pPr>
                      <a:r>
                        <a:rPr lang="en-US" sz="1400" b="1" i="0">
                          <a:solidFill>
                            <a:srgbClr val="000000"/>
                          </a:solidFill>
                          <a:latin typeface="Times New Roman" panose="02020603050405020304" pitchFamily="18" charset="0"/>
                        </a:rPr>
                        <a:t>4</a:t>
                      </a: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1" i="0">
                          <a:solidFill>
                            <a:srgbClr val="000000"/>
                          </a:solidFill>
                          <a:latin typeface="Times New Roman" panose="02020603050405020304" pitchFamily="18" charset="0"/>
                        </a:rPr>
                        <a:t>Báo cáo cùng cấp thư mục ảnh</a:t>
                      </a:r>
                      <a:endParaRPr lang="en-US" sz="1400" b="1"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tc>
                  <a:txBody>
                    <a:bodyPr/>
                    <a:lstStyle/>
                    <a:p>
                      <a:pPr marL="0" indent="0" algn="l">
                        <a:spcBef>
                          <a:spcPts val="0"/>
                        </a:spcBef>
                        <a:spcAft>
                          <a:spcPts val="0"/>
                        </a:spcAft>
                        <a:buFontTx/>
                        <a:buNone/>
                      </a:pPr>
                      <a:r>
                        <a:rPr lang="vi-VN" sz="1400" b="0" i="0">
                          <a:solidFill>
                            <a:srgbClr val="000000"/>
                          </a:solidFill>
                          <a:latin typeface="Times New Roman" panose="02020603050405020304" pitchFamily="18" charset="0"/>
                        </a:rPr>
                        <a:t>Không đổi tên, di chuyển ảnh hay đổi schema sau khi xuất để link ảnh luôn mở được.</a:t>
                      </a:r>
                      <a:endParaRPr lang="en-US" sz="1400" b="0" i="0">
                        <a:solidFill>
                          <a:srgbClr val="000000"/>
                        </a:solidFill>
                        <a:latin typeface="Times New Roman" panose="02020603050405020304" pitchFamily="18" charset="0"/>
                      </a:endParaRPr>
                    </a:p>
                  </a:txBody>
                  <a:tcPr marL="63500" marR="63500" marT="38100" marB="38100" anchor="ctr">
                    <a:lnL w="9525" cmpd="sng">
                      <a:solidFill>
                        <a:srgbClr val="8EA9DB"/>
                      </a:solidFill>
                    </a:lnL>
                    <a:lnR w="9525" cmpd="sng">
                      <a:solidFill>
                        <a:srgbClr val="8EA9DB"/>
                      </a:solidFill>
                    </a:lnR>
                    <a:lnT w="9525" cmpd="sng">
                      <a:solidFill>
                        <a:srgbClr val="8EA9DB"/>
                      </a:solidFill>
                    </a:lnT>
                    <a:lnB w="9525" cmpd="sng">
                      <a:solidFill>
                        <a:srgbClr val="8EA9DB"/>
                      </a:solidFill>
                    </a:lnB>
                    <a:solidFill>
                      <a:srgbClr val="FFFFFF"/>
                    </a:solidFill>
                  </a:tcPr>
                </a:tc>
                <a:extLst>
                  <a:ext uri="{0D108BD9-81ED-4DB2-BD59-A6C34878D82A}">
                    <a16:rowId xmlns:a16="http://schemas.microsoft.com/office/drawing/2014/main" val="1201218338"/>
                  </a:ext>
                </a:extLst>
              </a:tr>
            </a:tbl>
          </a:graphicData>
        </a:graphic>
      </p:graphicFrame>
    </p:spTree>
    <p:extLst>
      <p:ext uri="{BB962C8B-B14F-4D97-AF65-F5344CB8AC3E}">
        <p14:creationId xmlns:p14="http://schemas.microsoft.com/office/powerpoint/2010/main" val="1234321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B1E81D8-7418-66B3-A2ED-CA0CFBD53A22}"/>
              </a:ext>
            </a:extLst>
          </p:cNvPr>
          <p:cNvSpPr txBox="1"/>
          <p:nvPr/>
        </p:nvSpPr>
        <p:spPr>
          <a:xfrm>
            <a:off x="5198959" y="3167390"/>
            <a:ext cx="1794081" cy="523220"/>
          </a:xfrm>
          <a:prstGeom prst="rect">
            <a:avLst/>
          </a:prstGeom>
          <a:noFill/>
        </p:spPr>
        <p:txBody>
          <a:bodyPr wrap="none" rtlCol="0">
            <a:spAutoFit/>
          </a:bodyPr>
          <a:lstStyle/>
          <a:p>
            <a:r>
              <a:rPr lang="en-VN" sz="2800" b="1" dirty="0">
                <a:latin typeface="Times New Roman" panose="02020603050405020304" pitchFamily="18" charset="0"/>
                <a:cs typeface="Times New Roman" panose="02020603050405020304" pitchFamily="18" charset="0"/>
              </a:rPr>
              <a:t>Thanks !!!</a:t>
            </a:r>
          </a:p>
        </p:txBody>
      </p:sp>
    </p:spTree>
    <p:extLst>
      <p:ext uri="{BB962C8B-B14F-4D97-AF65-F5344CB8AC3E}">
        <p14:creationId xmlns:p14="http://schemas.microsoft.com/office/powerpoint/2010/main" val="133288434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CSD</Template>
  <TotalTime>1541</TotalTime>
  <Words>7227</Words>
  <Application>Microsoft Office PowerPoint</Application>
  <PresentationFormat>Widescreen</PresentationFormat>
  <Paragraphs>703</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Consolas</vt:lpstr>
      <vt:lpstr>Times New Roman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Trung le</dc:creator>
  <cp:lastModifiedBy>Nguyễn Tuấn Anh</cp:lastModifiedBy>
  <cp:revision>94</cp:revision>
  <cp:lastPrinted>2024-02-21T09:25:04Z</cp:lastPrinted>
  <dcterms:created xsi:type="dcterms:W3CDTF">2021-08-01T08:57:29Z</dcterms:created>
  <dcterms:modified xsi:type="dcterms:W3CDTF">2026-10-10T09:45:20Z</dcterms:modified>
</cp:coreProperties>
</file>